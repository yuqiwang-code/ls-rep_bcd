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9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314DA-CB35-44E3-8FDF-1BCD557AE49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BC773-6760-4015-9A52-655FEDC1F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224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9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3D425F-B8E6-837F-349B-8AD754A70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76DD53-0708-D9BA-10F9-B105561BE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FADF43-BBA4-D4F4-3D42-18434EE9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35D7-4E7D-4D62-8151-60832BD15C1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B8C6F2-ED66-7676-9411-120C1002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E6F04B-788C-0C6A-CCF6-279CFD4E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82664-0E9A-4D01-8590-80B5A1CB6D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78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6B524-34FD-DFFB-E1D4-4B787F38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04D519-50FA-08DA-F7E6-EB6776D03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A13A05-8354-CCFB-453A-202EFCF3C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35D7-4E7D-4D62-8151-60832BD15C1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865F0E-9D20-32D3-5701-3EFBAB37E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3CE4D2-5276-01A4-3E35-BEE54D39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82664-0E9A-4D01-8590-80B5A1CB6D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950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28426-B384-D240-794E-6DA576026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E64B2F-D671-3FF1-4B70-26195DC7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F8EAF0-94D4-4208-C771-62CC9DC41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35D7-4E7D-4D62-8151-60832BD15C1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33DC63-0C45-7B63-BA8C-2A4AB843D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514557-8A7B-63EB-4F54-5FBE6B005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82664-0E9A-4D01-8590-80B5A1CB6D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624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6ACA8-BAAF-7890-28E0-61BF48437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97D61B-3F01-CB86-652E-9FE563056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3254B7-D4F4-A3FB-559F-88672F6A4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579DEC-F184-26D9-84BA-391C67285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35D7-4E7D-4D62-8151-60832BD15C1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049D80-42DC-CCA8-9E86-659AC0CB7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209177-638A-55A5-4070-AD10558B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82664-0E9A-4D01-8590-80B5A1CB6D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8867F-8412-0EB6-31CA-33934500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AB1C58-2269-09A3-547E-CA97068E9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EB6E86-3FC6-DEDA-90D2-9D5CC3444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551D40-9CC0-BB94-FCE4-E38B4F0CBC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55384A8-4616-320F-546B-203D374863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D7D8D0-6DD2-3704-AC5D-2FE6E063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35D7-4E7D-4D62-8151-60832BD15C1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B04ECE-AF25-6B46-2F81-E293F8A58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3BB2CF6-5A5F-3E0D-E631-5AB4FF8B0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82664-0E9A-4D01-8590-80B5A1CB6D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126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9A8B2A-6711-BDEB-BDFD-556F1F18F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508C7BB-62F3-EAE5-D2B2-9BF61B1EC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35D7-4E7D-4D62-8151-60832BD15C1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C7E2B2-31BF-4532-32CF-EFBEF9F95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747A2C-3058-5BBE-DD72-8C2AD1E8C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82664-0E9A-4D01-8590-80B5A1CB6D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999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3606D1-EC4A-D78F-9623-5F6DCAEF1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35D7-4E7D-4D62-8151-60832BD15C1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154E67-2898-E2CB-395B-147E1A794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785C35-D716-4F25-61DF-72584B4B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82664-0E9A-4D01-8590-80B5A1CB6D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388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35BF45-CF9C-46D8-6729-24DB396B0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E1A79-ED97-37ED-8912-9237F1F49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6239EC-F6F3-922D-746F-9DAA1F4CE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883204-7D24-0CB4-5061-B5E4331E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35D7-4E7D-4D62-8151-60832BD15C1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3669CD-D7F1-C0A5-BEAA-EAE28A13C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7FD617-5F06-005F-5BFC-4598D1A3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82664-0E9A-4D01-8590-80B5A1CB6D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533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73EAD-E758-9414-6949-BB41396D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83EAA5E-5EFF-6147-E245-10422B27C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430AB2-1195-E1A5-F39B-1A115E471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76E9D4-126A-B61F-C817-7F4A02082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35D7-4E7D-4D62-8151-60832BD15C1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308F21-3821-046E-4F45-921F2DEC1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0A1A2D-424A-9AB1-7059-923DCAE7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82664-0E9A-4D01-8590-80B5A1CB6D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822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00F13-6799-A02F-7462-29150E99A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3C5379-0331-1777-B19C-4632BF988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6A709B-976C-6216-3E7E-1B8500309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35D7-4E7D-4D62-8151-60832BD15C1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3468A0-2DBD-A36E-F9F0-66FB7675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C56131-53D7-05EF-63E6-A777333FD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82664-0E9A-4D01-8590-80B5A1CB6D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540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66EB0C7-C2E2-4933-8241-51A932F54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508623-CF36-6C2B-4C8E-4AE0FA93C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8AB99C-CB65-4166-9E4A-D68C4AB4F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A35D7-4E7D-4D62-8151-60832BD15C1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277792-BD34-B1DA-35A3-6A3FF05F8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E3720B-2703-C657-A9ED-74EBB572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82664-0E9A-4D01-8590-80B5A1CB6D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668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66A9C0-8B21-CCA5-02F0-D6B8B4779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4568A0-D63B-2DCB-AF05-735FCCBB6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44BF02-8B73-7423-3447-3F16A82BD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A35D7-4E7D-4D62-8151-60832BD15C1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72C142-08C3-4D09-03B6-F5803993B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935B6E-D7D3-5376-80F1-626D1264C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882664-0E9A-4D01-8590-80B5A1CB6D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94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AE501E6-46CC-9B88-7FA3-7DA5D11C1706}"/>
              </a:ext>
            </a:extLst>
          </p:cNvPr>
          <p:cNvSpPr/>
          <p:nvPr/>
        </p:nvSpPr>
        <p:spPr>
          <a:xfrm>
            <a:off x="162427" y="2895466"/>
            <a:ext cx="4178573" cy="26935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AFD</a:t>
            </a:r>
            <a:r>
              <a:rPr lang="zh-CN" altLang="en-US" dirty="0"/>
              <a:t>模块详解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50941C-4A36-B13B-C4FA-83C104BB2980}"/>
              </a:ext>
            </a:extLst>
          </p:cNvPr>
          <p:cNvSpPr txBox="1"/>
          <p:nvPr/>
        </p:nvSpPr>
        <p:spPr>
          <a:xfrm>
            <a:off x="741000" y="819000"/>
            <a:ext cx="10305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①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双分支每层输入 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AFD</a:t>
            </a:r>
          </a:p>
          <a:p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② </a:t>
            </a:r>
            <a:r>
              <a:rPr lang="zh-CN" altLang="en-US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没有输出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AFD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只返回 </a:t>
            </a:r>
            <a:r>
              <a:rPr lang="en-US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r-FR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loss`</a:t>
            </a:r>
            <a:r>
              <a:rPr lang="zh-CN" altLang="fr-F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，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不修改特征 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③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仅训练时增强 </a:t>
            </a:r>
            <a:r>
              <a:rPr lang="en-US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r-FR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if self.training:`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④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拆除不影响推理 </a:t>
            </a:r>
            <a:r>
              <a:rPr lang="en-US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r-FR" altLang="zh-C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model.eval()`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→ AFD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跳过 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⑤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零推理成本 推理时 </a:t>
            </a:r>
            <a:r>
              <a:rPr lang="fr-FR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AFD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完全不参与 </a:t>
            </a:r>
            <a:b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AFD </a:t>
            </a:r>
            <a:r>
              <a:rPr lang="zh-CN" alt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是通过损失函数的梯度来训练编码器，不是在特征上做前向变换。训练时用损失约束增强编码器，推理时拆掉无损。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6DEC42-8C02-1283-618A-BAFBE572A2D4}"/>
              </a:ext>
            </a:extLst>
          </p:cNvPr>
          <p:cNvSpPr/>
          <p:nvPr/>
        </p:nvSpPr>
        <p:spPr>
          <a:xfrm>
            <a:off x="1236000" y="3121057"/>
            <a:ext cx="855000" cy="3079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降维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294896-1824-DC80-DCD2-3A8010BC87AE}"/>
              </a:ext>
            </a:extLst>
          </p:cNvPr>
          <p:cNvSpPr/>
          <p:nvPr/>
        </p:nvSpPr>
        <p:spPr>
          <a:xfrm>
            <a:off x="1236000" y="3652138"/>
            <a:ext cx="855000" cy="3079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升维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8964EC-9161-3C21-7BFE-FFC476304FE2}"/>
              </a:ext>
            </a:extLst>
          </p:cNvPr>
          <p:cNvSpPr txBox="1"/>
          <p:nvPr/>
        </p:nvSpPr>
        <p:spPr>
          <a:xfrm>
            <a:off x="1663500" y="3861711"/>
            <a:ext cx="13178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attention_map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12FC78-B7D1-ED45-FD7A-7B3D16D40133}"/>
              </a:ext>
            </a:extLst>
          </p:cNvPr>
          <p:cNvSpPr txBox="1"/>
          <p:nvPr/>
        </p:nvSpPr>
        <p:spPr>
          <a:xfrm>
            <a:off x="1056000" y="4058450"/>
            <a:ext cx="7263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Sigmoid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18715FB-AA9A-EFCC-A072-808B2F40F9F3}"/>
                  </a:ext>
                </a:extLst>
              </p:cNvPr>
              <p:cNvSpPr/>
              <p:nvPr/>
            </p:nvSpPr>
            <p:spPr>
              <a:xfrm>
                <a:off x="196476" y="4673016"/>
                <a:ext cx="1052504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_teacher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18715FB-AA9A-EFCC-A072-808B2F40F9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76" y="4673016"/>
                <a:ext cx="1052504" cy="261610"/>
              </a:xfrm>
              <a:prstGeom prst="rect">
                <a:avLst/>
              </a:prstGeom>
              <a:blipFill>
                <a:blip r:embed="rId3"/>
                <a:stretch>
                  <a:fillRect t="-244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0DC9832-EAC8-404B-AAA2-2B1922F5A849}"/>
                  </a:ext>
                </a:extLst>
              </p:cNvPr>
              <p:cNvSpPr/>
              <p:nvPr/>
            </p:nvSpPr>
            <p:spPr>
              <a:xfrm>
                <a:off x="1326000" y="4673016"/>
                <a:ext cx="1336252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_student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0DC9832-EAC8-404B-AAA2-2B1922F5A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000" y="4673016"/>
                <a:ext cx="1336252" cy="261610"/>
              </a:xfrm>
              <a:prstGeom prst="rect">
                <a:avLst/>
              </a:prstGeom>
              <a:blipFill>
                <a:blip r:embed="rId4"/>
                <a:stretch>
                  <a:fillRect t="-244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5819293-1CB7-70AD-6A01-FFBEA129A4B3}"/>
                  </a:ext>
                </a:extLst>
              </p:cNvPr>
              <p:cNvSpPr/>
              <p:nvPr/>
            </p:nvSpPr>
            <p:spPr>
              <a:xfrm>
                <a:off x="2739272" y="4673016"/>
                <a:ext cx="1466728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CN" sz="1050" dirty="0">
                        <a:solidFill>
                          <a:schemeClr val="tx1"/>
                        </a:solidFill>
                      </a:rPr>
                      <m:t>_</m:t>
                    </m:r>
                    <m:r>
                      <m:rPr>
                        <m:nor/>
                      </m:rPr>
                      <a:rPr lang="en-US" altLang="zh-CN" sz="1050" dirty="0">
                        <a:solidFill>
                          <a:schemeClr val="tx1"/>
                        </a:solidFill>
                      </a:rPr>
                      <m:t>teacher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_student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5819293-1CB7-70AD-6A01-FFBEA129A4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272" y="4673016"/>
                <a:ext cx="1466728" cy="261610"/>
              </a:xfrm>
              <a:prstGeom prst="rect">
                <a:avLst/>
              </a:prstGeom>
              <a:blipFill>
                <a:blip r:embed="rId5"/>
                <a:stretch>
                  <a:fillRect t="-244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7DCB5F4-A2D7-BF57-2725-803CF36F90C2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1663500" y="3429000"/>
            <a:ext cx="0" cy="2231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790DA9A1-59E8-0A0F-CD59-9325EA02B3D7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5400000">
            <a:off x="836647" y="3846162"/>
            <a:ext cx="712935" cy="9407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D3901CFF-3196-EF00-C940-351D85315F5D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16200000" flipH="1">
            <a:off x="1472346" y="4151235"/>
            <a:ext cx="712935" cy="3306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C416DA52-D795-ABF8-0A97-30B6CEDF2A3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16200000" flipH="1">
            <a:off x="2211601" y="3411980"/>
            <a:ext cx="712935" cy="18091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301113A-808F-2376-9ADC-B5251BDD08F9}"/>
              </a:ext>
            </a:extLst>
          </p:cNvPr>
          <p:cNvSpPr txBox="1"/>
          <p:nvPr/>
        </p:nvSpPr>
        <p:spPr>
          <a:xfrm>
            <a:off x="1193114" y="5204096"/>
            <a:ext cx="9407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loss_afd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93EAC2C-821A-3960-332A-16CC29C55CAF}"/>
              </a:ext>
            </a:extLst>
          </p:cNvPr>
          <p:cNvSpPr/>
          <p:nvPr/>
        </p:nvSpPr>
        <p:spPr>
          <a:xfrm>
            <a:off x="4512026" y="2895466"/>
            <a:ext cx="4178573" cy="26935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C4614F0-E4DC-3F3A-A9A2-023FB58B4259}"/>
              </a:ext>
            </a:extLst>
          </p:cNvPr>
          <p:cNvSpPr/>
          <p:nvPr/>
        </p:nvSpPr>
        <p:spPr>
          <a:xfrm>
            <a:off x="5551550" y="3121057"/>
            <a:ext cx="855000" cy="3079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空间注意力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59D9C6C2-49F6-F764-726F-57C11138573A}"/>
                  </a:ext>
                </a:extLst>
              </p:cNvPr>
              <p:cNvSpPr/>
              <p:nvPr/>
            </p:nvSpPr>
            <p:spPr>
              <a:xfrm>
                <a:off x="4512026" y="4673016"/>
                <a:ext cx="1052504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_teacher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59D9C6C2-49F6-F764-726F-57C1113857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026" y="4673016"/>
                <a:ext cx="1052504" cy="261610"/>
              </a:xfrm>
              <a:prstGeom prst="rect">
                <a:avLst/>
              </a:prstGeom>
              <a:blipFill>
                <a:blip r:embed="rId3"/>
                <a:stretch>
                  <a:fillRect t="-244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474FD52C-3786-5F3E-55E5-9AB2BD154A31}"/>
                  </a:ext>
                </a:extLst>
              </p:cNvPr>
              <p:cNvSpPr/>
              <p:nvPr/>
            </p:nvSpPr>
            <p:spPr>
              <a:xfrm>
                <a:off x="5641550" y="4673016"/>
                <a:ext cx="1336252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_student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474FD52C-3786-5F3E-55E5-9AB2BD154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550" y="4673016"/>
                <a:ext cx="1336252" cy="261610"/>
              </a:xfrm>
              <a:prstGeom prst="rect">
                <a:avLst/>
              </a:prstGeom>
              <a:blipFill>
                <a:blip r:embed="rId6"/>
                <a:stretch>
                  <a:fillRect t="-244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2F16DCE8-FDFC-04D6-E365-15F83555D7D8}"/>
                  </a:ext>
                </a:extLst>
              </p:cNvPr>
              <p:cNvSpPr/>
              <p:nvPr/>
            </p:nvSpPr>
            <p:spPr>
              <a:xfrm>
                <a:off x="7054822" y="4673016"/>
                <a:ext cx="1466728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CN" sz="1050" dirty="0">
                        <a:solidFill>
                          <a:schemeClr val="tx1"/>
                        </a:solidFill>
                      </a:rPr>
                      <m:t>_</m:t>
                    </m:r>
                    <m:r>
                      <m:rPr>
                        <m:nor/>
                      </m:rPr>
                      <a:rPr lang="en-US" altLang="zh-CN" sz="1050" dirty="0">
                        <a:solidFill>
                          <a:schemeClr val="tx1"/>
                        </a:solidFill>
                      </a:rPr>
                      <m:t>teacher</m:t>
                    </m:r>
                    <m:r>
                      <a:rPr lang="zh-CN" altLang="en-US" sz="105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1050" dirty="0">
                    <a:solidFill>
                      <a:schemeClr val="tx1"/>
                    </a:solidFill>
                  </a:rPr>
                  <a:t>_student</a:t>
                </a:r>
              </a:p>
              <a:p>
                <a:pPr algn="ctr"/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2F16DCE8-FDFC-04D6-E365-15F83555D7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822" y="4673016"/>
                <a:ext cx="1466728" cy="261610"/>
              </a:xfrm>
              <a:prstGeom prst="rect">
                <a:avLst/>
              </a:prstGeom>
              <a:blipFill>
                <a:blip r:embed="rId5"/>
                <a:stretch>
                  <a:fillRect t="-244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D6F04EE-8167-028E-B85A-982E1F0340A8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5979050" y="3429000"/>
            <a:ext cx="0" cy="3771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A8D731C4-B5A6-5C61-973D-B729CDD5CBAB}"/>
              </a:ext>
            </a:extLst>
          </p:cNvPr>
          <p:cNvCxnSpPr>
            <a:cxnSpLocks/>
            <a:endCxn id="32" idx="0"/>
          </p:cNvCxnSpPr>
          <p:nvPr/>
        </p:nvCxnSpPr>
        <p:spPr>
          <a:xfrm rot="5400000">
            <a:off x="5152197" y="3846162"/>
            <a:ext cx="712935" cy="9407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8728D2DA-A006-5892-8B13-5D0D21A3C231}"/>
              </a:ext>
            </a:extLst>
          </p:cNvPr>
          <p:cNvCxnSpPr>
            <a:cxnSpLocks/>
            <a:endCxn id="33" idx="0"/>
          </p:cNvCxnSpPr>
          <p:nvPr/>
        </p:nvCxnSpPr>
        <p:spPr>
          <a:xfrm rot="16200000" flipH="1">
            <a:off x="5787896" y="4151235"/>
            <a:ext cx="712935" cy="3306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6D3B1FE1-EE89-B8F4-FB36-5AEC4E68AA10}"/>
              </a:ext>
            </a:extLst>
          </p:cNvPr>
          <p:cNvCxnSpPr>
            <a:cxnSpLocks/>
            <a:endCxn id="34" idx="0"/>
          </p:cNvCxnSpPr>
          <p:nvPr/>
        </p:nvCxnSpPr>
        <p:spPr>
          <a:xfrm rot="16200000" flipH="1">
            <a:off x="6527151" y="3411980"/>
            <a:ext cx="712935" cy="18091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1F3B2578-8B84-B094-447E-6F208CA97F2E}"/>
              </a:ext>
            </a:extLst>
          </p:cNvPr>
          <p:cNvSpPr txBox="1"/>
          <p:nvPr/>
        </p:nvSpPr>
        <p:spPr>
          <a:xfrm>
            <a:off x="5625613" y="5204095"/>
            <a:ext cx="9407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loss_afd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36B8CCD-CFCF-40AC-C51B-E84C777ECDDF}"/>
              </a:ext>
            </a:extLst>
          </p:cNvPr>
          <p:cNvSpPr txBox="1"/>
          <p:nvPr/>
        </p:nvSpPr>
        <p:spPr>
          <a:xfrm>
            <a:off x="5349920" y="3748294"/>
            <a:ext cx="8630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Sigmoid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1582C8D-28AF-EB43-5C1C-0C36CAA69B88}"/>
              </a:ext>
            </a:extLst>
          </p:cNvPr>
          <p:cNvSpPr txBox="1"/>
          <p:nvPr/>
        </p:nvSpPr>
        <p:spPr>
          <a:xfrm>
            <a:off x="5923011" y="3472141"/>
            <a:ext cx="105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spatial_map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09A9BAD-1D71-D528-B5AD-8226B05BF99A}"/>
              </a:ext>
            </a:extLst>
          </p:cNvPr>
          <p:cNvSpPr txBox="1"/>
          <p:nvPr/>
        </p:nvSpPr>
        <p:spPr>
          <a:xfrm>
            <a:off x="494750" y="5580812"/>
            <a:ext cx="6106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AFD_semantic: </a:t>
            </a:r>
            <a:r>
              <a:rPr lang="zh-CN" alt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语义注意力蒸馏</a:t>
            </a:r>
            <a:endParaRPr lang="zh-CN" alt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B9DA0C4-447A-3031-16B5-36D8E6C16803}"/>
              </a:ext>
            </a:extLst>
          </p:cNvPr>
          <p:cNvSpPr txBox="1"/>
          <p:nvPr/>
        </p:nvSpPr>
        <p:spPr>
          <a:xfrm>
            <a:off x="4903757" y="5580812"/>
            <a:ext cx="6106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AFD_spatial: </a:t>
            </a:r>
            <a:r>
              <a:rPr lang="zh-CN" alt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空间注意力蒸馏</a:t>
            </a:r>
            <a:endParaRPr lang="zh-CN" alt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C6F25356-A813-6245-DC93-FC205AA2D28B}"/>
              </a:ext>
            </a:extLst>
          </p:cNvPr>
          <p:cNvGraphicFramePr>
            <a:graphicFrameLocks noGrp="1"/>
          </p:cNvGraphicFramePr>
          <p:nvPr/>
        </p:nvGraphicFramePr>
        <p:xfrm>
          <a:off x="8767619" y="3334908"/>
          <a:ext cx="3397146" cy="1915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713">
                  <a:extLst>
                    <a:ext uri="{9D8B030D-6E8A-4147-A177-3AD203B41FA5}">
                      <a16:colId xmlns:a16="http://schemas.microsoft.com/office/drawing/2014/main" val="3477755293"/>
                    </a:ext>
                  </a:extLst>
                </a:gridCol>
                <a:gridCol w="846137">
                  <a:extLst>
                    <a:ext uri="{9D8B030D-6E8A-4147-A177-3AD203B41FA5}">
                      <a16:colId xmlns:a16="http://schemas.microsoft.com/office/drawing/2014/main" val="2764496977"/>
                    </a:ext>
                  </a:extLst>
                </a:gridCol>
                <a:gridCol w="643432">
                  <a:extLst>
                    <a:ext uri="{9D8B030D-6E8A-4147-A177-3AD203B41FA5}">
                      <a16:colId xmlns:a16="http://schemas.microsoft.com/office/drawing/2014/main" val="2677633864"/>
                    </a:ext>
                  </a:extLst>
                </a:gridCol>
                <a:gridCol w="643432">
                  <a:extLst>
                    <a:ext uri="{9D8B030D-6E8A-4147-A177-3AD203B41FA5}">
                      <a16:colId xmlns:a16="http://schemas.microsoft.com/office/drawing/2014/main" val="2926150534"/>
                    </a:ext>
                  </a:extLst>
                </a:gridCol>
                <a:gridCol w="643432">
                  <a:extLst>
                    <a:ext uri="{9D8B030D-6E8A-4147-A177-3AD203B41FA5}">
                      <a16:colId xmlns:a16="http://schemas.microsoft.com/office/drawing/2014/main" val="682154280"/>
                    </a:ext>
                  </a:extLst>
                </a:gridCol>
              </a:tblGrid>
              <a:tr h="38867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effectLst/>
                        </a:rPr>
                        <a:t>数据集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effectLst/>
                        </a:rPr>
                        <a:t>Baseline F1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effectLst/>
                        </a:rPr>
                        <a:t>+AFD F1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050" dirty="0">
                          <a:effectLst/>
                        </a:rPr>
                        <a:t>Δ</a:t>
                      </a:r>
                      <a:r>
                        <a:rPr lang="fr-FR" sz="1050" dirty="0">
                          <a:effectLst/>
                        </a:rPr>
                        <a:t>F1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effectLst/>
                        </a:rPr>
                        <a:t>结论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922981789"/>
                  </a:ext>
                </a:extLst>
              </a:tr>
              <a:tr h="334786">
                <a:tc>
                  <a:txBody>
                    <a:bodyPr/>
                    <a:lstStyle/>
                    <a:p>
                      <a:r>
                        <a:rPr lang="fr-FR" sz="1050" dirty="0">
                          <a:effectLst/>
                        </a:rPr>
                        <a:t>LEVIR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89.08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90.59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>
                          <a:effectLst/>
                        </a:rPr>
                        <a:t>+1.51</a:t>
                      </a:r>
                      <a:endParaRPr lang="zh-CN" altLang="en-US" sz="105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effectLst/>
                        </a:rPr>
                        <a:t>有效 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294430663"/>
                  </a:ext>
                </a:extLst>
              </a:tr>
              <a:tr h="388673">
                <a:tc>
                  <a:txBody>
                    <a:bodyPr/>
                    <a:lstStyle/>
                    <a:p>
                      <a:r>
                        <a:rPr lang="fr-FR" sz="1050" dirty="0">
                          <a:effectLst/>
                        </a:rPr>
                        <a:t>SYSU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82.54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82.11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>
                          <a:effectLst/>
                        </a:rPr>
                        <a:t>−</a:t>
                      </a:r>
                      <a:r>
                        <a:rPr lang="en-US" altLang="zh-CN" sz="1050" b="1">
                          <a:effectLst/>
                        </a:rPr>
                        <a:t>0.43</a:t>
                      </a:r>
                      <a:endParaRPr lang="zh-CN" altLang="en-US" sz="105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effectLst/>
                        </a:rPr>
                        <a:t>轻微有害 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419239308"/>
                  </a:ext>
                </a:extLst>
              </a:tr>
              <a:tr h="388673">
                <a:tc>
                  <a:txBody>
                    <a:bodyPr/>
                    <a:lstStyle/>
                    <a:p>
                      <a:r>
                        <a:rPr lang="fr-FR" sz="1050" dirty="0">
                          <a:effectLst/>
                        </a:rPr>
                        <a:t>WHU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93.64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dirty="0">
                          <a:effectLst/>
                        </a:rPr>
                        <a:t>90.37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>
                          <a:effectLst/>
                        </a:rPr>
                        <a:t>−</a:t>
                      </a:r>
                      <a:r>
                        <a:rPr lang="en-US" altLang="zh-CN" sz="1050" b="1">
                          <a:effectLst/>
                        </a:rPr>
                        <a:t>3.27</a:t>
                      </a:r>
                      <a:endParaRPr lang="zh-CN" altLang="en-US" sz="105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effectLst/>
                        </a:rPr>
                        <a:t>明显有害 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418652892"/>
                  </a:ext>
                </a:extLst>
              </a:tr>
              <a:tr h="334786">
                <a:tc>
                  <a:txBody>
                    <a:bodyPr/>
                    <a:lstStyle/>
                    <a:p>
                      <a:r>
                        <a:rPr lang="fr-FR" sz="1050" dirty="0">
                          <a:effectLst/>
                        </a:rPr>
                        <a:t>CDD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96.95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>
                          <a:effectLst/>
                        </a:rPr>
                        <a:t>96.97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>
                          <a:effectLst/>
                        </a:rPr>
                        <a:t>+0.02</a:t>
                      </a:r>
                      <a:endParaRPr lang="zh-CN" altLang="en-US" sz="105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lang="fr-FR" sz="1050" dirty="0">
                          <a:effectLst/>
                        </a:rPr>
                        <a:t> </a:t>
                      </a:r>
                      <a:r>
                        <a:rPr lang="zh-CN" altLang="en-US" sz="1050" dirty="0">
                          <a:effectLst/>
                        </a:rPr>
                        <a:t>无影响 </a:t>
                      </a:r>
                      <a:endParaRPr lang="en-US" altLang="zh-CN" sz="105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191468244"/>
                  </a:ext>
                </a:extLst>
              </a:tr>
            </a:tbl>
          </a:graphicData>
        </a:graphic>
      </p:graphicFrame>
      <p:sp>
        <p:nvSpPr>
          <p:cNvPr id="62" name="文本框 61">
            <a:extLst>
              <a:ext uri="{FF2B5EF4-FFF2-40B4-BE49-F238E27FC236}">
                <a16:creationId xmlns:a16="http://schemas.microsoft.com/office/drawing/2014/main" id="{037F5623-606F-DDF0-BA33-5A3BAD9B5E7A}"/>
              </a:ext>
            </a:extLst>
          </p:cNvPr>
          <p:cNvSpPr txBox="1"/>
          <p:nvPr/>
        </p:nvSpPr>
        <p:spPr>
          <a:xfrm>
            <a:off x="8616123" y="3027131"/>
            <a:ext cx="341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测试</a:t>
            </a:r>
            <a:r>
              <a:rPr lang="en-US" altLang="zh-CN" sz="1400" dirty="0"/>
              <a:t>AFD</a:t>
            </a:r>
            <a:r>
              <a:rPr lang="zh-CN" altLang="en-US" sz="1400" dirty="0"/>
              <a:t>在</a:t>
            </a:r>
            <a:r>
              <a:rPr lang="en-US" altLang="zh-CN" sz="1400" dirty="0"/>
              <a:t>A2Net</a:t>
            </a:r>
            <a:r>
              <a:rPr lang="zh-CN" altLang="en-US" sz="1400" dirty="0"/>
              <a:t>（</a:t>
            </a:r>
            <a:r>
              <a:rPr lang="fr-FR" altLang="zh-CN" sz="1400" dirty="0"/>
              <a:t>LWGANet</a:t>
            </a:r>
            <a:r>
              <a:rPr lang="zh-CN" altLang="en-US" sz="1400" dirty="0"/>
              <a:t>骨干）有效性：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B894514-EC6F-3C1D-0E45-0A1D73101B7B}"/>
              </a:ext>
            </a:extLst>
          </p:cNvPr>
          <p:cNvSpPr txBox="1"/>
          <p:nvPr/>
        </p:nvSpPr>
        <p:spPr>
          <a:xfrm>
            <a:off x="8690599" y="5342594"/>
            <a:ext cx="3413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结论：外挂模块需要重新设计，因为它会把两个分支的特征拉近</a:t>
            </a:r>
            <a:r>
              <a:rPr lang="en-US" altLang="zh-CN" sz="1400" dirty="0"/>
              <a:t>/</a:t>
            </a:r>
            <a:r>
              <a:rPr lang="zh-CN" altLang="en-US" sz="1400" dirty="0"/>
              <a:t>对齐。</a:t>
            </a:r>
            <a:endParaRPr lang="en-US" altLang="zh-CN" sz="1400" dirty="0"/>
          </a:p>
          <a:p>
            <a:r>
              <a:rPr lang="zh-CN" altLang="en-US" sz="1400" dirty="0"/>
              <a:t>我们需要外挂模块加强编码器的差异保持或者</a:t>
            </a:r>
            <a:r>
              <a:rPr lang="zh-CN" altLang="en-US" sz="14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变化感知。</a:t>
            </a:r>
            <a:endParaRPr lang="zh-CN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2E08147-6174-38B1-1373-0D6187CAD91C}"/>
              </a:ext>
            </a:extLst>
          </p:cNvPr>
          <p:cNvSpPr txBox="1"/>
          <p:nvPr/>
        </p:nvSpPr>
        <p:spPr>
          <a:xfrm>
            <a:off x="145316" y="6288292"/>
            <a:ext cx="71206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000080"/>
                </a:solidFill>
                <a:latin typeface="Consolas" panose="020B0609020204030204" pitchFamily="49" charset="0"/>
              </a:rPr>
              <a:t>注：</a:t>
            </a:r>
            <a:r>
              <a:rPr lang="en-US" altLang="zh-CN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LEVIR:</a:t>
            </a:r>
            <a:r>
              <a:rPr lang="zh-CN" altLang="en-US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未变化区占绝对主导且高度相似</a:t>
            </a:r>
            <a:r>
              <a:rPr lang="en-US" altLang="zh-CN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变化区与未变化区差异足够大，</a:t>
            </a:r>
            <a:r>
              <a:rPr lang="en-US" altLang="zh-CN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SYSU</a:t>
            </a:r>
            <a:r>
              <a:rPr lang="zh-CN" altLang="en-US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与</a:t>
            </a:r>
            <a:r>
              <a:rPr lang="en-US" altLang="zh-CN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WHU</a:t>
            </a:r>
            <a:r>
              <a:rPr lang="zh-CN" altLang="en-US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的未变化区伪变化局多</a:t>
            </a:r>
            <a:endParaRPr lang="zh-CN" altLang="en-US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297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Microsoft Office PowerPoint</Application>
  <PresentationFormat>宽屏</PresentationFormat>
  <Paragraphs>54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ui-sans-serif</vt:lpstr>
      <vt:lpstr>等线</vt:lpstr>
      <vt:lpstr>等线 Light</vt:lpstr>
      <vt:lpstr>Arial</vt:lpstr>
      <vt:lpstr>Cambria Math</vt:lpstr>
      <vt:lpstr>Consolas</vt:lpstr>
      <vt:lpstr>Office 主题​​</vt:lpstr>
      <vt:lpstr>AFD模块详解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禹棋 王</dc:creator>
  <cp:lastModifiedBy>禹棋 王</cp:lastModifiedBy>
  <cp:revision>1</cp:revision>
  <dcterms:created xsi:type="dcterms:W3CDTF">2026-08-19T10:20:19Z</dcterms:created>
  <dcterms:modified xsi:type="dcterms:W3CDTF">2026-08-19T10:20:35Z</dcterms:modified>
</cp:coreProperties>
</file>