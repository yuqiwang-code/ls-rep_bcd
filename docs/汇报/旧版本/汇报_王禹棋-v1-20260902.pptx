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  <p:sldMasterId id="2147483654" r:id="rId3"/>
  </p:sldMasterIdLst>
  <p:notesMasterIdLst>
    <p:notesMasterId r:id="rId16"/>
  </p:notesMasterIdLst>
  <p:handoutMasterIdLst>
    <p:handoutMasterId r:id="rId17"/>
  </p:handoutMasterIdLst>
  <p:sldIdLst>
    <p:sldId id="439" r:id="rId4"/>
    <p:sldId id="1967" r:id="rId5"/>
    <p:sldId id="1963" r:id="rId6"/>
    <p:sldId id="1972" r:id="rId7"/>
    <p:sldId id="1974" r:id="rId8"/>
    <p:sldId id="1975" r:id="rId9"/>
    <p:sldId id="1969" r:id="rId10"/>
    <p:sldId id="1970" r:id="rId11"/>
    <p:sldId id="1976" r:id="rId12"/>
    <p:sldId id="1966" r:id="rId13"/>
    <p:sldId id="1968" r:id="rId14"/>
    <p:sldId id="193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88" userDrawn="1">
          <p15:clr>
            <a:srgbClr val="A4A3A4"/>
          </p15:clr>
        </p15:guide>
        <p15:guide id="2" pos="7412" userDrawn="1">
          <p15:clr>
            <a:srgbClr val="A4A3A4"/>
          </p15:clr>
        </p15:guide>
        <p15:guide id="3" pos="2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zsh" initials="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5D7F"/>
    <a:srgbClr val="3483CA"/>
    <a:srgbClr val="5597D3"/>
    <a:srgbClr val="2C4D88"/>
    <a:srgbClr val="76ABDC"/>
    <a:srgbClr val="2F5597"/>
    <a:srgbClr val="984378"/>
    <a:srgbClr val="FFFFFF"/>
    <a:srgbClr val="54C3F4"/>
    <a:srgbClr val="223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6" autoAdjust="0"/>
    <p:restoredTop sz="95192" autoAdjust="0"/>
  </p:normalViewPr>
  <p:slideViewPr>
    <p:cSldViewPr>
      <p:cViewPr varScale="1">
        <p:scale>
          <a:sx n="106" d="100"/>
          <a:sy n="106" d="100"/>
        </p:scale>
        <p:origin x="1080" y="72"/>
      </p:cViewPr>
      <p:guideLst>
        <p:guide orient="horz" pos="488"/>
        <p:guide pos="7412"/>
        <p:guide pos="240"/>
      </p:guideLst>
    </p:cSldViewPr>
  </p:slideViewPr>
  <p:outlineViewPr>
    <p:cViewPr>
      <p:scale>
        <a:sx n="33" d="100"/>
        <a:sy n="33" d="100"/>
      </p:scale>
      <p:origin x="0" y="-1191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1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EE64E-9A2D-4D02-BD46-DFCFC74B5EE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D3604F-F5C7-412C-AE28-FF961BD94C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wtturl.cn/?target=https%3A%2F%2Fdoi.org%2F10.1109%2FTGRS.2025.3584115&amp;scene=im&amp;aid=497858&amp;lang=zh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2100" b="0" i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4760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73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9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688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9978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99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702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5198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3946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altLang="zh-CN" dirty="0"/>
              <a:t>Li, Shuying, Zhenjian Qu, Yuemei Qin, San Zhang, and Qiang Li. “Global–Local Feature Collaborative Fusion and Edge Refinement Network for Remote Sensing Change Detection.” </a:t>
            </a:r>
            <a:r>
              <a:rPr lang="fr-FR" altLang="zh-CN" b="0" i="1" dirty="0">
                <a:solidFill>
                  <a:srgbClr val="1F2329"/>
                </a:solidFill>
                <a:effectLst/>
                <a:latin typeface="ui-sans-serif"/>
              </a:rPr>
              <a:t>IEEE Transactions on Geoscience and Remote Sensing</a:t>
            </a:r>
            <a:r>
              <a:rPr lang="fr-FR" altLang="zh-CN" dirty="0"/>
              <a:t> 63, 30 June 2025. </a:t>
            </a:r>
            <a:r>
              <a:rPr lang="fr-FR" altLang="zh-CN" b="0" dirty="0">
                <a:solidFill>
                  <a:srgbClr val="0057FF"/>
                </a:solidFill>
                <a:effectLst/>
                <a:latin typeface="ui-sans-serif"/>
                <a:hlinkClick r:id="rId3" tooltip="autolink"/>
              </a:rPr>
              <a:t>https://doi.org/10.1109/TGRS.2025.3584115</a:t>
            </a:r>
            <a:r>
              <a:rPr lang="fr-FR" altLang="zh-CN" dirty="0"/>
              <a:t>.</a:t>
            </a:r>
            <a:br>
              <a:rPr lang="fr-FR" altLang="zh-CN" dirty="0"/>
            </a:b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D3604F-F5C7-412C-AE28-FF961BD94C8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931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1852551"/>
          </a:xfrm>
          <a:solidFill>
            <a:srgbClr val="005D7F"/>
          </a:solidFill>
        </p:spPr>
        <p:txBody>
          <a:bodyPr anchor="ctr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4447" y="1"/>
            <a:ext cx="11797552" cy="669129"/>
          </a:xfrm>
          <a:noFill/>
        </p:spPr>
        <p:txBody>
          <a:bodyPr>
            <a:noAutofit/>
          </a:bodyPr>
          <a:lstStyle>
            <a:lvl1pPr>
              <a:lnSpc>
                <a:spcPct val="100000"/>
              </a:lnSpc>
              <a:defRPr sz="4000" b="1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4447" y="789710"/>
            <a:ext cx="11355295" cy="5820093"/>
          </a:xfrm>
        </p:spPr>
        <p:txBody>
          <a:bodyPr/>
          <a:lstStyle>
            <a:lvl1pPr algn="just">
              <a:lnSpc>
                <a:spcPct val="120000"/>
              </a:lnSpc>
              <a:defRPr sz="3200" b="1" i="0" baseline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  <a:lvl2pPr algn="just">
              <a:lnSpc>
                <a:spcPct val="120000"/>
              </a:lnSpc>
              <a:defRPr sz="3000" b="0" i="0" baseline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defRPr>
            </a:lvl2pPr>
            <a:lvl3pPr algn="just">
              <a:lnSpc>
                <a:spcPct val="120000"/>
              </a:lnSpc>
              <a:defRPr sz="2800" b="0" i="0" baseline="0">
                <a:latin typeface="Times New Roman" panose="02020603050405020304" pitchFamily="18" charset="0"/>
                <a:ea typeface="华文新魏" panose="02010800040101010101" pitchFamily="2" charset="-122"/>
                <a:cs typeface="Times New Roman" panose="02020603050405020304" pitchFamily="18" charset="0"/>
              </a:defRPr>
            </a:lvl3pPr>
            <a:lvl4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algn="just"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Line 1"/>
          <p:cNvSpPr>
            <a:spLocks noChangeShapeType="1"/>
          </p:cNvSpPr>
          <p:nvPr userDrawn="1"/>
        </p:nvSpPr>
        <p:spPr bwMode="auto">
          <a:xfrm>
            <a:off x="0" y="669130"/>
            <a:ext cx="10661650" cy="0"/>
          </a:xfrm>
          <a:prstGeom prst="line">
            <a:avLst/>
          </a:prstGeom>
          <a:noFill/>
          <a:ln w="34925">
            <a:solidFill>
              <a:srgbClr val="005D7F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36C418-9240-1A4C-6765-7F8140BD687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1766" y="47207"/>
            <a:ext cx="1480233" cy="621923"/>
          </a:xfrm>
          <a:prstGeom prst="rect">
            <a:avLst/>
          </a:prstGeom>
        </p:spPr>
      </p:pic>
      <p:sp>
        <p:nvSpPr>
          <p:cNvPr id="4" name="Line 1">
            <a:extLst>
              <a:ext uri="{FF2B5EF4-FFF2-40B4-BE49-F238E27FC236}">
                <a16:creationId xmlns:a16="http://schemas.microsoft.com/office/drawing/2014/main" id="{57EFDD6C-8898-6231-26FC-46546BEEF7B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0661650" y="669130"/>
            <a:ext cx="1530350" cy="0"/>
          </a:xfrm>
          <a:prstGeom prst="line">
            <a:avLst/>
          </a:prstGeom>
          <a:noFill/>
          <a:ln w="34925">
            <a:solidFill>
              <a:schemeClr val="accent4"/>
            </a:solidFill>
            <a:miter lim="800000"/>
          </a:ln>
          <a:effectLst/>
        </p:spPr>
        <p:txBody>
          <a:bodyPr/>
          <a:lstStyle/>
          <a:p>
            <a:pPr>
              <a:buFont typeface="Times New Roman" panose="02020603050405020304" pitchFamily="16" charset="0"/>
              <a:buNone/>
              <a:defRPr/>
            </a:pPr>
            <a:endParaRPr lang="en-GB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939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">
            <a:extLst>
              <a:ext uri="{FF2B5EF4-FFF2-40B4-BE49-F238E27FC236}">
                <a16:creationId xmlns:a16="http://schemas.microsoft.com/office/drawing/2014/main" id="{2D3A4F20-17E8-F3F2-1E60-388BE38BA355}"/>
              </a:ext>
            </a:extLst>
          </p:cNvPr>
          <p:cNvSpPr>
            <a:spLocks noGrp="1"/>
          </p:cNvSpPr>
          <p:nvPr userDrawn="1"/>
        </p:nvSpPr>
        <p:spPr>
          <a:xfrm>
            <a:off x="-8255" y="2295843"/>
            <a:ext cx="12200255" cy="214280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pPr fontAlgn="ctr">
              <a:lnSpc>
                <a:spcPct val="100000"/>
              </a:lnSpc>
            </a:pPr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谢谢！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4897A91-5FD9-8459-6268-DCCAF1556B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6439" y="4880633"/>
            <a:ext cx="3681858" cy="154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7804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68FE00-DBCC-C9A4-1177-D96E9618DF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RSML</a:t>
            </a:r>
            <a:r>
              <a:rPr lang="zh-CN" altLang="en-US" dirty="0"/>
              <a:t>小组基于</a:t>
            </a:r>
            <a:r>
              <a:rPr lang="en-US" altLang="zh-CN" dirty="0"/>
              <a:t>NKU</a:t>
            </a:r>
            <a:r>
              <a:rPr lang="zh-CN" altLang="en-US" dirty="0"/>
              <a:t>模板改进</a:t>
            </a:r>
          </a:p>
        </p:txBody>
      </p:sp>
    </p:spTree>
    <p:extLst>
      <p:ext uri="{BB962C8B-B14F-4D97-AF65-F5344CB8AC3E}">
        <p14:creationId xmlns:p14="http://schemas.microsoft.com/office/powerpoint/2010/main" val="2852893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 userDrawn="1"/>
        </p:nvSpPr>
        <p:spPr>
          <a:xfrm>
            <a:off x="11293947" y="6580997"/>
            <a:ext cx="898052" cy="306705"/>
          </a:xfrm>
          <a:prstGeom prst="rect">
            <a:avLst/>
          </a:prstGeom>
          <a:solidFill>
            <a:srgbClr val="ED6C00"/>
          </a:solidFill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400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90648"/>
          </a:xfrm>
          <a:prstGeom prst="rect">
            <a:avLst/>
          </a:prstGeom>
          <a:solidFill>
            <a:srgbClr val="005D7F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4447" y="991590"/>
            <a:ext cx="11355295" cy="5708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3528060" y="6581140"/>
            <a:ext cx="7370233" cy="306705"/>
          </a:xfrm>
          <a:prstGeom prst="rect">
            <a:avLst/>
          </a:prstGeom>
          <a:solidFill>
            <a:srgbClr val="005D7F"/>
          </a:solidFill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人工智能与计算机学院（软件学院）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581140"/>
            <a:ext cx="3528060" cy="306705"/>
          </a:xfrm>
          <a:prstGeom prst="rect">
            <a:avLst/>
          </a:prstGeom>
          <a:solidFill>
            <a:srgbClr val="005D7F">
              <a:alpha val="62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ctr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江南大学 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Jiangnan University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10898293" y="6581140"/>
            <a:ext cx="1292860" cy="306705"/>
          </a:xfrm>
          <a:prstGeom prst="rect">
            <a:avLst/>
          </a:prstGeom>
          <a:solidFill>
            <a:srgbClr val="2C4D88"/>
          </a:solidFill>
        </p:spPr>
        <p:txBody>
          <a:bodyPr wrap="square" rtlCol="0">
            <a:spAutoFit/>
          </a:bodyPr>
          <a:lstStyle/>
          <a:p>
            <a:pPr algn="ctr" fontAlgn="ctr"/>
            <a:fld id="{C603BFBC-EF15-48A5-8249-0FEAC4BE5DBB}" type="slidenum">
              <a:rPr lang="en-US" sz="1400" smtClean="0">
                <a:solidFill>
                  <a:schemeClr val="bg1"/>
                </a:solidFill>
              </a:rPr>
              <a:pPr algn="ctr" font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6219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-4128" y="0"/>
            <a:ext cx="12200255" cy="3218815"/>
          </a:xfrm>
        </p:spPr>
        <p:txBody>
          <a:bodyPr>
            <a:normAutofit/>
          </a:bodyPr>
          <a:lstStyle/>
          <a:p>
            <a:r>
              <a:rPr lang="zh-CN" altLang="en-US" sz="8000" b="1" dirty="0">
                <a:latin typeface="Calibri" panose="020F0502020204030204" pitchFamily="34" charset="0"/>
                <a:ea typeface="黑体" panose="02010609060101010101" pitchFamily="49" charset="-122"/>
              </a:rPr>
              <a:t>组会汇报</a:t>
            </a:r>
          </a:p>
        </p:txBody>
      </p:sp>
      <p:sp>
        <p:nvSpPr>
          <p:cNvPr id="5" name="Subtitle 2"/>
          <p:cNvSpPr txBox="1"/>
          <p:nvPr/>
        </p:nvSpPr>
        <p:spPr>
          <a:xfrm>
            <a:off x="1794510" y="3879000"/>
            <a:ext cx="8602980" cy="91049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350"/>
              </a:spcBef>
            </a:pPr>
            <a:r>
              <a:rPr lang="zh-CN" altLang="en-US" sz="4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ea typeface="华文楷体" panose="02010600040101010101" pitchFamily="2" charset="-122"/>
              </a:rPr>
              <a:t>王禹棋</a:t>
            </a:r>
            <a:endParaRPr lang="en-US" altLang="zh-CN" sz="1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98250-0BC2-1A39-9C34-76116551D556}"/>
              </a:ext>
            </a:extLst>
          </p:cNvPr>
          <p:cNvSpPr txBox="1"/>
          <p:nvPr/>
        </p:nvSpPr>
        <p:spPr>
          <a:xfrm>
            <a:off x="4016374" y="5589002"/>
            <a:ext cx="41592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5E2B6BFC-3EEF-4B6A-A420-397B5415EFE5}" type="datetime2">
              <a:rPr lang="zh-CN" altLang="en-US" sz="240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2026年9月3日</a:t>
            </a:fld>
            <a:endParaRPr lang="zh-CN" altLang="en-US" sz="24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D922A1-C243-7B53-3029-14CB55AE8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61C044-2992-E67E-4996-56303A0B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789711"/>
            <a:ext cx="11355295" cy="484274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一、</a:t>
            </a:r>
            <a:r>
              <a:rPr lang="en-US" altLang="zh-CN" dirty="0">
                <a:solidFill>
                  <a:srgbClr val="C00000"/>
                </a:solidFill>
              </a:rPr>
              <a:t>Academic Papers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DTAC-Net: A Dual-Task Adaptive Collaborative Network for Remote Sensing Change Interpretation. </a:t>
            </a:r>
            <a:r>
              <a:rPr lang="en-US" altLang="zh-CN" b="0" dirty="0"/>
              <a:t>TGRS</a:t>
            </a:r>
            <a:r>
              <a:rPr lang="fr-FR" altLang="zh-CN" b="0" dirty="0"/>
              <a:t>, 2026. </a:t>
            </a:r>
            <a:r>
              <a:rPr lang="zh-CN" altLang="en-US" b="0" dirty="0"/>
              <a:t>（审稿）</a:t>
            </a:r>
            <a:endParaRPr lang="fr-FR" altLang="zh-CN" b="0" dirty="0"/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Burden-Free Distillation From Foundation Model for Efficient Remote Sensing Change Detection. </a:t>
            </a:r>
            <a:r>
              <a:rPr lang="en-US" altLang="zh-CN" b="0" dirty="0"/>
              <a:t>TGRS</a:t>
            </a:r>
            <a:r>
              <a:rPr lang="fr-FR" altLang="zh-CN" b="0" dirty="0"/>
              <a:t>, 2025.</a:t>
            </a:r>
            <a:endParaRPr lang="en-US" altLang="zh-CN" b="0" dirty="0"/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fr-FR" altLang="zh-CN" b="0" dirty="0"/>
              <a:t>PHENet: Toward Robust Fog-Resilient Change Detection in Remote Sensing Imagery With a Physics-Guided Height-Enhanced Network. </a:t>
            </a:r>
            <a:r>
              <a:rPr lang="en-US" altLang="zh-CN" b="0" dirty="0"/>
              <a:t>TGRS</a:t>
            </a:r>
            <a:r>
              <a:rPr lang="fr-FR" altLang="zh-CN" b="0" dirty="0"/>
              <a:t>, 2026.</a:t>
            </a:r>
            <a:r>
              <a:rPr lang="zh-CN" altLang="en-US" b="0" dirty="0"/>
              <a:t>（复现）</a:t>
            </a: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b="0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二、</a:t>
            </a:r>
            <a:r>
              <a:rPr lang="en-US" altLang="zh-CN" dirty="0">
                <a:solidFill>
                  <a:srgbClr val="C00000"/>
                </a:solidFill>
              </a:rPr>
              <a:t>Our Work</a:t>
            </a: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三、</a:t>
            </a:r>
            <a:r>
              <a:rPr lang="en-US" altLang="zh-CN" dirty="0">
                <a:solidFill>
                  <a:srgbClr val="C00000"/>
                </a:solidFill>
              </a:rPr>
              <a:t>Future Work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8667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96B3F95-D1F7-77C2-7F2D-F063A217C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95" y="1943100"/>
            <a:ext cx="5562600" cy="29718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DE11C4D5-DE57-2B56-6410-30F27D33C120}"/>
              </a:ext>
            </a:extLst>
          </p:cNvPr>
          <p:cNvSpPr txBox="1"/>
          <p:nvPr/>
        </p:nvSpPr>
        <p:spPr>
          <a:xfrm>
            <a:off x="19491" y="909000"/>
            <a:ext cx="657150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任务：</a:t>
            </a:r>
            <a:r>
              <a:rPr kumimoji="0" lang="zh-CN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 Sensing Change Interpretation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（</a:t>
            </a:r>
            <a:r>
              <a:rPr kumimoji="0" lang="en-US" altLang="zh-CN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CD/CC</a:t>
            </a:r>
            <a:r>
              <a:rPr kumimoji="0" lang="zh-CN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</a:t>
            </a:r>
            <a:br>
              <a:rPr lang="en-US" altLang="zh-CN" dirty="0"/>
            </a:br>
            <a:r>
              <a:rPr lang="en-US" altLang="zh-CN" dirty="0"/>
              <a:t>Motivation: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现有方法提取特征和构造变化特征时不对任务做区分，但是这俩是有</a:t>
            </a:r>
            <a:r>
              <a:rPr lang="zh-CN" altLang="en-US" dirty="0">
                <a:solidFill>
                  <a:srgbClr val="FF0000"/>
                </a:solidFill>
              </a:rPr>
              <a:t>任务差异</a:t>
            </a:r>
            <a:r>
              <a:rPr lang="zh-CN" altLang="en-US" dirty="0"/>
              <a:t>的，</a:t>
            </a:r>
            <a:r>
              <a:rPr lang="en-US" altLang="zh-CN" dirty="0"/>
              <a:t>CD </a:t>
            </a:r>
            <a:r>
              <a:rPr lang="zh-CN" altLang="en-US" dirty="0"/>
              <a:t>侧重空间细节、</a:t>
            </a:r>
            <a:r>
              <a:rPr lang="en-US" altLang="zh-CN" dirty="0"/>
              <a:t>CC </a:t>
            </a:r>
            <a:r>
              <a:rPr lang="zh-CN" altLang="en-US" dirty="0"/>
              <a:t>侧重语义，强制共用会导致特征表达相互折中、相互纠缠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 </a:t>
            </a:r>
            <a:r>
              <a:rPr lang="zh-CN" altLang="en-US" dirty="0"/>
              <a:t>两个分支的</a:t>
            </a:r>
            <a:r>
              <a:rPr lang="zh-CN" altLang="en-US" dirty="0">
                <a:solidFill>
                  <a:srgbClr val="FF0000"/>
                </a:solidFill>
              </a:rPr>
              <a:t>交互不足</a:t>
            </a:r>
            <a:r>
              <a:rPr lang="zh-CN" altLang="en-US" dirty="0"/>
              <a:t>，缺乏深度融合和双向信息，空间定位与语义理解之间无法充分互补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dirty="0"/>
              <a:t>创新点：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dirty="0"/>
              <a:t>HTA</a:t>
            </a:r>
            <a:r>
              <a:rPr lang="zh-CN" altLang="en-US" dirty="0"/>
              <a:t>（分层任务注意力）做任务条件化调制，按层采用不同算子生成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 </a:t>
            </a:r>
            <a:r>
              <a:rPr lang="zh-CN" altLang="en-US" dirty="0"/>
              <a:t>各自的特征表示；</a:t>
            </a:r>
            <a:endParaRPr lang="en-US" altLang="zh-CN" dirty="0"/>
          </a:p>
          <a:p>
            <a:r>
              <a:rPr lang="zh-CN" altLang="en-US" dirty="0"/>
              <a:t> </a:t>
            </a:r>
            <a:r>
              <a:rPr lang="en-US" altLang="zh-CN" dirty="0"/>
              <a:t>TOCM</a:t>
            </a:r>
            <a:r>
              <a:rPr lang="zh-CN" altLang="en-US" dirty="0"/>
              <a:t>（任务导向变化建模）对拼接后的双时相特征，用不同类型卷积分别处理得到两套任务特定的变化特征</a:t>
            </a:r>
            <a:br>
              <a:rPr lang="en-US" altLang="zh-CN" dirty="0"/>
            </a:br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dirty="0"/>
              <a:t>CTAI</a:t>
            </a:r>
            <a:r>
              <a:rPr lang="zh-CN" altLang="en-US" dirty="0"/>
              <a:t>（跨任务注意力交互）以一个任务的变换特征为 </a:t>
            </a:r>
            <a:r>
              <a:rPr lang="en-US" altLang="zh-CN" dirty="0"/>
              <a:t>Q</a:t>
            </a:r>
            <a:r>
              <a:rPr lang="zh-CN" altLang="en-US" dirty="0"/>
              <a:t>、另一个为 </a:t>
            </a:r>
            <a:r>
              <a:rPr lang="en-US" altLang="zh-CN" dirty="0"/>
              <a:t>K/V</a:t>
            </a:r>
            <a:r>
              <a:rPr lang="zh-CN" altLang="en-US" dirty="0"/>
              <a:t>，在 </a:t>
            </a:r>
            <a:r>
              <a:rPr lang="en-US" altLang="zh-CN" dirty="0"/>
              <a:t>CD </a:t>
            </a:r>
            <a:r>
              <a:rPr lang="zh-CN" altLang="en-US" dirty="0"/>
              <a:t>与 </a:t>
            </a:r>
            <a:r>
              <a:rPr lang="en-US" altLang="zh-CN" dirty="0"/>
              <a:t>CC</a:t>
            </a:r>
            <a:r>
              <a:rPr lang="zh-CN" altLang="en-US" dirty="0"/>
              <a:t>之间做双向交叉注意力</a:t>
            </a:r>
            <a:endParaRPr lang="en-US" altLang="zh-CN" dirty="0"/>
          </a:p>
        </p:txBody>
      </p:sp>
      <p:sp>
        <p:nvSpPr>
          <p:cNvPr id="21" name="标题 1">
            <a:extLst>
              <a:ext uri="{FF2B5EF4-FFF2-40B4-BE49-F238E27FC236}">
                <a16:creationId xmlns:a16="http://schemas.microsoft.com/office/drawing/2014/main" id="{BFFA319F-43A0-A52D-5087-3144D104A1B4}"/>
              </a:ext>
            </a:extLst>
          </p:cNvPr>
          <p:cNvSpPr txBox="1">
            <a:spLocks/>
          </p:cNvSpPr>
          <p:nvPr/>
        </p:nvSpPr>
        <p:spPr>
          <a:xfrm>
            <a:off x="394447" y="1"/>
            <a:ext cx="6185135" cy="66912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defRPr>
            </a:lvl1pPr>
          </a:lstStyle>
          <a:p>
            <a:r>
              <a:rPr lang="fr-FR" altLang="zh-CN"/>
              <a:t>DTAC-Net</a:t>
            </a:r>
            <a:r>
              <a:rPr lang="zh-CN" altLang="en-US"/>
              <a:t>（审稿）</a:t>
            </a:r>
            <a:endParaRPr lang="fr-FR" altLang="zh-CN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3A0A224-B86C-5C17-6299-E996FBC1F26D}"/>
              </a:ext>
            </a:extLst>
          </p:cNvPr>
          <p:cNvSpPr txBox="1"/>
          <p:nvPr/>
        </p:nvSpPr>
        <p:spPr>
          <a:xfrm>
            <a:off x="30921" y="5398433"/>
            <a:ext cx="6571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altLang="zh-CN" dirty="0"/>
              <a:t>backbone</a:t>
            </a:r>
            <a:r>
              <a:rPr lang="zh-CN" altLang="en-US" dirty="0"/>
              <a:t>：</a:t>
            </a:r>
            <a:r>
              <a:rPr lang="fr-FR" altLang="zh-CN" dirty="0"/>
              <a:t>SegFormer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zh-CN" altLang="en-US" dirty="0"/>
              <a:t>数据集：</a:t>
            </a:r>
            <a:r>
              <a:rPr lang="zh-CN" altLang="zh-CN" dirty="0"/>
              <a:t>LEVIR-MCI </a:t>
            </a:r>
            <a:r>
              <a:rPr lang="zh-CN" altLang="en-US" dirty="0"/>
              <a:t>、</a:t>
            </a:r>
            <a:r>
              <a:rPr lang="zh-CN" altLang="zh-CN" dirty="0"/>
              <a:t>LEVIR-CDC</a:t>
            </a:r>
            <a:r>
              <a:rPr lang="zh-CN" altLang="en-US" dirty="0"/>
              <a:t>（只关注建筑）</a:t>
            </a:r>
            <a:r>
              <a:rPr lang="zh-CN" altLang="zh-CN" dirty="0"/>
              <a:t> </a:t>
            </a:r>
            <a:r>
              <a:rPr lang="zh-CN" altLang="en-US" dirty="0"/>
              <a:t>、</a:t>
            </a:r>
            <a:r>
              <a:rPr lang="zh-CN" altLang="zh-CN" dirty="0"/>
              <a:t>WHU-CDC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5093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73AA99F-6552-DF59-ECC8-982A677F7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00" y="899030"/>
            <a:ext cx="11220450" cy="5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69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5D6DFB9-58A4-EEB3-79E5-278513D51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000" y="700388"/>
            <a:ext cx="4963011" cy="558156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4A1DF22-BDA0-EDDE-F529-E99B1A05C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4011" y="1466398"/>
            <a:ext cx="6937989" cy="424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49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r-FR" altLang="zh-CN" dirty="0"/>
              <a:t>DTAC-Net</a:t>
            </a:r>
            <a:r>
              <a:rPr lang="zh-CN" altLang="en-US" dirty="0"/>
              <a:t>（审稿）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9291" y="6281956"/>
            <a:ext cx="1219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YANG Lei, MA Qi, LIU Bing, et al. DTAC-Net: A Dual-Task Adaptive Collaborative Network for Remote Sensing Change Interpretation[J].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3B1840A-D65C-8B38-2315-1F37933741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512" y="803780"/>
            <a:ext cx="1008697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263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-15552" y="741655"/>
            <a:ext cx="647155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任务：</a:t>
            </a:r>
            <a:r>
              <a:rPr lang="en-US" altLang="zh-CN" dirty="0"/>
              <a:t>RS_BCD</a:t>
            </a:r>
            <a:br>
              <a:rPr lang="en-US" altLang="zh-CN" dirty="0"/>
            </a:br>
            <a:r>
              <a:rPr lang="en-US" altLang="zh-CN" dirty="0"/>
              <a:t>Motivation:</a:t>
            </a:r>
            <a:r>
              <a:rPr lang="zh-CN" altLang="en-US" dirty="0"/>
              <a:t>能不能训练时借用大模型知识，但推理时完全不要大模型？</a:t>
            </a:r>
            <a:endParaRPr lang="en-US" altLang="zh-CN" dirty="0"/>
          </a:p>
          <a:p>
            <a:r>
              <a:rPr lang="zh-CN" altLang="en-US" dirty="0"/>
              <a:t>创新点：</a:t>
            </a:r>
            <a:r>
              <a:rPr lang="fr-FR" altLang="zh-CN" b="1" dirty="0"/>
              <a:t>BFD</a:t>
            </a:r>
            <a:r>
              <a:rPr lang="zh-CN" altLang="fr-FR" dirty="0"/>
              <a:t>：</a:t>
            </a:r>
            <a:r>
              <a:rPr lang="fr-FR" altLang="zh-CN" dirty="0"/>
              <a:t>Foundation Model → DFM </a:t>
            </a:r>
            <a:r>
              <a:rPr lang="zh-CN" altLang="en-US" dirty="0"/>
              <a:t>双时相特征匹配 </a:t>
            </a:r>
            <a:r>
              <a:rPr lang="en-US" altLang="zh-CN" dirty="0"/>
              <a:t>+ </a:t>
            </a:r>
            <a:r>
              <a:rPr lang="fr-FR" altLang="zh-CN" dirty="0"/>
              <a:t>PCD Patch </a:t>
            </a:r>
            <a:r>
              <a:rPr lang="zh-CN" altLang="en-US" dirty="0"/>
              <a:t>对比蒸馏 → </a:t>
            </a:r>
            <a:r>
              <a:rPr lang="fr-FR" altLang="zh-CN" dirty="0"/>
              <a:t>CD Student</a:t>
            </a:r>
            <a:r>
              <a:rPr lang="zh-CN" altLang="fr-FR" dirty="0"/>
              <a:t>。</a:t>
            </a:r>
            <a:r>
              <a:rPr lang="zh-CN" altLang="en-US" dirty="0"/>
              <a:t>教师只训练期出现。</a:t>
            </a:r>
            <a:endParaRPr lang="en-US" altLang="zh-CN" dirty="0"/>
          </a:p>
          <a:p>
            <a:r>
              <a:rPr lang="zh-CN" altLang="en-US" dirty="0"/>
              <a:t>教师：</a:t>
            </a:r>
            <a:r>
              <a:rPr lang="fr-FR" altLang="zh-CN" dirty="0"/>
              <a:t>CLIP ViT-B/16 </a:t>
            </a:r>
            <a:r>
              <a:rPr lang="zh-CN" altLang="en-US" dirty="0"/>
              <a:t>；学生：</a:t>
            </a:r>
            <a:r>
              <a:rPr lang="fr-FR" altLang="zh-CN" b="1" dirty="0"/>
              <a:t>BIT</a:t>
            </a:r>
            <a:r>
              <a:rPr lang="zh-CN" altLang="en-US" dirty="0"/>
              <a:t>和 </a:t>
            </a:r>
            <a:r>
              <a:rPr lang="fr-FR" altLang="zh-CN" b="1" dirty="0"/>
              <a:t>ChangeFormer</a:t>
            </a:r>
            <a:endParaRPr lang="en-US" altLang="zh-CN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FA5935C-42B4-2E32-0D98-0DBA4ED4B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0" y="2527065"/>
            <a:ext cx="11925000" cy="36050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EDC2E2E-63C3-2D94-66B4-2FCBD7436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000" y="334209"/>
            <a:ext cx="3696144" cy="202807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E989EE8-EBFF-6D56-0D18-026F09FE66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617" t="7328" r="30773" b="36284"/>
          <a:stretch/>
        </p:blipFill>
        <p:spPr>
          <a:xfrm>
            <a:off x="10123959" y="973184"/>
            <a:ext cx="2068041" cy="147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5194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BFD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 Wang, S., Lv, C., Quan, D., Huyan, N., Cao, X., Sun, J., &amp; Jiao, L. Burden-Free Distillation From Foundation Model for Efficient Remote Sensing Change Detection.  </a:t>
            </a:r>
            <a:r>
              <a:rPr lang="en-US" altLang="zh-CN" dirty="0"/>
              <a:t>TGRS</a:t>
            </a:r>
            <a:r>
              <a:rPr lang="fr-FR" altLang="zh-CN" dirty="0"/>
              <a:t>, 2025.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7201B88-A333-8F64-5D0A-4762321D7EE6}"/>
              </a:ext>
            </a:extLst>
          </p:cNvPr>
          <p:cNvSpPr txBox="1"/>
          <p:nvPr/>
        </p:nvSpPr>
        <p:spPr>
          <a:xfrm>
            <a:off x="2482" y="774000"/>
            <a:ext cx="126185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zh-CN" altLang="en-US" dirty="0"/>
              <a:t>指标：</a:t>
            </a:r>
            <a:r>
              <a:rPr lang="fr-FR" altLang="zh-CN" dirty="0"/>
              <a:t>LEVIR/WHU/CLCD </a:t>
            </a:r>
            <a:r>
              <a:rPr lang="zh-CN" altLang="en-US" dirty="0"/>
              <a:t>报的是 </a:t>
            </a:r>
            <a:r>
              <a:rPr lang="fr-FR" altLang="zh-CN" b="1" dirty="0"/>
              <a:t>P</a:t>
            </a:r>
            <a:r>
              <a:rPr lang="zh-CN" altLang="fr-FR" b="1" dirty="0"/>
              <a:t>、</a:t>
            </a:r>
            <a:r>
              <a:rPr lang="fr-FR" altLang="zh-CN" b="1" dirty="0"/>
              <a:t>R</a:t>
            </a:r>
            <a:r>
              <a:rPr lang="zh-CN" altLang="fr-FR" b="1" dirty="0"/>
              <a:t>、</a:t>
            </a:r>
            <a:r>
              <a:rPr lang="fr-FR" altLang="zh-CN" b="1" dirty="0"/>
              <a:t>mF1</a:t>
            </a:r>
            <a:r>
              <a:rPr lang="zh-CN" altLang="fr-FR" b="1" dirty="0"/>
              <a:t>、</a:t>
            </a:r>
            <a:r>
              <a:rPr lang="fr-FR" altLang="zh-CN" b="1" dirty="0"/>
              <a:t>mIoU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8BA40-30E6-C1A0-BC3E-5B793429F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" y="1143332"/>
            <a:ext cx="6594350" cy="268185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109EDD9-FE51-1BBF-AA46-CADFDEF3F6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103" y="669130"/>
            <a:ext cx="5780415" cy="5499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ED4CC05-EB75-EC90-F310-70B06AD021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5445" y="3825188"/>
            <a:ext cx="3523265" cy="2342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1004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 err="1"/>
              <a:t>PHENet</a:t>
            </a:r>
            <a:r>
              <a:rPr lang="zh-CN" altLang="en-US" dirty="0"/>
              <a:t>复现</a:t>
            </a:r>
            <a:endParaRPr lang="fr-FR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EA8553-509C-E52D-F12F-E73AA46F755D}"/>
              </a:ext>
            </a:extLst>
          </p:cNvPr>
          <p:cNvSpPr txBox="1"/>
          <p:nvPr/>
        </p:nvSpPr>
        <p:spPr>
          <a:xfrm>
            <a:off x="0" y="610693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fr-FR" altLang="zh-CN" dirty="0"/>
              <a:t>Jianjun Yuan, Siyu Chen, Jianjun Zhou, and Luoming Zhao. "PHENet: Toward Robust Fog-Resilient Change Detection in Remote Sensing Imagery With a Physics-Guided Height-Enhanced Network." </a:t>
            </a:r>
            <a:r>
              <a:rPr lang="en-US" altLang="zh-CN" dirty="0"/>
              <a:t>TGRS</a:t>
            </a:r>
            <a:r>
              <a:rPr lang="fr-FR" altLang="zh-CN" dirty="0"/>
              <a:t>, 2026.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3EE074A-8FBC-8F5E-7F70-70F77EE559FE}"/>
              </a:ext>
            </a:extLst>
          </p:cNvPr>
          <p:cNvSpPr txBox="1"/>
          <p:nvPr/>
        </p:nvSpPr>
        <p:spPr>
          <a:xfrm>
            <a:off x="-4770" y="667028"/>
            <a:ext cx="11970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 PHENet 的输入需要：   T1 RGB、T2 RGB、T1 height、T2 height。</a:t>
            </a:r>
            <a:br>
              <a:rPr lang="en-US" altLang="zh-CN" dirty="0"/>
            </a:br>
            <a:r>
              <a:rPr lang="en-US" altLang="zh-CN" dirty="0"/>
              <a:t>1.</a:t>
            </a:r>
            <a:r>
              <a:rPr lang="zh-CN" altLang="en-US" b="1" dirty="0"/>
              <a:t>高度图的生成代码没有</a:t>
            </a:r>
            <a:r>
              <a:rPr lang="zh-CN" altLang="en-US" dirty="0"/>
              <a:t>。我自己找的方法：</a:t>
            </a:r>
            <a:r>
              <a:rPr lang="fr-FR" altLang="zh-CN" dirty="0"/>
              <a:t>RGB → Depth Anything V2 </a:t>
            </a:r>
            <a:r>
              <a:rPr lang="zh-CN" altLang="en-US" dirty="0"/>
              <a:t>相对深度 → </a:t>
            </a:r>
            <a:r>
              <a:rPr lang="fr-FR" altLang="zh-CN" dirty="0"/>
              <a:t>RDAH-Net </a:t>
            </a:r>
            <a:r>
              <a:rPr lang="zh-CN" altLang="en-US" dirty="0"/>
              <a:t>高度估计 → </a:t>
            </a:r>
            <a:r>
              <a:rPr lang="fr-FR" altLang="zh-CN" dirty="0"/>
              <a:t>Heightmap</a:t>
            </a:r>
          </a:p>
          <a:p>
            <a:endParaRPr lang="fr-FR" altLang="zh-CN" dirty="0"/>
          </a:p>
          <a:p>
            <a:r>
              <a:rPr lang="fr-FR" altLang="zh-CN" dirty="0"/>
              <a:t>2.</a:t>
            </a:r>
            <a:r>
              <a:rPr lang="zh-CN" altLang="en-US" dirty="0"/>
              <a:t>论文和作者</a:t>
            </a:r>
            <a:r>
              <a:rPr lang="en-US" altLang="zh-CN" dirty="0" err="1"/>
              <a:t>github</a:t>
            </a:r>
            <a:r>
              <a:rPr lang="zh-CN" altLang="en-US" dirty="0"/>
              <a:t>里的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变化检测损失不一致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：论文采用 </a:t>
            </a: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BCE + Dice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；作者代码默认采用 </a:t>
            </a:r>
            <a:r>
              <a:rPr kumimoji="0" lang="zh-CN" altLang="zh-CN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 + Dice </a:t>
            </a:r>
            <a:r>
              <a:rPr lang="en-US" altLang="zh-CN" b="1" dirty="0">
                <a:latin typeface="Arial" panose="020B0604020202020204" pitchFamily="34" charset="0"/>
              </a:rPr>
              <a:t>(</a:t>
            </a:r>
            <a:r>
              <a:rPr lang="fr-FR" altLang="zh-CN" dirty="0"/>
              <a:t>dice_ce</a:t>
            </a:r>
            <a:r>
              <a:rPr lang="en-US" altLang="zh-CN" dirty="0">
                <a:latin typeface="Arial" panose="020B0604020202020204" pitchFamily="34" charset="0"/>
              </a:rPr>
              <a:t>)(</a:t>
            </a:r>
            <a:r>
              <a:rPr lang="zh-CN" altLang="en-US" dirty="0">
                <a:latin typeface="Arial" panose="020B0604020202020204" pitchFamily="34" charset="0"/>
              </a:rPr>
              <a:t>我们现在用的是这个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 </a:t>
            </a:r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b="1" dirty="0"/>
              <a:t>数据增强存在差异</a:t>
            </a:r>
            <a:r>
              <a:rPr lang="zh-CN" altLang="en-US" dirty="0"/>
              <a:t>：论文包含</a:t>
            </a:r>
            <a:r>
              <a:rPr lang="zh-CN" altLang="en-US" b="1" dirty="0"/>
              <a:t>随机旋转</a:t>
            </a:r>
            <a:r>
              <a:rPr lang="zh-CN" altLang="en-US" dirty="0"/>
              <a:t>；作者代码虽然实现了 </a:t>
            </a:r>
            <a:r>
              <a:rPr lang="en-US" altLang="zh-CN" dirty="0"/>
              <a:t>rotation</a:t>
            </a:r>
            <a:r>
              <a:rPr lang="zh-CN" altLang="en-US" dirty="0"/>
              <a:t>，但正式训练配置中</a:t>
            </a:r>
            <a:r>
              <a:rPr lang="zh-CN" altLang="en-US" b="1" dirty="0"/>
              <a:t>没有开启随机旋转</a:t>
            </a:r>
            <a:r>
              <a:rPr lang="zh-CN" altLang="en-US" dirty="0"/>
              <a:t>（我们开启了）。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b="1" dirty="0"/>
              <a:t> </a:t>
            </a:r>
            <a:r>
              <a:rPr lang="en-US" altLang="zh-CN" b="1" dirty="0"/>
              <a:t>PAC </a:t>
            </a:r>
            <a:r>
              <a:rPr lang="zh-CN" altLang="en-US" b="1" dirty="0"/>
              <a:t>损失权重不一致</a:t>
            </a:r>
            <a:r>
              <a:rPr lang="zh-CN" altLang="en-US" dirty="0"/>
              <a:t>：论文为 </a:t>
            </a:r>
            <a:r>
              <a:rPr lang="en-US" altLang="zh-CN" b="1" dirty="0"/>
              <a:t>TV=0.2</a:t>
            </a:r>
            <a:r>
              <a:rPr lang="zh-CN" altLang="en-US" b="1" dirty="0"/>
              <a:t>、</a:t>
            </a:r>
            <a:r>
              <a:rPr lang="en-US" altLang="zh-CN" b="1" dirty="0"/>
              <a:t>Dark=0.5</a:t>
            </a:r>
            <a:r>
              <a:rPr lang="zh-CN" altLang="en-US" b="1" dirty="0"/>
              <a:t>、</a:t>
            </a:r>
            <a:r>
              <a:rPr lang="en-US" altLang="zh-CN" b="1" dirty="0"/>
              <a:t>Adv=0.5</a:t>
            </a:r>
            <a:r>
              <a:rPr lang="zh-CN" altLang="en-US" dirty="0"/>
              <a:t>；作者代码实际为 </a:t>
            </a:r>
            <a:r>
              <a:rPr lang="en-US" altLang="zh-CN" b="1" dirty="0"/>
              <a:t>0.2</a:t>
            </a:r>
            <a:r>
              <a:rPr lang="zh-CN" altLang="en-US" b="1" dirty="0"/>
              <a:t>、</a:t>
            </a:r>
            <a:r>
              <a:rPr lang="en-US" altLang="zh-CN" b="1" dirty="0"/>
              <a:t>0.2</a:t>
            </a:r>
            <a:r>
              <a:rPr lang="zh-CN" altLang="en-US" b="1" dirty="0"/>
              <a:t>、</a:t>
            </a:r>
            <a:r>
              <a:rPr lang="en-US" altLang="zh-CN" b="1" dirty="0"/>
              <a:t>0.2</a:t>
            </a:r>
            <a:r>
              <a:rPr lang="zh-CN" altLang="en-US" dirty="0"/>
              <a:t>。（我们采用论文值）</a:t>
            </a:r>
            <a:endParaRPr lang="en-US" altLang="zh-CN" dirty="0"/>
          </a:p>
          <a:p>
            <a:br>
              <a:rPr lang="en-US" altLang="zh-CN" dirty="0"/>
            </a:br>
            <a:r>
              <a:rPr lang="zh-CN" altLang="en-US" dirty="0"/>
              <a:t>现有数据：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8BE4619-ED86-4F90-6380-E6F2013C95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5229188"/>
              </p:ext>
            </p:extLst>
          </p:nvPr>
        </p:nvGraphicFramePr>
        <p:xfrm>
          <a:off x="246000" y="4329000"/>
          <a:ext cx="11355386" cy="12700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2956">
                  <a:extLst>
                    <a:ext uri="{9D8B030D-6E8A-4147-A177-3AD203B41FA5}">
                      <a16:colId xmlns:a16="http://schemas.microsoft.com/office/drawing/2014/main" val="3072255162"/>
                    </a:ext>
                  </a:extLst>
                </a:gridCol>
                <a:gridCol w="971184">
                  <a:extLst>
                    <a:ext uri="{9D8B030D-6E8A-4147-A177-3AD203B41FA5}">
                      <a16:colId xmlns:a16="http://schemas.microsoft.com/office/drawing/2014/main" val="1811054755"/>
                    </a:ext>
                  </a:extLst>
                </a:gridCol>
                <a:gridCol w="971184">
                  <a:extLst>
                    <a:ext uri="{9D8B030D-6E8A-4147-A177-3AD203B41FA5}">
                      <a16:colId xmlns:a16="http://schemas.microsoft.com/office/drawing/2014/main" val="240045003"/>
                    </a:ext>
                  </a:extLst>
                </a:gridCol>
                <a:gridCol w="896478">
                  <a:extLst>
                    <a:ext uri="{9D8B030D-6E8A-4147-A177-3AD203B41FA5}">
                      <a16:colId xmlns:a16="http://schemas.microsoft.com/office/drawing/2014/main" val="2325438054"/>
                    </a:ext>
                  </a:extLst>
                </a:gridCol>
                <a:gridCol w="1195304">
                  <a:extLst>
                    <a:ext uri="{9D8B030D-6E8A-4147-A177-3AD203B41FA5}">
                      <a16:colId xmlns:a16="http://schemas.microsoft.com/office/drawing/2014/main" val="1648698048"/>
                    </a:ext>
                  </a:extLst>
                </a:gridCol>
                <a:gridCol w="971184">
                  <a:extLst>
                    <a:ext uri="{9D8B030D-6E8A-4147-A177-3AD203B41FA5}">
                      <a16:colId xmlns:a16="http://schemas.microsoft.com/office/drawing/2014/main" val="1562605219"/>
                    </a:ext>
                  </a:extLst>
                </a:gridCol>
                <a:gridCol w="971184">
                  <a:extLst>
                    <a:ext uri="{9D8B030D-6E8A-4147-A177-3AD203B41FA5}">
                      <a16:colId xmlns:a16="http://schemas.microsoft.com/office/drawing/2014/main" val="2487640939"/>
                    </a:ext>
                  </a:extLst>
                </a:gridCol>
                <a:gridCol w="896478">
                  <a:extLst>
                    <a:ext uri="{9D8B030D-6E8A-4147-A177-3AD203B41FA5}">
                      <a16:colId xmlns:a16="http://schemas.microsoft.com/office/drawing/2014/main" val="483971156"/>
                    </a:ext>
                  </a:extLst>
                </a:gridCol>
                <a:gridCol w="896478">
                  <a:extLst>
                    <a:ext uri="{9D8B030D-6E8A-4147-A177-3AD203B41FA5}">
                      <a16:colId xmlns:a16="http://schemas.microsoft.com/office/drawing/2014/main" val="3843624285"/>
                    </a:ext>
                  </a:extLst>
                </a:gridCol>
                <a:gridCol w="896478">
                  <a:extLst>
                    <a:ext uri="{9D8B030D-6E8A-4147-A177-3AD203B41FA5}">
                      <a16:colId xmlns:a16="http://schemas.microsoft.com/office/drawing/2014/main" val="2251039323"/>
                    </a:ext>
                  </a:extLst>
                </a:gridCol>
                <a:gridCol w="896478">
                  <a:extLst>
                    <a:ext uri="{9D8B030D-6E8A-4147-A177-3AD203B41FA5}">
                      <a16:colId xmlns:a16="http://schemas.microsoft.com/office/drawing/2014/main" val="3256409276"/>
                    </a:ext>
                  </a:extLst>
                </a:gridCol>
              </a:tblGrid>
              <a:tr h="373532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u="none" strike="noStrike">
                          <a:effectLst/>
                        </a:rPr>
                        <a:t>数据集 </a:t>
                      </a:r>
                      <a:r>
                        <a:rPr lang="en-US" altLang="zh-CN" sz="1000" u="none" strike="noStrike">
                          <a:effectLst/>
                        </a:rPr>
                        <a:t>/ </a:t>
                      </a:r>
                      <a:r>
                        <a:rPr lang="zh-CN" altLang="en-US" sz="1000" u="none" strike="noStrike">
                          <a:effectLst/>
                        </a:rPr>
                        <a:t>实验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Params(M)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FLOPs(G)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FPS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GPU Mem(MB)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Recall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Precision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OA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F1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IoU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000" u="none" strike="noStrike">
                          <a:effectLst/>
                        </a:rPr>
                        <a:t>Kappa</a:t>
                      </a:r>
                      <a:endParaRPr lang="fr-FR" sz="1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87892039"/>
                  </a:ext>
                </a:extLst>
              </a:tr>
              <a:tr h="29882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LEVIR-CD-foggy</a:t>
                      </a:r>
                      <a:endParaRPr lang="fr-FR" sz="1000" b="1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5.242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70.927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125.373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4861.28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72.3131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69.5936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96.9800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70.9273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54.9514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69.3352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89934491"/>
                  </a:ext>
                </a:extLst>
              </a:tr>
              <a:tr h="29882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SYSU-CD-foggy</a:t>
                      </a:r>
                      <a:endParaRPr lang="fr-FR" sz="1000" b="1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5.242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70.927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124.021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4861.28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67.2110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77.3316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87.6212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71.9170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56.1487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64.0277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85923438"/>
                  </a:ext>
                </a:extLst>
              </a:tr>
              <a:tr h="298826">
                <a:tc>
                  <a:txBody>
                    <a:bodyPr/>
                    <a:lstStyle/>
                    <a:p>
                      <a:pPr algn="l" fontAlgn="ctr"/>
                      <a:r>
                        <a:rPr lang="fr-FR" sz="1000" u="none" strike="noStrike">
                          <a:effectLst/>
                        </a:rPr>
                        <a:t>LEVIR-CD+foggy</a:t>
                      </a:r>
                      <a:endParaRPr lang="fr-FR" sz="1000" b="1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5.242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70.927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121.988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4861.28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65.2694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65.2333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97.1677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65.2513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>
                          <a:effectLst/>
                        </a:rPr>
                        <a:t>48.4245</a:t>
                      </a:r>
                      <a:endParaRPr lang="en-US" altLang="zh-CN" sz="1000" b="0" i="0" u="none" strike="noStrike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zh-CN" sz="1000" u="none" strike="noStrike" dirty="0">
                          <a:effectLst/>
                        </a:rPr>
                        <a:t>63.7750</a:t>
                      </a:r>
                      <a:endParaRPr lang="en-US" altLang="zh-CN" sz="1000" b="0" i="0" u="none" strike="noStrike" dirty="0">
                        <a:solidFill>
                          <a:srgbClr val="1F2937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848112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344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A2Net+LWGANet</a:t>
            </a:r>
            <a:r>
              <a:rPr lang="zh-CN" altLang="en-US" dirty="0"/>
              <a:t>（</a:t>
            </a:r>
            <a:r>
              <a:rPr lang="en-US" altLang="zh-CN" dirty="0"/>
              <a:t>baseline</a:t>
            </a:r>
            <a:r>
              <a:rPr lang="zh-CN" altLang="en-US" dirty="0"/>
              <a:t>记录）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8456B3-CE1E-241E-801F-ABBB51A12AED}"/>
              </a:ext>
            </a:extLst>
          </p:cNvPr>
          <p:cNvSpPr/>
          <p:nvPr/>
        </p:nvSpPr>
        <p:spPr>
          <a:xfrm>
            <a:off x="2038959" y="2465022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34F98B6-0243-A13C-9511-374B726DE5E8}"/>
              </a:ext>
            </a:extLst>
          </p:cNvPr>
          <p:cNvSpPr/>
          <p:nvPr/>
        </p:nvSpPr>
        <p:spPr>
          <a:xfrm>
            <a:off x="2038959" y="3595465"/>
            <a:ext cx="360000" cy="315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T1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837CE02-E65F-BC7A-D241-F916AB0483AF}"/>
              </a:ext>
            </a:extLst>
          </p:cNvPr>
          <p:cNvSpPr/>
          <p:nvPr/>
        </p:nvSpPr>
        <p:spPr>
          <a:xfrm>
            <a:off x="2652571" y="2957312"/>
            <a:ext cx="2080413" cy="39358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Shared LWGANet_L0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8" name="连接符: 肘形 7">
            <a:extLst>
              <a:ext uri="{FF2B5EF4-FFF2-40B4-BE49-F238E27FC236}">
                <a16:creationId xmlns:a16="http://schemas.microsoft.com/office/drawing/2014/main" id="{7520187C-BF51-EA5D-6B42-821810752A85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2398959" y="2622522"/>
            <a:ext cx="253612" cy="53158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连接符: 肘形 8">
            <a:extLst>
              <a:ext uri="{FF2B5EF4-FFF2-40B4-BE49-F238E27FC236}">
                <a16:creationId xmlns:a16="http://schemas.microsoft.com/office/drawing/2014/main" id="{B2C3223F-4D4A-53F2-F716-C23A98E6D291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 flipV="1">
            <a:off x="2398959" y="3154106"/>
            <a:ext cx="253612" cy="5988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69A773C4-AE15-171F-34E4-CE0D07657693}"/>
              </a:ext>
            </a:extLst>
          </p:cNvPr>
          <p:cNvSpPr/>
          <p:nvPr/>
        </p:nvSpPr>
        <p:spPr>
          <a:xfrm>
            <a:off x="2645026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2DF85BF-3BF2-E8BA-852D-E264733B902A}"/>
              </a:ext>
            </a:extLst>
          </p:cNvPr>
          <p:cNvSpPr/>
          <p:nvPr/>
        </p:nvSpPr>
        <p:spPr>
          <a:xfrm>
            <a:off x="3182540" y="240692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AFAE46-FF3A-4876-070F-1062AF9E86A2}"/>
              </a:ext>
            </a:extLst>
          </p:cNvPr>
          <p:cNvSpPr/>
          <p:nvPr/>
        </p:nvSpPr>
        <p:spPr>
          <a:xfrm>
            <a:off x="3720054" y="241162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43D609F-A8E5-1B89-4374-193435D3E271}"/>
              </a:ext>
            </a:extLst>
          </p:cNvPr>
          <p:cNvSpPr/>
          <p:nvPr/>
        </p:nvSpPr>
        <p:spPr>
          <a:xfrm>
            <a:off x="4279105" y="241670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F1_4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84DBC98-F9B9-CD00-8A61-371C01490E3D}"/>
              </a:ext>
            </a:extLst>
          </p:cNvPr>
          <p:cNvSpPr/>
          <p:nvPr/>
        </p:nvSpPr>
        <p:spPr>
          <a:xfrm>
            <a:off x="2652571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3BE8B7E-9E79-EC32-80A4-3A78EBF19FF5}"/>
              </a:ext>
            </a:extLst>
          </p:cNvPr>
          <p:cNvSpPr/>
          <p:nvPr/>
        </p:nvSpPr>
        <p:spPr>
          <a:xfrm>
            <a:off x="3190085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56AC48-41BD-3B6B-456E-7EA79446E475}"/>
              </a:ext>
            </a:extLst>
          </p:cNvPr>
          <p:cNvSpPr/>
          <p:nvPr/>
        </p:nvSpPr>
        <p:spPr>
          <a:xfrm>
            <a:off x="3727599" y="366035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23D08C-4BA4-1EAE-C12D-C6587671C386}"/>
              </a:ext>
            </a:extLst>
          </p:cNvPr>
          <p:cNvSpPr/>
          <p:nvPr/>
        </p:nvSpPr>
        <p:spPr>
          <a:xfrm>
            <a:off x="4286650" y="3665434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F2_4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3CCD5049-5974-71E8-AB0E-9E8025385D24}"/>
              </a:ext>
            </a:extLst>
          </p:cNvPr>
          <p:cNvCxnSpPr>
            <a:cxnSpLocks/>
            <a:stCxn id="7" idx="0"/>
            <a:endCxn id="10" idx="2"/>
          </p:cNvCxnSpPr>
          <p:nvPr/>
        </p:nvCxnSpPr>
        <p:spPr>
          <a:xfrm rot="16200000" flipV="1">
            <a:off x="3142652" y="2407186"/>
            <a:ext cx="288750" cy="81150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连接符: 肘形 18">
            <a:extLst>
              <a:ext uri="{FF2B5EF4-FFF2-40B4-BE49-F238E27FC236}">
                <a16:creationId xmlns:a16="http://schemas.microsoft.com/office/drawing/2014/main" id="{64D9380F-1C18-DBED-3B8F-791CCEE84D33}"/>
              </a:ext>
            </a:extLst>
          </p:cNvPr>
          <p:cNvCxnSpPr>
            <a:cxnSpLocks/>
            <a:stCxn id="7" idx="0"/>
            <a:endCxn id="11" idx="2"/>
          </p:cNvCxnSpPr>
          <p:nvPr/>
        </p:nvCxnSpPr>
        <p:spPr>
          <a:xfrm rot="16200000" flipV="1">
            <a:off x="3411409" y="2675943"/>
            <a:ext cx="288750" cy="2739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>
            <a:extLst>
              <a:ext uri="{FF2B5EF4-FFF2-40B4-BE49-F238E27FC236}">
                <a16:creationId xmlns:a16="http://schemas.microsoft.com/office/drawing/2014/main" id="{EB309CBD-4F7A-4424-0C1B-C93E94F4DA06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rot="5400000" flipH="1" flipV="1">
            <a:off x="3682517" y="2683525"/>
            <a:ext cx="284048" cy="26352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肘形 20">
            <a:extLst>
              <a:ext uri="{FF2B5EF4-FFF2-40B4-BE49-F238E27FC236}">
                <a16:creationId xmlns:a16="http://schemas.microsoft.com/office/drawing/2014/main" id="{21804445-F9D9-07F8-603A-8D696A9B897A}"/>
              </a:ext>
            </a:extLst>
          </p:cNvPr>
          <p:cNvCxnSpPr>
            <a:cxnSpLocks/>
            <a:stCxn id="7" idx="0"/>
            <a:endCxn id="13" idx="2"/>
          </p:cNvCxnSpPr>
          <p:nvPr/>
        </p:nvCxnSpPr>
        <p:spPr>
          <a:xfrm rot="5400000" flipH="1" flipV="1">
            <a:off x="3964582" y="2406540"/>
            <a:ext cx="278968" cy="82257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>
            <a:extLst>
              <a:ext uri="{FF2B5EF4-FFF2-40B4-BE49-F238E27FC236}">
                <a16:creationId xmlns:a16="http://schemas.microsoft.com/office/drawing/2014/main" id="{0BFE552B-5261-D0C1-0CFF-D5B79152E168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rot="5400000">
            <a:off x="3138424" y="3101298"/>
            <a:ext cx="304752" cy="80395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912D0E96-70C2-EDE2-89A5-6FCEAA321D6D}"/>
              </a:ext>
            </a:extLst>
          </p:cNvPr>
          <p:cNvCxnSpPr>
            <a:cxnSpLocks/>
            <a:stCxn id="7" idx="2"/>
            <a:endCxn id="15" idx="0"/>
          </p:cNvCxnSpPr>
          <p:nvPr/>
        </p:nvCxnSpPr>
        <p:spPr>
          <a:xfrm rot="5400000">
            <a:off x="3407181" y="3370055"/>
            <a:ext cx="304752" cy="26644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>
            <a:extLst>
              <a:ext uri="{FF2B5EF4-FFF2-40B4-BE49-F238E27FC236}">
                <a16:creationId xmlns:a16="http://schemas.microsoft.com/office/drawing/2014/main" id="{C4AEFCEF-FF4A-AD73-BE60-51E58E68F213}"/>
              </a:ext>
            </a:extLst>
          </p:cNvPr>
          <p:cNvCxnSpPr>
            <a:cxnSpLocks/>
            <a:stCxn id="7" idx="2"/>
            <a:endCxn id="16" idx="0"/>
          </p:cNvCxnSpPr>
          <p:nvPr/>
        </p:nvCxnSpPr>
        <p:spPr>
          <a:xfrm rot="16200000" flipH="1">
            <a:off x="3673586" y="3370091"/>
            <a:ext cx="309454" cy="271071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>
            <a:extLst>
              <a:ext uri="{FF2B5EF4-FFF2-40B4-BE49-F238E27FC236}">
                <a16:creationId xmlns:a16="http://schemas.microsoft.com/office/drawing/2014/main" id="{DB9D1604-D9DC-A507-4917-95BE8052CEF2}"/>
              </a:ext>
            </a:extLst>
          </p:cNvPr>
          <p:cNvCxnSpPr>
            <a:cxnSpLocks/>
            <a:stCxn id="7" idx="2"/>
            <a:endCxn id="17" idx="0"/>
          </p:cNvCxnSpPr>
          <p:nvPr/>
        </p:nvCxnSpPr>
        <p:spPr>
          <a:xfrm rot="16200000" flipH="1">
            <a:off x="3950572" y="3093106"/>
            <a:ext cx="314534" cy="83012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DC3F41BF-EE99-B2F5-DFC0-7A9B89A82544}"/>
              </a:ext>
            </a:extLst>
          </p:cNvPr>
          <p:cNvSpPr/>
          <p:nvPr/>
        </p:nvSpPr>
        <p:spPr>
          <a:xfrm rot="5400000">
            <a:off x="3589185" y="1134056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左大括号 26">
            <a:extLst>
              <a:ext uri="{FF2B5EF4-FFF2-40B4-BE49-F238E27FC236}">
                <a16:creationId xmlns:a16="http://schemas.microsoft.com/office/drawing/2014/main" id="{91445F5F-6417-C848-9383-A98C7908FAA0}"/>
              </a:ext>
            </a:extLst>
          </p:cNvPr>
          <p:cNvSpPr/>
          <p:nvPr/>
        </p:nvSpPr>
        <p:spPr>
          <a:xfrm rot="16200000">
            <a:off x="3619661" y="2904939"/>
            <a:ext cx="200785" cy="2295000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F543534-459E-7CD0-5164-F762CF668ECB}"/>
              </a:ext>
            </a:extLst>
          </p:cNvPr>
          <p:cNvSpPr/>
          <p:nvPr/>
        </p:nvSpPr>
        <p:spPr>
          <a:xfrm>
            <a:off x="5152078" y="24248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>
            <a:extLst>
              <a:ext uri="{FF2B5EF4-FFF2-40B4-BE49-F238E27FC236}">
                <a16:creationId xmlns:a16="http://schemas.microsoft.com/office/drawing/2014/main" id="{3900C4B1-5A71-39B9-B555-75EC53D2A257}"/>
              </a:ext>
            </a:extLst>
          </p:cNvPr>
          <p:cNvCxnSpPr>
            <a:cxnSpLocks/>
            <a:stCxn id="26" idx="1"/>
            <a:endCxn id="28" idx="0"/>
          </p:cNvCxnSpPr>
          <p:nvPr/>
        </p:nvCxnSpPr>
        <p:spPr>
          <a:xfrm rot="16200000" flipH="1">
            <a:off x="4417112" y="1453630"/>
            <a:ext cx="243682" cy="1698750"/>
          </a:xfrm>
          <a:prstGeom prst="bentConnector3">
            <a:avLst>
              <a:gd name="adj1" fmla="val -3681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>
            <a:extLst>
              <a:ext uri="{FF2B5EF4-FFF2-40B4-BE49-F238E27FC236}">
                <a16:creationId xmlns:a16="http://schemas.microsoft.com/office/drawing/2014/main" id="{0DAD18E6-E5CB-0D54-F0B9-539A379CD2ED}"/>
              </a:ext>
            </a:extLst>
          </p:cNvPr>
          <p:cNvCxnSpPr>
            <a:cxnSpLocks/>
            <a:stCxn id="27" idx="1"/>
            <a:endCxn id="31" idx="2"/>
          </p:cNvCxnSpPr>
          <p:nvPr/>
        </p:nvCxnSpPr>
        <p:spPr>
          <a:xfrm rot="5400000" flipH="1" flipV="1">
            <a:off x="4436421" y="3200925"/>
            <a:ext cx="235540" cy="1668274"/>
          </a:xfrm>
          <a:prstGeom prst="bentConnector3">
            <a:avLst>
              <a:gd name="adj1" fmla="val -4577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EAC29147-7DA2-1EF9-DA76-F12B71818596}"/>
              </a:ext>
            </a:extLst>
          </p:cNvPr>
          <p:cNvSpPr/>
          <p:nvPr/>
        </p:nvSpPr>
        <p:spPr>
          <a:xfrm>
            <a:off x="5152078" y="3655652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SWA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C3868D-F906-133B-8F96-332E3E746D34}"/>
              </a:ext>
            </a:extLst>
          </p:cNvPr>
          <p:cNvSpPr/>
          <p:nvPr/>
        </p:nvSpPr>
        <p:spPr>
          <a:xfrm>
            <a:off x="5152078" y="302328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TFM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428CC5BE-C737-AC49-B340-43482B070861}"/>
              </a:ext>
            </a:extLst>
          </p:cNvPr>
          <p:cNvCxnSpPr>
            <a:cxnSpLocks/>
            <a:stCxn id="28" idx="2"/>
            <a:endCxn id="32" idx="0"/>
          </p:cNvCxnSpPr>
          <p:nvPr/>
        </p:nvCxnSpPr>
        <p:spPr>
          <a:xfrm>
            <a:off x="5388328" y="2686486"/>
            <a:ext cx="0" cy="3368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4BC56912-2946-830E-ACE4-64EE9FCBE294}"/>
              </a:ext>
            </a:extLst>
          </p:cNvPr>
          <p:cNvCxnSpPr>
            <a:cxnSpLocks/>
            <a:stCxn id="31" idx="0"/>
            <a:endCxn id="32" idx="2"/>
          </p:cNvCxnSpPr>
          <p:nvPr/>
        </p:nvCxnSpPr>
        <p:spPr>
          <a:xfrm flipV="1">
            <a:off x="5388328" y="3284926"/>
            <a:ext cx="0" cy="3707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252B64A2-7E86-0A72-C635-17767D07AE18}"/>
              </a:ext>
            </a:extLst>
          </p:cNvPr>
          <p:cNvSpPr/>
          <p:nvPr/>
        </p:nvSpPr>
        <p:spPr>
          <a:xfrm>
            <a:off x="5831478" y="3061713"/>
            <a:ext cx="2774316" cy="97294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endParaRPr lang="en-US" altLang="zh-CN" sz="1200" dirty="0">
              <a:solidFill>
                <a:schemeClr val="tx1"/>
              </a:solidFill>
            </a:endParaRPr>
          </a:p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A2Net_Decoder</a:t>
            </a:r>
            <a:br>
              <a:rPr lang="en-US" altLang="zh-CN" sz="1200" dirty="0">
                <a:solidFill>
                  <a:schemeClr val="tx1"/>
                </a:solidFill>
              </a:rPr>
            </a:br>
            <a:r>
              <a:rPr lang="en-US" altLang="zh-CN" sz="1200" dirty="0">
                <a:solidFill>
                  <a:schemeClr val="tx1"/>
                </a:solidFill>
              </a:rPr>
              <a:t>Stage1~4</a:t>
            </a:r>
            <a:r>
              <a:rPr lang="zh-CN" altLang="en-US" sz="1200" dirty="0">
                <a:solidFill>
                  <a:schemeClr val="tx1"/>
                </a:solidFill>
              </a:rPr>
              <a:t>：</a:t>
            </a:r>
            <a:r>
              <a:rPr lang="fr-FR" altLang="zh-CN" sz="1200" dirty="0">
                <a:solidFill>
                  <a:schemeClr val="tx1"/>
                </a:solidFill>
              </a:rPr>
              <a:t>SupervisedAttentionModul</a:t>
            </a:r>
            <a:r>
              <a:rPr lang="en-US" altLang="zh-CN" sz="1200" dirty="0">
                <a:solidFill>
                  <a:schemeClr val="tx1"/>
                </a:solidFill>
              </a:rPr>
              <a:t>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87D916DE-6544-82B0-B630-5A97E7B91714}"/>
              </a:ext>
            </a:extLst>
          </p:cNvPr>
          <p:cNvSpPr/>
          <p:nvPr/>
        </p:nvSpPr>
        <p:spPr>
          <a:xfrm>
            <a:off x="5865425" y="258160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86DF87E-1867-FDE4-DBE3-75091BA42B6A}"/>
              </a:ext>
            </a:extLst>
          </p:cNvPr>
          <p:cNvSpPr/>
          <p:nvPr/>
        </p:nvSpPr>
        <p:spPr>
          <a:xfrm>
            <a:off x="6608122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52B879E-1DBA-26AE-927C-F158C1B33C8D}"/>
              </a:ext>
            </a:extLst>
          </p:cNvPr>
          <p:cNvSpPr/>
          <p:nvPr/>
        </p:nvSpPr>
        <p:spPr>
          <a:xfrm>
            <a:off x="7364958" y="2581388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D4EC551-CA67-5134-FDCA-C208FF9203E5}"/>
              </a:ext>
            </a:extLst>
          </p:cNvPr>
          <p:cNvSpPr/>
          <p:nvPr/>
        </p:nvSpPr>
        <p:spPr>
          <a:xfrm>
            <a:off x="8090952" y="257526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d4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0" name="左大括号 39">
            <a:extLst>
              <a:ext uri="{FF2B5EF4-FFF2-40B4-BE49-F238E27FC236}">
                <a16:creationId xmlns:a16="http://schemas.microsoft.com/office/drawing/2014/main" id="{FEA55FE6-179C-2C08-3B46-3528089BA253}"/>
              </a:ext>
            </a:extLst>
          </p:cNvPr>
          <p:cNvSpPr/>
          <p:nvPr/>
        </p:nvSpPr>
        <p:spPr>
          <a:xfrm rot="5400000">
            <a:off x="7074923" y="1016380"/>
            <a:ext cx="223503" cy="2838243"/>
          </a:xfrm>
          <a:prstGeom prst="leftBrace">
            <a:avLst>
              <a:gd name="adj1" fmla="val 8333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077DA8A2-7711-9696-B4DA-9CC0E350BDDD}"/>
              </a:ext>
            </a:extLst>
          </p:cNvPr>
          <p:cNvCxnSpPr>
            <a:cxnSpLocks/>
            <a:stCxn id="32" idx="3"/>
            <a:endCxn id="40" idx="1"/>
          </p:cNvCxnSpPr>
          <p:nvPr/>
        </p:nvCxnSpPr>
        <p:spPr>
          <a:xfrm flipV="1">
            <a:off x="5624578" y="2323750"/>
            <a:ext cx="1562096" cy="830356"/>
          </a:xfrm>
          <a:prstGeom prst="bentConnector4">
            <a:avLst>
              <a:gd name="adj1" fmla="val 6423"/>
              <a:gd name="adj2" fmla="val 1280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2407C86-66A9-C73C-F3DB-D8303137540F}"/>
              </a:ext>
            </a:extLst>
          </p:cNvPr>
          <p:cNvCxnSpPr>
            <a:cxnSpLocks/>
            <a:stCxn id="36" idx="2"/>
            <a:endCxn id="46" idx="0"/>
          </p:cNvCxnSpPr>
          <p:nvPr/>
        </p:nvCxnSpPr>
        <p:spPr>
          <a:xfrm>
            <a:off x="6101675" y="2843249"/>
            <a:ext cx="4319" cy="4222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E15F2C7F-ADD6-E428-6379-49A6D6ECEE8F}"/>
              </a:ext>
            </a:extLst>
          </p:cNvPr>
          <p:cNvCxnSpPr>
            <a:cxnSpLocks/>
            <a:stCxn id="37" idx="2"/>
            <a:endCxn id="47" idx="0"/>
          </p:cNvCxnSpPr>
          <p:nvPr/>
        </p:nvCxnSpPr>
        <p:spPr>
          <a:xfrm>
            <a:off x="6844372" y="2843028"/>
            <a:ext cx="0" cy="4204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1D2B798A-A759-78FD-19D0-CF8CE173C9C2}"/>
              </a:ext>
            </a:extLst>
          </p:cNvPr>
          <p:cNvCxnSpPr>
            <a:cxnSpLocks/>
            <a:stCxn id="38" idx="2"/>
            <a:endCxn id="48" idx="0"/>
          </p:cNvCxnSpPr>
          <p:nvPr/>
        </p:nvCxnSpPr>
        <p:spPr>
          <a:xfrm>
            <a:off x="7601208" y="2843028"/>
            <a:ext cx="4285" cy="416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FFDD373C-F5CC-88D8-C91D-778958174D81}"/>
              </a:ext>
            </a:extLst>
          </p:cNvPr>
          <p:cNvCxnSpPr>
            <a:cxnSpLocks/>
            <a:stCxn id="39" idx="2"/>
            <a:endCxn id="49" idx="0"/>
          </p:cNvCxnSpPr>
          <p:nvPr/>
        </p:nvCxnSpPr>
        <p:spPr>
          <a:xfrm>
            <a:off x="8327202" y="2836903"/>
            <a:ext cx="0" cy="423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1B5F8502-4887-DCED-9EFE-A51DDEF2C146}"/>
              </a:ext>
            </a:extLst>
          </p:cNvPr>
          <p:cNvSpPr/>
          <p:nvPr/>
        </p:nvSpPr>
        <p:spPr>
          <a:xfrm>
            <a:off x="5869744" y="3265459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S1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69455D3-CF62-F70A-1DF4-966C22131DAF}"/>
              </a:ext>
            </a:extLst>
          </p:cNvPr>
          <p:cNvSpPr/>
          <p:nvPr/>
        </p:nvSpPr>
        <p:spPr>
          <a:xfrm>
            <a:off x="6608122" y="3263446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S2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362F27-33DA-4C6C-FED8-4EA8A1146D5D}"/>
              </a:ext>
            </a:extLst>
          </p:cNvPr>
          <p:cNvSpPr/>
          <p:nvPr/>
        </p:nvSpPr>
        <p:spPr>
          <a:xfrm>
            <a:off x="7369243" y="3259860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S3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0D271E-3373-8434-6924-AF7545E8F091}"/>
              </a:ext>
            </a:extLst>
          </p:cNvPr>
          <p:cNvSpPr/>
          <p:nvPr/>
        </p:nvSpPr>
        <p:spPr>
          <a:xfrm>
            <a:off x="8090952" y="3260103"/>
            <a:ext cx="472500" cy="2616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S4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32F10F90-0567-3A1F-ED66-18814D096FCB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6342244" y="3394266"/>
            <a:ext cx="265878" cy="2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C0FB2F08-11F1-3656-A8D3-C5133F64B790}"/>
              </a:ext>
            </a:extLst>
          </p:cNvPr>
          <p:cNvCxnSpPr>
            <a:cxnSpLocks/>
            <a:stCxn id="47" idx="3"/>
            <a:endCxn id="48" idx="1"/>
          </p:cNvCxnSpPr>
          <p:nvPr/>
        </p:nvCxnSpPr>
        <p:spPr>
          <a:xfrm flipV="1">
            <a:off x="7080622" y="3390680"/>
            <a:ext cx="288621" cy="35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C9E58273-B015-A969-C54A-BDD892408D0A}"/>
              </a:ext>
            </a:extLst>
          </p:cNvPr>
          <p:cNvCxnSpPr>
            <a:cxnSpLocks/>
            <a:endCxn id="49" idx="1"/>
          </p:cNvCxnSpPr>
          <p:nvPr/>
        </p:nvCxnSpPr>
        <p:spPr>
          <a:xfrm>
            <a:off x="7837458" y="3390680"/>
            <a:ext cx="253494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74B262E2-504A-2795-DDC6-DCE3282CCDF2}"/>
              </a:ext>
            </a:extLst>
          </p:cNvPr>
          <p:cNvSpPr/>
          <p:nvPr/>
        </p:nvSpPr>
        <p:spPr>
          <a:xfrm>
            <a:off x="8871672" y="3278928"/>
            <a:ext cx="821086" cy="22350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chemeClr val="tx1"/>
                </a:solidFill>
              </a:rPr>
              <a:t>changemap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4F8D5117-E9D8-BDD4-9C3D-B0A58146C3EA}"/>
              </a:ext>
            </a:extLst>
          </p:cNvPr>
          <p:cNvCxnSpPr>
            <a:cxnSpLocks/>
            <a:stCxn id="49" idx="3"/>
            <a:endCxn id="53" idx="1"/>
          </p:cNvCxnSpPr>
          <p:nvPr/>
        </p:nvCxnSpPr>
        <p:spPr>
          <a:xfrm flipV="1">
            <a:off x="8563452" y="3390680"/>
            <a:ext cx="308220" cy="2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F880E22C-07EA-0F71-2156-E6E194717005}"/>
              </a:ext>
            </a:extLst>
          </p:cNvPr>
          <p:cNvCxnSpPr>
            <a:cxnSpLocks/>
            <a:stCxn id="53" idx="0"/>
            <a:endCxn id="56" idx="2"/>
          </p:cNvCxnSpPr>
          <p:nvPr/>
        </p:nvCxnSpPr>
        <p:spPr>
          <a:xfrm flipH="1" flipV="1">
            <a:off x="9281875" y="2957102"/>
            <a:ext cx="340" cy="32182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37CED921-E2D3-920F-95D4-D8BBEC66162C}"/>
              </a:ext>
            </a:extLst>
          </p:cNvPr>
          <p:cNvSpPr txBox="1"/>
          <p:nvPr/>
        </p:nvSpPr>
        <p:spPr>
          <a:xfrm>
            <a:off x="8682008" y="2380021"/>
            <a:ext cx="119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/>
              <a:t>GT</a:t>
            </a:r>
          </a:p>
          <a:p>
            <a:pPr algn="ctr"/>
            <a:r>
              <a:rPr lang="zh-CN" altLang="en-US" sz="1050" dirty="0"/>
              <a:t>↓</a:t>
            </a:r>
            <a:endParaRPr lang="en-US" altLang="zh-CN" sz="1050" dirty="0"/>
          </a:p>
          <a:p>
            <a:pPr algn="ctr"/>
            <a:r>
              <a:rPr lang="zh-CN" altLang="en-US" sz="1050" dirty="0"/>
              <a:t>主</a:t>
            </a:r>
            <a:r>
              <a:rPr lang="en-US" altLang="zh-CN" sz="1050" dirty="0"/>
              <a:t>loss</a:t>
            </a:r>
            <a:r>
              <a:rPr lang="zh-CN" altLang="en-US" sz="1050" dirty="0"/>
              <a:t>： </a:t>
            </a:r>
            <a:r>
              <a:rPr lang="fr-FR" altLang="zh-CN" sz="1050" dirty="0"/>
              <a:t>BCE+Dice </a:t>
            </a:r>
            <a:endParaRPr lang="en-US" altLang="zh-CN" sz="1050" dirty="0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C4399E1-9C00-ECE4-5414-FD4405CC2423}"/>
              </a:ext>
            </a:extLst>
          </p:cNvPr>
          <p:cNvSpPr/>
          <p:nvPr/>
        </p:nvSpPr>
        <p:spPr>
          <a:xfrm>
            <a:off x="1776000" y="1899000"/>
            <a:ext cx="8105742" cy="25439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DD2B510B-EED9-E1A5-32D1-9FDE9FA3B231}"/>
              </a:ext>
            </a:extLst>
          </p:cNvPr>
          <p:cNvSpPr txBox="1"/>
          <p:nvPr/>
        </p:nvSpPr>
        <p:spPr>
          <a:xfrm>
            <a:off x="5085833" y="2683414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EB7EE21-3EE1-738F-4118-8127D946882B}"/>
              </a:ext>
            </a:extLst>
          </p:cNvPr>
          <p:cNvSpPr txBox="1"/>
          <p:nvPr/>
        </p:nvSpPr>
        <p:spPr>
          <a:xfrm>
            <a:off x="5085833" y="3421839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/>
              <a:t>4</a:t>
            </a:r>
            <a:r>
              <a:rPr lang="zh-CN" altLang="en-US" sz="1000" dirty="0"/>
              <a:t>个</a:t>
            </a:r>
          </a:p>
        </p:txBody>
      </p:sp>
    </p:spTree>
    <p:extLst>
      <p:ext uri="{BB962C8B-B14F-4D97-AF65-F5344CB8AC3E}">
        <p14:creationId xmlns:p14="http://schemas.microsoft.com/office/powerpoint/2010/main" val="137916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4447" y="1"/>
            <a:ext cx="10246553" cy="669129"/>
          </a:xfrm>
          <a:noFill/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Future Work</a:t>
            </a:r>
            <a:endParaRPr lang="fr-FR" altLang="zh-CN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FB5AC2-8BCA-7E96-7B23-FDEADC341A59}"/>
              </a:ext>
            </a:extLst>
          </p:cNvPr>
          <p:cNvSpPr txBox="1"/>
          <p:nvPr/>
        </p:nvSpPr>
        <p:spPr>
          <a:xfrm>
            <a:off x="-1" y="6098465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altLang="zh-CN" dirty="0"/>
              <a:t>Lu W, Yang X, Chen S B. </a:t>
            </a:r>
            <a:r>
              <a:rPr lang="en-US" altLang="zh-CN" dirty="0" err="1"/>
              <a:t>LWGANet</a:t>
            </a:r>
            <a:r>
              <a:rPr lang="en-US" altLang="zh-CN" dirty="0"/>
              <a:t>: Addressing spatial and channel redundancy in remote sensing visual tasks with light-weight grouped attention[C]//Proceedings of the AAAI Conference on Artificial Intelligence. 2026, 40(9): 7574-7582.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82849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817263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gICAiSW1nU2V0dGluZ0pzb24iIDogIntcImRwaVwiOlwiNjAwXCIsXCJmb3JtYXRcIjpcIlBOR1wiLFwidHJhbnNwYXJlbnRcIjp0cnVlLFwiYXV0b1wiOmZhbHNlfSIsCiAgICJMYXRleCIgOiAiWEZzZ1RGOXJJRDFjWm5KaFkzc3hmWHN5ZlNoY2JXRjBhR05oYkh0SGZWOXJMVnh0WVhSb1ltWjdXWDBwWGpJdFhHeGhiV0prWVNBb1hHMWhkR2hqWVd4N1IzMWZheTFjZEdsc1pHVjdYRzFoZEdoallXeDdSMzE5S1Y0eUlGeGQiLAogICAiTGF0ZXhJbWdCYXNlNjQiIDogImlWQk9SdzBLR2dvQUFBQU5TVWhFVWdBQUJHVUFBQUNvQkFNQUFBQzcvVTRVQUFBQU1GQk1WRVgvLy84QUFBQUFBQUFBQUFBQUFBQUFBQUFBQUFBQUFBQUFBQUFBQUFBQUFBQUFBQUFBQUFBQUFBQUFBQUFBQUFBdjNhQjdBQUFBRDNSU1RsTUF6ZS9kdXpKMmlabXJWQkJFWmlMRFdYNWhBQUFBQ1hCSVdYTUFBQTdFQUFBT3hBR1ZLdzRiQUFBYnNrbEVRVlI0QWUxZGU0d2t4MW52dTMzZXp1N3MyZzRra1FOelhpQjJnbURPdmhnVTRtVFdnWDhnU0hNNEVuK1FQMmF4aEF4Q2FKYUFzSWtJY3dsR09QekJYQUpDdGlNeEl4NFNEeW03ZmlBclNHWkdRaUNDakdleEVsNVJOSnV6eE5QUjN1NmVpYytPWGZ5cXU2djZxK3AzVDgzMjlsNlhkRGYxK09wNzFWZjFmVlhWM1d0WnVhUUh2ajhYc2lYUjRtcGdtYjFlWE9aTHp2UFFRS1ZiMmt3ZWVpOHd6Y3FEckxTWkFvOWZEcXgvbzhsS204bEI3NFVsK2FlUE5tQXhwYzBVZGdCellMd0xlN256NjZYTjVLRDZ3cEw4OU1WM2ZNVTZVOXBNWVFjd0w4Wk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wTWNjY3VMODVMbThsTDg4V2xXOXBNY2NjdUw4NUxtOGxMODhXbFc5cE1jY2N1TDg1TG04bEw4OFdsVzlyTVNSdTdoVnZmMzNkNCt0SkpZODNscDdTWkV6WXd5M1hHanZxY3FTVjI2WVR4NXJKVDJzd0pHNWR0L2ttZ2d5RzQ2cDdVRHgwVzJXYisvbFoyOTYrZHNDR2ZsSjBseG02QjBWei9RdlZCdGh1R0xHZkJDMnd6TC9FWnllN2NDZE5zSWV1MzRaZVdhclprL3hjbVFONkNGOWRtWG1ZLzhPSXJ2OFRZbTJHcUxXTDlNdHNDMjBzTmJqUmh5MHp1Z2hmV1p1Yll2ZHdvMm94ZEthSnhoUEE4NDh3QWJqVDNoWURrTDNoaGJlYnFkZHNwelRGMkkwUzVSYXl1OWgydWwzLzFFMkhzNXk5NFlXMm10dVlvZFJTK2lJZHB2ZGoxK1F0ZVZKdFpZdll5WTFubkdIdWoyRWFRanZzVElIaFJiV2IyTlZmVlZjWkNOeGpwUnFNWTBDZEE4S0xheklEZDZZNXhqUjBWWTdUTmNIa0NCQytxemJRWTIzUUdvY09FbXpJektDY2N5d2tRSERaVHlBTU9oTDV1RUR4bWJPK0VqN05KOWs2QTRET1I0Y0FmRFUyS093bXU2dmVwdmZjWjIzQnF0aGticW0wbVMwdGh4eVFtaVVUaHlrdndDSjVXR1JQUnBCOXE4WERQWDVsVFRXTkRJUXhiN3pzVldHY3VLVTFHQzkzYy80cGVUb0tIYTNHdXlSajdhbGg3NzlXd2x1T3ZmK2JBM1Z3N3BLdk5EN284dEtmcG04NU4weDZUS1RFZndVTjRlKzZSei94SUhTYkQyUHVlZU95VEFVQ3owMXowQStoRlZsWHJId2h1YjdMRDRBWVR0YzF2bWNBeUVZNThCQTloZVdEYmkvdmY5UUNnMnBzQmxjcy9lMXVkM2ZIN1UzUUhBVVI1VmV0SVdXZ2tWSlJ6bFVCUm1RY08zekVNYVQ4VGVGSDRkNSs2aHgyKzgyZEMra3hlcmFrNGllQTF0djVkZDk5eXl5MFg3MWxuUVVNNU9WTU9oc0doVFFhVWJybTRIa0RvbkgzSHFsS3IvclJyWTRlYmFrUDIwbmo5SW1maGZ2eTc3WjY2WjZhclR2MUZVYmNrTmtvcXFYbkczbEpyMHBhK0RwRzJnanYxdnVtdi80K2FxNEozKzl0TTFQaFVuRUJ3M0xwNUtjL2pxbzdmanA2dlNkYU0zUXlPSlVxZUlUWWo2OTI2VGlESnM0eGRubkNvbnNPRGNZRnIyQUxiMEZGWC9rbXlOWjBMOVFBVkp4RDhvYy9jNy9EMXRpZCthM29Mb0s0TVgzblpmNDhENVhxcDcrdVJyV0xzb1VRdXdtWm14Q21lUW1kc0lKenB5TU1lQmJVMThwMFdWZ0FxMHpTZXZReFNjVExCWjhIWGplTVBHUlNOUGUzejVRdmc2dUJISDNNdCtySUNuYjN3MHZyNnVoT0tzOFAxZGU4WUJndUlrdzdmNnlDdnNvQnRISzZiSnQ4TmcxU0FFN0lxeEZPNjhuWEEwdHNlZjdSbWN4WitTSkZaRzRFcVRpWTRMbXY5eTJKbVJySjFyQjFvL1pZYjdNWVhlRjMxeTF4bGExcnpKRVdjdGdTZy9LdVA0OUhORnoydjBRN3cxR2RNbk00Z0ptSUI3Si94eWZnM2pEMjV4eUh0UHhpc0t5Z0FSY3FxRUJVbkVwenJzSitTbm1Id0ZWOW8yV015NnRzR2Y1Y05FblJqT1AyQ2VsODFpTE1Cb1dxWEdkZ05WeURPcmwrY3NYNHBjWTdKMEIvUGVrY2NodnB4SmFzSlVYRWl3UWZnS0JtVnFVRU5kS040bVR3UXR4aXM1T3pNZElBUWFVL0ZVRk1mYzFqeE82ZDVkbWpDaGZlQ2xzMktiaFRWQmdsN3V6VDJVdG5PWEFwVGNTTEJNWS9OTDN6cFJPbHA4UjhtVmw5aTRMUE04eG15T25zbTBEbkJaYXdwS0JzK3BZeFp5RW1mMGkrMk1BcDZjT3VjdmduWVppVHF4UkM5RVlzM0hVQzRpcE1JRGlNT0NzclNzVEFSOUp3K3ljWTAxbHcyelovcm5GU2g5L1dGWjV1WXJTM2RpcUVETEFUQnVsL0VJYUsyMHE0d2V2MEdNOXVhU01QK3p1RXFUaUo0ZzVsdzAzNnVrdGZNYXJNSVRtRFA2NDN3M3ZBazYyRGxRbEljVFkzc3ZHM2FNK3k4eHdQUGpRMk5HK1R4eDlkTmJTbHQwMWxqZFF5dnRKWVZvZUlFZ3ZPWTdKcXFuZU11NlpOc3JNUVNtSmU3WmpuQy9vZW5Dd1FyQm5LREZKR2QxMWFERlZNeml5OXpleW90UzE5cFYxU0xydXNHclhWUFg0eFFjUUxCZWJpd2xwNm95UjVOZGNxREkyb2tiVU0rd2VNWTV5dzhVZWZVOG8xalJUdS9HeC90ZVJnbXlqWDhubVpXbVNXV3RhMFlDV0t0allrbytqcEhxVGlCNEh4YnN1VkRlcHdWRlcydGJwRk5rMlZoSFp6d2pzY3ZTeHN5STEzeVdocktJTm4xUFNXZ21XY2ZzV3YvZGMvcmxERUg2dWUxcmdObDBjT3lRelpObGpYd0diVFdQWFV4VXNYeGd2TmR4REExVVpNZDVwVVpqeE5SOXIwRVBZNGMrNlJvSk90elRuN1haT0V3bnk2L2JmY0NxckUzTVFjSXQvVnpuclk2Ylo5bWh6dUVUSS91b1VoOTVteTBpdU1GaHhIbmZEd3pveTRrdU12WUpkcllWaTJLdEdUUHVzN3BOWW1ocFE2U1hiOUsyWm9YZzJwQVY3QllqN0xEUWtPTmNKcktxZ2RIc2lVNU5aS0pWbkc4NE5qSCtVNGlqRENXR0VsTG1kRFluOUJ0QlliWHNNSTRYMk5NRktTaDRMRVJNSk5ucWJHMjMzUkE1d3pvQ2dHdVpubHo2aEFBNElMZ0RMLzdsQkZTbnowYnJlSjR3VHRxTUppZGtjdzl1NHBWSUg1eHg4ZEdlRVlwWmFhaGRlVDNza2pDQnlLbXU2SkJXTllLc2QxNVlWNExyb3Z5UWFlbzREdlZ2Z0svcUZyRlFGMXBhOHE2cTNUTVZvaFJjYnpnTmI5M3pjWko1bDVrdmdNSDRwZnpCTlhvUFR1a1pDckxodzFKR01Bb3dEVlpXT0V1Q1hwdDl6NjdNdklmeHdtWTVMOU4zVVJYMVFDbnAyelpsZzgvbnh4MUlzZ1lGY2NLenJWM0xSR2xhUUhobkplaWJxbk9xRUxiek9YSEVCdXA3MkNzQjdnbXkycklaMmh3QW9hSEtOYlgwVU9QWHJPd3RLMmZVbzZVSWNDdWlSNERXTVluVFN0R3hYR0NZOFRVY0NLTEVpYnFzNkE2YzB4QzQwcnk4NmM0cDBEWFpGazllU3JTZ1pMY1pHTGZ2NnE2WDh2cUtFTUEzZ3dmZkd2eXg2azRUbkRzTXBWd1FrTi9ETVV6eXF6Q0pCTWVZNXEwc2R2a3lYbWlOTkExOFVEWlhZQzVqa1F5c1NiRE42aVBzdGFVSVdqcHJzdXdJbUpWSENjNE5uNGl2alBNV2xKMHE0cGpnRDVmVDlwekVyaHR4d2gyZ1FQMkUraHhXdUp3Rm9NbzA0VkppTHA5K2RxK1EvRklKMmxYOXRRaUJUU1NqMVZ4bk9CWUo1Vnd3Z2hYcVpDTXhORFl2Y0RQZEJkbWx6Y29qaWRPQzluTGJxM3lzeXEyYks1OTJSMnVLQ0FaQzNVbVF5V09BVFowaVdBQ0hjV2lTSk9SYkt5SzR3UWY1WDQ4MHhFdXdGYklXRDJiTUtLa0lDVEVPVzJUVFRVRm5abWFsK3lxUXNMM0VibzRuYUVIVktURlVEWld4WEdDZDdRZzNSQmZLZEEwbFFPc1dzaWtUNEV3R1NnbUMwKzdvYTRKNjgrMFhwcHNxWGRvczRxUklGclFqNG1UU1pRVXFoYW40ampCZ1NEUW1TZGxZSEs0dXR5ZWNGd1l4djdrT0JOZzRIZXpTRytGdWlZTEVBbndaQUhCNHgxME4zMVdDWW5oT3FZYjBVSHFmaVRYY1lJRHdiVklCRUdOZi9sQ1dIb3hDRHk2VHJGNkhoN3U2ZkQvcTFjWUtkZEJpanZtTU5lRUoyajhyQmloYk1FWjBTVnNWVmxZc0FENk52UlZnd0ZPdklwakJPY0kxdElxd28wRmJKM3IvMjJtUllaVFI5S0hiMnQxREE4YXVPUFJjYUxzT3FlZnJ5c3hPQUhFM2VDUUZBMW1JVE9OZXZlVng3czYvbGs4WDA4OVJ1SGN4cXM0Um5DT1lDc2NmM0FMTjdTd3RCSGNKYndXeUhhOVZweG4wUm5JRy81UW1ZVWU2S1E1MXprZGhDb0E1eGlFczBuSktmMGJ5dUk2RWhzMEc2YXBYcDZnYnFrZXZMRlRVQ1l1eEtzNFJ2Q3c0NW5xUHo5eS84VkxZWHg4THN4aTJORXdyRTlZUGJZSnBBODh2YlpwUUxzVGNFV3pGSVkrb2g0RFp5ZU5vT3lCMVNEMWRKS2Rvek50eFM3R1NraFpWemRWUURRV0t2ckdRNC9lZG04MDV2aldDQlc3bldNRVg0WFdkZ0xvN0hOdGh0cE1RSWZNVlZqcENKMkJma1JxZ2NOck5uTGpMTFc0akVpdmh2RSt2ZlBZcnBnSU51a09aWUZmQUc2b0hLSEdydUF1allLcVVFbExnM0FWQ3hUUmdvOUNqbWVldlVjd0t2Qk02eGN1WXMvRDNmSUp0QzBDTHVNc2NiL00wNlpIWHMwSnltcXRnUkozaStTR3BFdURYamdHeldZUVhqZ1JYZVdINjJJQ1RjQkVLMXpGQW11MDRCMTExeWM2NFhlZ1hoMlNGck5abk1LU2hRNENhUkZ2MHh0VTB5dzFHRThhUFNKZHRPb0lZTnBzOXhCMHZVNDlSbzYrdWMyc2VXM0lJUUFSVDJCZ0VWTGJGTUJraFpaUFpLSmlCMFUwbFpxeVNGS2lBK1VJZ2JhWXphczJNOUxqR2JyRk1NMFN0SWZrMjloSytYeUJoV3laTExQSWJnZmR2a1NpMkF6ZllGeVFUVHl6N3prazJNeVcwcGFoRUtsaUI1L09nVW9GREJJYnAyMGpKVENqTFduenF5RGlTOWNFRnN5aUhaSG5MMmxvK3lhNk00eGk2WlhnRTZPL0piZzlLbTdPdVhPNjRxc1hGWFhsNlM5UnEvOVdneW0vOERFZFVKYTdSenRONm9DYWRBemdpVFN5SGM4aHdhQ0dFbzJlU2FpQ1NCVTdPQ01GNTBhOXB0QitYcFE2R2M3NlJGLzFOOXBtc0hNajRCQ0ltcEJsSWNxWG5qK0NKZmNkYlBUV1V0UWh0Mk16bHdsNU5SdXBPZ25hMENqSzRsQ0NxSmxGTEcyUTA1dXJOYXBxYmpOZUUrOVo5MEpTekNBVkZ5a2xWVUdraWgxOGtZTHpXYnhGNkZwVzg1SmJyR25HcEVDbEtxeEtMWkxNTllGQ3Raa1JRUHFpaWYrMnlmTkpFU3dGMHVEa1JDUkFjWXA4bk0wMDZGaUtUcjVmSXBTYTNmU0JPaFZkckJYZzErTk1zUmsralpXN0E1ekt5bk9pTXhIUlYxSVZqSUN2VDFsckV4VTc5WkdDKzQ1bjVxUWQ2OFpFcWFUTEJ3b1RZak10Q0tRWWNaMEVIRm9UNVdLaGdZNEI2ZkE3S1pTV2o3T1p5T2ttY2VGUERnYW1PL1lraUpKWjVDZDRJTzNGM29yTjhCaVlYa2J4bFZidUxGZlZKZ1Z2VWhXMGdDOVV4UTdHU01INWNPNVF5b3ZDRVVSNlR0cGowcndhend6QTBIbUNrdTlLUmRrNFMvRTJjNEd3WWlyYlpaZnRSMmFrSVZoS1BNUFBaNVNqOEM0cFIwVjBTZm1MVXJHTG82NUY0UXJxa2I1TldSWCtIMTVMTVNhbG04a0NCbzRRNGs1WnNNQ3BnRUd1WWpzWlp5a1htMWwwTHJIclpMSXIreVk4dXE0RXV0eFh2ZVpxd09wb29ZNm9UL01icFdJWFQ2VE5kQWcvTnZ6NHZOdE5mYWJEclp6R2oyb3pmQmpKczdMMmJXaC9XaXpGMll5K1B6QWlmdGVadzlDOFhNUlVtK2xCQlJzZXFhZFJsUEdOK3F5UkI1UW1GNlZpRjArazREWENqdzNmMkhLN3FmZnphWGhLQ2F1ZUErTjJpVVpvUE42U0VaWnhsdUp0WmlPbE1QSGdpOHo1dGs3TE8zU3hsSE5nYXd5UnBaRllWZzNGYXdLdnQraUttdlMvVVNwMnNTbEdxMU1BUDhxK2JrN2UvYlFvMzNxM3VaQWppUmRlU1AvOEREek8wTVBQdmJsOHZSRzdPSlRrc2hQSmtvY2llUzdHWnNETGxlVElFa0oyM1FzamVBamljYWc3SGtCbTd4Vi9oSHZlQ0NJKzdpZWtFdzRXcFdLblY2VGdQRWFYS3lTSG41VjN2RzNWbUJRV2pENC9nL09JUHNIZUEwdnlqdzA4aXdMZlpUZ3BpaVVCaytvM3htWmlybmRUa1JMQVdGWDdkaDQ3YUJucEt0L080MXNxSnIvY1YrR3pSbTYxMFdsSFlNcisyd1BHRUJVN1NDTUY1MXYveTVTNDkycXA2em1YZi9kZ2l3TFllUjZXaGFVTkgzUk1CZXgybDREc2M4UWZjaXJtNnF4REZ1WW9sZ2lHNU5rWW00R1lsTFBrZUNNZ3UyS3p6R2Y3MEFWc2VmTUNOZmJ0OWRHZTAvWUEreVlBWFRqY1BEbHora3VOdDR1cURMOFJLbmF3UlFyT0Y3NCtwZHFRbnNveHBybmEwWWU5Y3dRSmFmTDVHU2lQV2lYZlhMczExUjY3ZDVzWWRTUkxrcmNVbVJpYndRbzRUSUV0Q1Npa3UrTEMxYnlzZG8vVzVScHdqbWorbXgzOUZIRmlia1QzRSt4OWt6eTRGNkZpaDdkSXdWZkIzQTZSZFY0RzdLN25iTDhiWnI5SklLYVFKVllCN0pVRzF4aDc4bU1WZkg3N2h0WHpucTR4ejFLTXpXQVYzak1zYjljN3lSdDdLNmdXM0QvREZjQnUvTW5PWCtNYjdGZkFwSHpBeDRubzVnODNyWDN2RkRrMWkrRXFkbEZGQ3Q3U2ptZEdjdFZ4UE9mc2pSMGNDYXlsNWlwVmg0Wks0S3F0TWZ1L2d5RmVRNURMbkhtV1ltd0c4ekdWSVBIQXdDZytYNEpuVGRqcmJvOFpUMGhlVTYxN0tuZ1h2MldRQStCRWRNM1A0eUYwcVpaNHFqNklVQlc3a0pHQ3Q4bTZCM2pFdGdLLy9ZcExwYlpwWVoyNklDcW44OXVVQjcwMi9tcERhT3lvejZuTEVOZzhTekUySTZJSGMySjN2VldUaDdwaVJ6anJoY00yclplRkJ0Z1AyVGY5dTRLREhsZlZVMWhpUXQrVkVKQ1J2NkVxZG50RkN0NzBiSjJEWDRVemNOTlpubjBaVzBDSXRpRXFwL09yYjRkZzVYYTYzcmNmTjdvbXFKcG5LY1ptem5xN1ljSERaTCtRVEN3dGVEQWNRdTQ0K0p3VmxPQ0diZG5weDFDSE1aSXRkVVJEMWNhUWY3SkMySnRzUzVNSlU3R0xJMUp3TUNhRFhzdkNOa1dlRSt4amZzL1Z3UjNRWDByRFRucllsdWV2bmM3LzJlQUsrdzZ1MEFFSmRzeXpGR016QXpMQzZjVUs2QUZUMlBTcTYzSmJoa2hOMVhIVnZ2YzgrQ3FBc1VXUTV6allVZTFhRC9BeEVxYzhIclowdVJBVnUwaWlCT2Q3NWd1U1dLWGpYUWZpTVBJdGEvUTlhS3MwNzVNUTA4bklOOG9sK3VvL1B2d0xqaExCRWpjZE81bG5LY1ptV3RDQnlZVHBKNGNmZUdGQmF5NTZhVDJTM0N2LzhpdGZzUXM0OHBUVEdpZTRlOHYyMytsNDltZ29RVE5sZ2xYc29vb1NuT3Zzc2lUNUlFcGJvZ1RQdVNMT0NFVGRsSDVuUFkvb28xQW5UNW1ZWnluR1pzWnFvT1ZqTG0wRk1STGV0Y1drVFRibER0eUg4eXhabTNoRU4vNlFEMlN5Q3FwaUYxT0U0SlUyckdUVGhiUC9zSlMzUk5iWjUzc2ZtWXlacEwwWHRBaVE5TVBFT2krTFpsbjZ1UHlMY2Z5elozZEpLaVRUQ3g5SkFwVTRpeFZEbnI3eVRtZkVJUXovenRYNU1EUmpvaDFFZEYrOEx0ZmRzQjdwNmhVVnUxM0RCSC8ra1NkcU1CbjJuc2NlZnZqaFJ6N2I0SG52ZFRSNHpvYnk0RTg2UmxKQncwUHVoWFRBSk5zVlRZWlp3cVFuU2NiK2doci9yWHZFYVhYVy9NaGJWMndVQ0lMRjdjRklyamcrNUhWdjQ0aUh5WTg4VCtDRHpGWkJWU3d3aEFuZUl4cVRXWGxRQk90alArZzRWSUZvZXIvYVdUUWgxQ2JIRUlaWmlyY1pSS1pHNTNTSHNTR1J6WDdPMTQwRjFFOTlVU0JzcWRaa2VZeFovY2xMc21na1ExWHNJZ3dWL05QU1VFam1kc0dHc3htN3l6Qi9BcnYyRzdZVXFsK3hOOHhTMS91RDMvaEwyMEhyekR3eFdJM2pUTVV4V1RGc0JON0NjeTQwcEZPK1ltL2IrZUZ2WnFJZTBnbEhjdktVVVlCa0ZIeUdYYS8rc1JybUM0em1mMGRoM2h3eDZsQ1NPMWFXT05WWmZZd2xLOWt5Qyt1N2FzZTUzN3Y0YlU3TnN2UlNLZ1EvaU9GYmF6YzEyTWIvTk9tMlJUUmsvMVZVN0tMSktQaUE3MWUreUtaOW5PY3dlWmJxaFlvL0VwZkF2UEpZV1hJSXlrMHVaV29xK1RxWkhKUUFZcjB0V2NaUnphWlZtZkE0VDJKek1vcUszYmFCdDd2WG9DT0wyL1k1Vzlmb29WYmwzMjQ5dlB2SkhUL2RCV1ZsZnE3MkxoY0U2K1psRDNvYUxIbllBM0p0U2oyZzNXUlZoMjdSS3IrSWl6WW5QVTFQZEJBMEkxaUFqKzY3clZsL3dsVHM0c3NvZU5kK25IQlZHY3lzSExyOWxyR3FJaDFwQ3pSYU1YODgzTmlSTXRkb25xSUt3eEhZTlVBWlpjbWpHcFJyZUNjUFFjMUc2d2JlNDV0ODU4MWNvNm5VcU4zQ1dqaFJSdTByQ3hlaEtuYVJaUlFjbmhNSW5EZXdQanAwY1UzMFUrMnhnOGZ2aDBIZ0lsOVBQVEp6Yk11NjZ5OEFNdGNnNnpML2t2d0dLazJ5cExPaGxxdUdRMkFWdTFZNlIxYjBXU2lKSGY0Mlg1QS9TcDJ6aFlpT2Q2dnhuZFRjZlJxR0ZNVlFGVHM0TWdwdWUwNCtRSnpKM2pBRlA2R2dEN0FQb20ybGh0dGNyZzBsN1h2N1NUNEhlTHJqOGNjYTdMMEVhZ29zRWV3QjJjV3dLQ3NBZHVJcU9rNGRXd0hzOEoyUC9RWTc3QlBVZGtUSGJXWURWOGZmSWczcHNxRXFkdEZrRk56eG5IaURqOStQMU5PeEZBeTl4TjYwRzNEZXdQZzFscElXdlZ0Syt1eklBVFV1OHl3cExQZ0xBM3RkODlkUHA2YnJPY0tyanMzWS85OU9xVGtSSFk0YUwrTTE5bXUwSlZVK1ZNVXVsb3lDd3hRNWdsVytlMW9PT3J0SXhTUUhidGxYYThpTXNPN3U4UnFTS3VSbWY2VXVWSFkwSkNCNHlzZzBTeFI3UUw3ampXSkFxK2txT2xBdkNRMHcxUUYxbktDSDc1NnMwWlhzSElTcDJNV1lVWERIS2NGbThMakg3S3ZadVpNOUszWDNEeURaajQzNFRwRW9tMHZ1dzhZMytySTN6eGhuU2NIdUwxUk14djkrOUhyTmdyZlVXdGFmdWZQbVNSV3E1cXg4OXI1SmZvcEJCVWxXQ2xHeDB6bXI0UFlDWXlIb2dyMjBMaVJqSkJMcW5IZiswQ01mQnhGOVpwU3R3RTkrdHM3dStJUm9jMytOczZUaDE0c0wyUTRwZERTSnl3MjZuTS85M0szczhPMTlyYk85d1BETndDVnJUcjVUcE1Fa0xBYXEyT21iVlhEM1ZmSUZ2czQwaGduNWlBSnJlUStPRExEeTZpaVg0K05ONHl4RnNZdTJmYk1YbERIVXVNL1dsYUozd2ZtZURkSmhmV3NtZXdpc285WExXUVYzUFdlbGZtRE5Hcm5lYnI0aFdlUDNSbXV5NUdhNjRvWlhiNUJsNHl4SnpNR1oyaVFQYVFlampLeGRETHRBa2IzY2lNNTZHdXByYnNscTA1bXNnb3UvS3ZveWUzLzlzZ21taU8vQnJhbi81bitHbmwwRkVqVE9VaUFWV2JuaXY3cVRiZFBKTkx5bE9KaUErRU9uMWNiUjUrSmdnekVrcWMwcytGTTNYUFJmWHYveEpJVGlZTEJSL25ZSmd3QlBQbk1oS3FzMEJCU1Z5cTlwbGhUay9zSWcxbFg0KzB4V3N4KzNUNnZVM0wzU3lvZS9lemdacllqZXh5OTRDRE9LUDJxU2Q1WWsvTGJ5Q0p1c3ppM1Q5Sm4xdEZsWmt1OW9UNXRTSlA3akZ6eUVIWDRjN3B6cEFhQ0RnZzl1M2gvaitHQ09zV0l4MWxlYVo2Wjl6QkZVb0FSNUNCN0lDQTVYdkJmQThFcEQwQU53SGVFT2d6RWNjMjE3b3RlSHNqRzdRSUsrYkJnTTlNcEQ4R0MydWMzSVdiU053cDRQYmtHNWtQUTFIMi9GVWk3RDF6R3lSWjFJVS9rSUhzZ3lmeWxFcmlQY1ppNzV3ZHJTZWZuYmpydUdIQ2NkSStuNVl6NFNDaEF0SDhFREdIRytVaWxQb2Nhd21SMC8yRktRSWZuQmpxT213bTkwY2tqYkpxNXBKdUU3TDhFRGVlNjY1OTY4c1FPYkNRTDZyNzJnMmp6cUtuK1FCMVY4RU9KMzhxRXJxZVlsdUdTQVp1WisrZGRsRVh2dDJGTmZDVnhtU2cxQUEvWGplcCtoMVBacDBRQy9POERWWjVsS0RTVFdBSCswOEh4aTZCS3cxSUQ5eDNYeTMxT1dBMUVvRGVCNFpzSUhoZ29sYnNtc0FRMDB5SGNvRGFBclVaeCtEZkRQTzJ5ZWZqRkxDUTFxQUg4bVJONGlHRVJib2pyRkd1Z0ZQTmw1aXNVdFJadGNBM2dRK29ROVhUVzVUQ1dHNldvQTMyWC93SFFwbE5oUG13YWFUSG1qOXJTSlY4cGpYZ000Qkw3ZFBOWVM0Mm5Xd0RaNU0vczB5MW5LWmt3RHVKOTAzN2N3aHJKRWRNbzFjRlg1QnM4cEY3WVV6NFFHOElHOFhSTjRTaHczandhZUtSK2N1WGtHMjVDa05mSGhJa1A0U2pTblhnT3pUSHk0Nk5TTFdncG9TQU5kZVd2d0R3SHZxaGdpVXFJNVRScFk4RzROZ3Q1dk9rMmlscklZMHNCWTNocFV5M2RWRE9uMGxLTlo4bTRObHVTNzI2ZGM1bEs4eVRRdzhneGxZWHFmYVpxTXg3TDNpZExBSFBsRTg1bGoveURRaVZKRnlVeENEVndsWDNRWnlQZjlFM1l1d1c1R0RWUWE1SEt5L2NiTnFJSlM1cFFhT0hQNDczOXVwNjk5N2FGUDBUODhreEpQQ1g3emFBQWZneUJwN2VZUnZKUTBxd2FjdjM0dXJZYjRxYXdZeTM2blhRTWRhUzUyWnZPMHkxdktON0VHOEUxcEpRMG54bGdpT08wYTROL3RwR252dEF0Y3lqZXhCbWFvd1NBL01jSVNRUTRhK0gvTW5HdXo4WmlXT2dBQUFBQkpSVTVFcmtKZ2dnPT0iCn0K"/>
    </extobj>
  </extobjs>
</s:customData>
</file>

<file path=customXml/itemProps1.xml><?xml version="1.0" encoding="utf-8"?>
<ds:datastoreItem xmlns:ds="http://schemas.openxmlformats.org/officeDocument/2006/customXml" ds:itemID="{40225495-EC77-418F-882D-8D54027AA670}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19430</TotalTime>
  <Words>1564</Words>
  <Application>Microsoft Office PowerPoint</Application>
  <PresentationFormat>宽屏</PresentationFormat>
  <Paragraphs>143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ui-sans-serif</vt:lpstr>
      <vt:lpstr>华文楷体</vt:lpstr>
      <vt:lpstr>微软雅黑</vt:lpstr>
      <vt:lpstr>Arial</vt:lpstr>
      <vt:lpstr>Calibri</vt:lpstr>
      <vt:lpstr>Times New Roman</vt:lpstr>
      <vt:lpstr>Office Theme</vt:lpstr>
      <vt:lpstr>自定义设计方案</vt:lpstr>
      <vt:lpstr>组会汇报</vt:lpstr>
      <vt:lpstr>Overview</vt:lpstr>
      <vt:lpstr>PowerPoint 演示文稿</vt:lpstr>
      <vt:lpstr>DTAC-Net（审稿）</vt:lpstr>
      <vt:lpstr>DTAC-Net（审稿）</vt:lpstr>
      <vt:lpstr>DTAC-Net（审稿）</vt:lpstr>
      <vt:lpstr>BFD</vt:lpstr>
      <vt:lpstr>BFD</vt:lpstr>
      <vt:lpstr>PHENet复现</vt:lpstr>
      <vt:lpstr>A2Net+LWGANet（baseline记录）</vt:lpstr>
      <vt:lpstr>Future Work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BING: Binarized Normed Gradients for Objectness Estimation at 300fps</dc:title>
  <dc:creator>MingMing Cheng</dc:creator>
  <cp:lastModifiedBy>禹棋 王</cp:lastModifiedBy>
  <cp:revision>931</cp:revision>
  <dcterms:created xsi:type="dcterms:W3CDTF">2019-08-31T02:02:00Z</dcterms:created>
  <dcterms:modified xsi:type="dcterms:W3CDTF">2026-09-03T08:52:42Z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EADER_334E55B0-647D-440b-865C-3EC943EB4CBC">
    <vt:lpwstr>XGRvY3VtZW50Y2xhc3N7YXJ0aWNsZX0KXHVzZXBhY2thZ2VbdXNlbmFtZXNde2NvbG9yfQpcdXNlcGFja2FnZXthbXNtYXRoLGFtc3N5bWJ9Clx1c2VwYWNrYWdlW3V0Zjhde2lucHV0ZW5jfQpccGFnZXN0eWxle2VtcHR5fQpcYmVnaW57ZG9jdW1lbnR9Cg==</vt:lpwstr>
  </property>
  <property fmtid="{D5CDD505-2E9C-101B-9397-08002B2CF9AE}" pid="3" name="FOOTER_334E55B0-647D-440b-865C-3EC943EB4CBC">
    <vt:lpwstr>XGVuZHtkb2N1bWVudH0K</vt:lpwstr>
  </property>
  <property fmtid="{D5CDD505-2E9C-101B-9397-08002B2CF9AE}" pid="4" name="KSOProductBuildVer">
    <vt:lpwstr>2052-11.3.0.9236</vt:lpwstr>
  </property>
</Properties>
</file>