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26"/>
  </p:notesMasterIdLst>
  <p:handoutMasterIdLst>
    <p:handoutMasterId r:id="rId27"/>
  </p:handoutMasterIdLst>
  <p:sldIdLst>
    <p:sldId id="439" r:id="rId4"/>
    <p:sldId id="1967" r:id="rId5"/>
    <p:sldId id="1969" r:id="rId6"/>
    <p:sldId id="1970" r:id="rId7"/>
    <p:sldId id="1963" r:id="rId8"/>
    <p:sldId id="1961" r:id="rId9"/>
    <p:sldId id="1962" r:id="rId10"/>
    <p:sldId id="1958" r:id="rId11"/>
    <p:sldId id="1960" r:id="rId12"/>
    <p:sldId id="1964" r:id="rId13"/>
    <p:sldId id="1959" r:id="rId14"/>
    <p:sldId id="1966" r:id="rId15"/>
    <p:sldId id="1968" r:id="rId16"/>
    <p:sldId id="1954" r:id="rId17"/>
    <p:sldId id="1926" r:id="rId18"/>
    <p:sldId id="1925" r:id="rId19"/>
    <p:sldId id="1936" r:id="rId20"/>
    <p:sldId id="1952" r:id="rId21"/>
    <p:sldId id="1953" r:id="rId22"/>
    <p:sldId id="1955" r:id="rId23"/>
    <p:sldId id="1956" r:id="rId24"/>
    <p:sldId id="193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7412" userDrawn="1">
          <p15:clr>
            <a:srgbClr val="A4A3A4"/>
          </p15:clr>
        </p15:guide>
        <p15:guide id="3" pos="2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D7F"/>
    <a:srgbClr val="3483CA"/>
    <a:srgbClr val="5597D3"/>
    <a:srgbClr val="2C4D88"/>
    <a:srgbClr val="76ABDC"/>
    <a:srgbClr val="2F5597"/>
    <a:srgbClr val="984378"/>
    <a:srgbClr val="FFFFFF"/>
    <a:srgbClr val="54C3F4"/>
    <a:srgbClr val="223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6" autoAdjust="0"/>
    <p:restoredTop sz="95192" autoAdjust="0"/>
  </p:normalViewPr>
  <p:slideViewPr>
    <p:cSldViewPr>
      <p:cViewPr varScale="1">
        <p:scale>
          <a:sx n="106" d="100"/>
          <a:sy n="106" d="100"/>
        </p:scale>
        <p:origin x="1080" y="72"/>
      </p:cViewPr>
      <p:guideLst>
        <p:guide orient="horz" pos="488"/>
        <p:guide pos="7412"/>
        <p:guide pos="240"/>
      </p:guideLst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9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70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73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5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65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12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40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60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79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94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31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6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12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1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91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61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1852551"/>
          </a:xfrm>
          <a:solidFill>
            <a:srgbClr val="005D7F"/>
          </a:solidFill>
        </p:spPr>
        <p:txBody>
          <a:bodyPr anchor="ctr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sz="4000" b="1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 algn="just">
              <a:lnSpc>
                <a:spcPct val="120000"/>
              </a:lnSpc>
              <a:defRPr sz="3200" b="1" i="0" baseline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just">
              <a:lnSpc>
                <a:spcPct val="120000"/>
              </a:lnSpc>
              <a:defRPr sz="3000" b="0" i="0" baseline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2pPr>
            <a:lvl3pPr algn="just">
              <a:lnSpc>
                <a:spcPct val="120000"/>
              </a:lnSpc>
              <a:defRPr sz="2800" b="0" i="0" baseline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0"/>
            <a:ext cx="10661650" cy="0"/>
          </a:xfrm>
          <a:prstGeom prst="line">
            <a:avLst/>
          </a:prstGeom>
          <a:noFill/>
          <a:ln w="34925">
            <a:solidFill>
              <a:srgbClr val="005D7F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36C418-9240-1A4C-6765-7F8140BD68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766" y="47207"/>
            <a:ext cx="1480233" cy="621923"/>
          </a:xfrm>
          <a:prstGeom prst="rect">
            <a:avLst/>
          </a:prstGeom>
        </p:spPr>
      </p:pic>
      <p:sp>
        <p:nvSpPr>
          <p:cNvPr id="4" name="Line 1">
            <a:extLst>
              <a:ext uri="{FF2B5EF4-FFF2-40B4-BE49-F238E27FC236}">
                <a16:creationId xmlns:a16="http://schemas.microsoft.com/office/drawing/2014/main" id="{57EFDD6C-8898-6231-26FC-46546BEEF7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1650" y="669130"/>
            <a:ext cx="1530350" cy="0"/>
          </a:xfrm>
          <a:prstGeom prst="line">
            <a:avLst/>
          </a:prstGeom>
          <a:noFill/>
          <a:ln w="34925">
            <a:solidFill>
              <a:schemeClr val="accent4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3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2D3A4F20-17E8-F3F2-1E60-388BE38BA355}"/>
              </a:ext>
            </a:extLst>
          </p:cNvPr>
          <p:cNvSpPr>
            <a:spLocks noGrp="1"/>
          </p:cNvSpPr>
          <p:nvPr userDrawn="1"/>
        </p:nvSpPr>
        <p:spPr>
          <a:xfrm>
            <a:off x="-8255" y="2295843"/>
            <a:ext cx="12200255" cy="214280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谢谢！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897A91-5FD9-8459-6268-DCCAF1556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439" y="4880633"/>
            <a:ext cx="3681858" cy="15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0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8FE00-DBCC-C9A4-1177-D96E9618D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RSML</a:t>
            </a:r>
            <a:r>
              <a:rPr lang="zh-CN" altLang="en-US" dirty="0"/>
              <a:t>小组基于</a:t>
            </a:r>
            <a:r>
              <a:rPr lang="en-US" altLang="zh-CN" dirty="0"/>
              <a:t>NKU</a:t>
            </a:r>
            <a:r>
              <a:rPr lang="zh-CN" altLang="en-US" dirty="0"/>
              <a:t>模板改进</a:t>
            </a:r>
          </a:p>
        </p:txBody>
      </p:sp>
    </p:spTree>
    <p:extLst>
      <p:ext uri="{BB962C8B-B14F-4D97-AF65-F5344CB8AC3E}">
        <p14:creationId xmlns:p14="http://schemas.microsoft.com/office/powerpoint/2010/main" val="285289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064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rgbClr val="005D7F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人工智能与计算机学院（软件学院）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rgbClr val="005D7F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江南大学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Jiangnan University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rgbClr val="2C4D88"/>
          </a:solidFill>
        </p:spPr>
        <p:txBody>
          <a:bodyPr wrap="square" rtlCol="0">
            <a:spAutoFit/>
          </a:bodyPr>
          <a:lstStyle/>
          <a:p>
            <a:pPr algn="ctr" font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pPr algn="ctr" font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1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5479219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uthor/115342803349890" TargetMode="External"/><Relationship Id="rId5" Type="http://schemas.openxmlformats.org/officeDocument/2006/relationships/hyperlink" Target="https://ieeexplore.ieee.org/author/37085369355" TargetMode="External"/><Relationship Id="rId4" Type="http://schemas.openxmlformats.org/officeDocument/2006/relationships/hyperlink" Target="https://ieeexplore.ieee.org/author/37351131100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组会汇报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1794510" y="3879000"/>
            <a:ext cx="8602980" cy="910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zh-CN" alt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王禹棋</a:t>
            </a: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98250-0BC2-1A39-9C34-76116551D556}"/>
              </a:ext>
            </a:extLst>
          </p:cNvPr>
          <p:cNvSpPr txBox="1"/>
          <p:nvPr/>
        </p:nvSpPr>
        <p:spPr>
          <a:xfrm>
            <a:off x="4016374" y="5589002"/>
            <a:ext cx="415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E2B6BFC-3EEF-4B6A-A420-397B5415EFE5}" type="datetime2">
              <a:rPr lang="zh-CN" altLang="en-US" sz="240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2026年8月27日</a:t>
            </a:fld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一、</a:t>
            </a:r>
            <a:r>
              <a:rPr lang="en-US" altLang="zh-CN" dirty="0">
                <a:solidFill>
                  <a:srgbClr val="C00000"/>
                </a:solidFill>
              </a:rPr>
              <a:t>Academic Papers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Burden-Free Distillation From Foundation Model for Efficient Remote Sensing Change Detection. </a:t>
            </a:r>
            <a:r>
              <a:rPr lang="en-US" altLang="zh-CN" b="0" dirty="0"/>
              <a:t>TGRS</a:t>
            </a:r>
            <a:r>
              <a:rPr lang="fr-FR" altLang="zh-CN" b="0" dirty="0"/>
              <a:t>, 2025.</a:t>
            </a:r>
            <a:endParaRPr lang="en-US" altLang="zh-CN" b="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 err="1"/>
              <a:t>GoodSAM</a:t>
            </a:r>
            <a:r>
              <a:rPr lang="en-US" altLang="zh-CN" b="0" dirty="0"/>
              <a:t>: Bridging Domain and Capacity Gaps via Segment Anything Model for Distortion-aware Panoramic Semantic Segmentation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Masking meets Supervision: A Strong Learning Alliance</a:t>
            </a:r>
            <a:endParaRPr lang="zh-CN" altLang="en-US" b="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二、</a:t>
            </a:r>
            <a:r>
              <a:rPr lang="en-US" altLang="zh-CN" dirty="0">
                <a:solidFill>
                  <a:srgbClr val="C00000"/>
                </a:solidFill>
              </a:rPr>
              <a:t>Our Work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三、</a:t>
            </a:r>
            <a:r>
              <a:rPr lang="en-US" altLang="zh-CN" dirty="0">
                <a:solidFill>
                  <a:srgbClr val="C00000"/>
                </a:solidFill>
              </a:rPr>
              <a:t>Future Work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6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-154" y="1171806"/>
            <a:ext cx="11448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任务：</a:t>
            </a:r>
            <a:r>
              <a:rPr lang="en-US" altLang="zh-CN" dirty="0"/>
              <a:t>RS_BCD</a:t>
            </a:r>
            <a:br>
              <a:rPr lang="en-US" altLang="zh-CN" dirty="0"/>
            </a:br>
            <a:r>
              <a:rPr lang="en-US" altLang="zh-CN" dirty="0"/>
              <a:t>Motivation:</a:t>
            </a:r>
            <a:r>
              <a:rPr lang="zh-CN" altLang="en-US" dirty="0"/>
              <a:t>能不能训练时借用大模型知识，但推理时完全不要大模型？</a:t>
            </a:r>
            <a:endParaRPr lang="en-US" altLang="zh-CN" dirty="0"/>
          </a:p>
          <a:p>
            <a:r>
              <a:rPr lang="zh-CN" altLang="en-US" dirty="0"/>
              <a:t>创新点：</a:t>
            </a:r>
            <a:r>
              <a:rPr lang="fr-FR" altLang="zh-CN" b="1" dirty="0"/>
              <a:t>BFD</a:t>
            </a:r>
            <a:r>
              <a:rPr lang="zh-CN" altLang="fr-FR" dirty="0"/>
              <a:t>：</a:t>
            </a:r>
            <a:r>
              <a:rPr lang="fr-FR" altLang="zh-CN" dirty="0"/>
              <a:t>Foundation Model → DFM </a:t>
            </a:r>
            <a:r>
              <a:rPr lang="zh-CN" altLang="en-US" dirty="0"/>
              <a:t>双时相特征匹配 </a:t>
            </a:r>
            <a:r>
              <a:rPr lang="en-US" altLang="zh-CN" dirty="0"/>
              <a:t>+ </a:t>
            </a:r>
            <a:r>
              <a:rPr lang="fr-FR" altLang="zh-CN" dirty="0"/>
              <a:t>PCD Patch </a:t>
            </a:r>
            <a:r>
              <a:rPr lang="zh-CN" altLang="en-US" dirty="0"/>
              <a:t>对比蒸馏 → </a:t>
            </a:r>
            <a:r>
              <a:rPr lang="fr-FR" altLang="zh-CN" dirty="0"/>
              <a:t>CD Student</a:t>
            </a:r>
            <a:r>
              <a:rPr lang="zh-CN" altLang="fr-FR" dirty="0"/>
              <a:t>。</a:t>
            </a:r>
            <a:r>
              <a:rPr lang="zh-CN" altLang="en-US" dirty="0"/>
              <a:t>教师只训练期出现。</a:t>
            </a:r>
            <a:endParaRPr lang="en-US" altLang="zh-CN" dirty="0"/>
          </a:p>
          <a:p>
            <a:r>
              <a:rPr lang="zh-CN" altLang="en-US" dirty="0"/>
              <a:t>教师：</a:t>
            </a:r>
            <a:r>
              <a:rPr lang="fr-FR" altLang="zh-CN" dirty="0"/>
              <a:t>CLIP ViT-B/16 </a:t>
            </a:r>
            <a:r>
              <a:rPr lang="zh-CN" altLang="en-US" dirty="0"/>
              <a:t>；学生：</a:t>
            </a:r>
            <a:r>
              <a:rPr lang="fr-FR" altLang="zh-CN" b="1" dirty="0"/>
              <a:t>BIT</a:t>
            </a:r>
            <a:r>
              <a:rPr lang="zh-CN" altLang="fr-FR" b="1" dirty="0"/>
              <a:t>（</a:t>
            </a:r>
            <a:r>
              <a:rPr lang="fr-FR" altLang="zh-CN" b="1" dirty="0"/>
              <a:t>BiT</a:t>
            </a:r>
            <a:r>
              <a:rPr lang="zh-CN" altLang="fr-FR" b="1" dirty="0"/>
              <a:t>）</a:t>
            </a:r>
            <a:r>
              <a:rPr lang="fr-FR" altLang="zh-CN" dirty="0"/>
              <a:t> </a:t>
            </a:r>
            <a:r>
              <a:rPr lang="zh-CN" altLang="en-US" dirty="0"/>
              <a:t>和 </a:t>
            </a:r>
            <a:r>
              <a:rPr lang="fr-FR" altLang="zh-CN" b="1" dirty="0"/>
              <a:t>ChangeFormer</a:t>
            </a:r>
            <a:r>
              <a:rPr lang="zh-CN" altLang="fr-FR" b="1" dirty="0"/>
              <a:t>（</a:t>
            </a:r>
            <a:r>
              <a:rPr lang="zh-CN" altLang="en-US" b="1" dirty="0"/>
              <a:t>论文缩写 </a:t>
            </a:r>
            <a:r>
              <a:rPr lang="fr-FR" altLang="zh-CN" b="1" dirty="0"/>
              <a:t>CF</a:t>
            </a:r>
            <a:r>
              <a:rPr lang="zh-CN" altLang="fr-FR" b="1" dirty="0"/>
              <a:t>）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A5935C-42B4-2E32-0D98-0DBA4ED4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4" y="2372135"/>
            <a:ext cx="11917792" cy="37348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DC2E2E-63C3-2D94-66B4-2FCBD7436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000" y="15648"/>
            <a:ext cx="3420000" cy="17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1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2482" y="774000"/>
            <a:ext cx="1261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指标：</a:t>
            </a:r>
            <a:r>
              <a:rPr lang="fr-FR" altLang="zh-CN" dirty="0"/>
              <a:t>LEVIR/WHU/CLCD </a:t>
            </a:r>
            <a:r>
              <a:rPr lang="zh-CN" altLang="en-US" dirty="0"/>
              <a:t>报的是 </a:t>
            </a:r>
            <a:r>
              <a:rPr lang="fr-FR" altLang="zh-CN" b="1" dirty="0"/>
              <a:t>P</a:t>
            </a:r>
            <a:r>
              <a:rPr lang="zh-CN" altLang="fr-FR" b="1" dirty="0"/>
              <a:t>、</a:t>
            </a:r>
            <a:r>
              <a:rPr lang="fr-FR" altLang="zh-CN" b="1" dirty="0"/>
              <a:t>R</a:t>
            </a:r>
            <a:r>
              <a:rPr lang="zh-CN" altLang="fr-FR" b="1" dirty="0"/>
              <a:t>、</a:t>
            </a:r>
            <a:r>
              <a:rPr lang="fr-FR" altLang="zh-CN" b="1" dirty="0"/>
              <a:t>mF1</a:t>
            </a:r>
            <a:r>
              <a:rPr lang="zh-CN" altLang="fr-FR" b="1" dirty="0"/>
              <a:t>、</a:t>
            </a:r>
            <a:r>
              <a:rPr lang="fr-FR" altLang="zh-CN" b="1" dirty="0"/>
              <a:t>mIoU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8BA40-30E6-C1A0-BC3E-5B793429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332"/>
            <a:ext cx="8945797" cy="34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00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SAM2</a:t>
            </a:r>
            <a:r>
              <a:rPr lang="en-US" altLang="zh-CN" dirty="0"/>
              <a:t>+AMG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66000" y="6264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SAM 2 is a segmentation model that enables fast, precise selection of any object in any video or image.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F7C1C-E50B-330B-385E-3AEEB6DD6804}"/>
              </a:ext>
            </a:extLst>
          </p:cNvPr>
          <p:cNvSpPr txBox="1"/>
          <p:nvPr/>
        </p:nvSpPr>
        <p:spPr>
          <a:xfrm>
            <a:off x="1572022" y="1029995"/>
            <a:ext cx="7891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我用了 </a:t>
            </a:r>
            <a:r>
              <a:rPr lang="en-US" altLang="zh-CN" dirty="0"/>
              <a:t>SAM2+AMG </a:t>
            </a:r>
            <a:r>
              <a:rPr lang="zh-CN" altLang="en-US" dirty="0"/>
              <a:t>对 </a:t>
            </a:r>
            <a:r>
              <a:rPr lang="en-US" altLang="zh-CN" dirty="0"/>
              <a:t>T1/T2 </a:t>
            </a:r>
            <a:r>
              <a:rPr lang="zh-CN" altLang="en-US" dirty="0"/>
              <a:t>分别做单时相自动实例分割，提取结构先验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99CF70-5128-D798-822D-2250DBD7D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60" y="1695351"/>
            <a:ext cx="7977926" cy="202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2E86F63-C1EF-263B-8D29-66BCFC56B0C3}"/>
              </a:ext>
            </a:extLst>
          </p:cNvPr>
          <p:cNvSpPr txBox="1"/>
          <p:nvPr/>
        </p:nvSpPr>
        <p:spPr>
          <a:xfrm>
            <a:off x="1555668" y="4562484"/>
            <a:ext cx="6323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altLang="zh-CN" dirty="0"/>
              <a:t>SAM2 provides object structure, not change prediction.</a:t>
            </a:r>
            <a:br>
              <a:rPr lang="en-US" altLang="zh-CN" dirty="0"/>
            </a:br>
            <a:r>
              <a:rPr lang="en-US" altLang="zh-CN" dirty="0"/>
              <a:t>AMG: grid point prompts → candidate masks → filtering</a:t>
            </a:r>
            <a:br>
              <a:rPr lang="en-US" altLang="zh-CN" dirty="0"/>
            </a:br>
            <a:r>
              <a:rPr lang="en-US" altLang="zh-CN" dirty="0"/>
              <a:t>T1 / T2 are processed independently.</a:t>
            </a:r>
            <a:br>
              <a:rPr lang="en-US" altLang="zh-CN" dirty="0"/>
            </a:br>
            <a:r>
              <a:rPr lang="en-US" altLang="zh-CN" dirty="0"/>
              <a:t>Offline prior: instance / boundary / quality.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8FA27A5-7F60-630B-756A-09555AB0DCF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826000" y="3720351"/>
            <a:ext cx="405000" cy="236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5F1F5B5-F871-18C3-77FC-F1A5B0882202}"/>
              </a:ext>
            </a:extLst>
          </p:cNvPr>
          <p:cNvSpPr txBox="1"/>
          <p:nvPr/>
        </p:nvSpPr>
        <p:spPr>
          <a:xfrm>
            <a:off x="6231000" y="377208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AMG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178CEF-900F-C55B-5342-7859A8A776C2}"/>
              </a:ext>
            </a:extLst>
          </p:cNvPr>
          <p:cNvSpPr/>
          <p:nvPr/>
        </p:nvSpPr>
        <p:spPr>
          <a:xfrm>
            <a:off x="3171000" y="2349000"/>
            <a:ext cx="855000" cy="126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C04BB7-C5EB-353A-A6C6-3B5EA91CB3E4}"/>
              </a:ext>
            </a:extLst>
          </p:cNvPr>
          <p:cNvSpPr/>
          <p:nvPr/>
        </p:nvSpPr>
        <p:spPr>
          <a:xfrm>
            <a:off x="5196000" y="2619000"/>
            <a:ext cx="1215000" cy="359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05C9C9-0843-8E16-80C6-AD0CCB854897}"/>
              </a:ext>
            </a:extLst>
          </p:cNvPr>
          <p:cNvSpPr/>
          <p:nvPr/>
        </p:nvSpPr>
        <p:spPr>
          <a:xfrm>
            <a:off x="5196000" y="3212779"/>
            <a:ext cx="1215000" cy="1872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450495-8A8D-37AC-D878-A1D564555EE2}"/>
              </a:ext>
            </a:extLst>
          </p:cNvPr>
          <p:cNvSpPr txBox="1"/>
          <p:nvPr/>
        </p:nvSpPr>
        <p:spPr>
          <a:xfrm>
            <a:off x="4157429" y="3125366"/>
            <a:ext cx="9140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memory</a:t>
            </a:r>
            <a:r>
              <a:rPr lang="zh-CN" altLang="en-US" sz="1050" dirty="0"/>
              <a:t>为空</a:t>
            </a:r>
          </a:p>
        </p:txBody>
      </p:sp>
    </p:spTree>
    <p:extLst>
      <p:ext uri="{BB962C8B-B14F-4D97-AF65-F5344CB8AC3E}">
        <p14:creationId xmlns:p14="http://schemas.microsoft.com/office/powerpoint/2010/main" val="242509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00" y="9053"/>
            <a:ext cx="1060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GoodSAM</a:t>
            </a:r>
            <a:r>
              <a:rPr lang="zh-CN" altLang="en-US" dirty="0"/>
              <a:t>：利用 </a:t>
            </a:r>
            <a:r>
              <a:rPr lang="en-US" altLang="zh-CN" dirty="0"/>
              <a:t>SAM </a:t>
            </a:r>
            <a:r>
              <a:rPr lang="zh-CN" altLang="en-US" dirty="0"/>
              <a:t>结构先验指导轻量模型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084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Weiming Zhang, Yexin Liu, Xu Zheng, Lin Wang; </a:t>
            </a:r>
            <a:r>
              <a:rPr lang="en-US" altLang="zh-CN" dirty="0" err="1"/>
              <a:t>GoodSAM</a:t>
            </a:r>
            <a:r>
              <a:rPr lang="en-US" altLang="zh-CN" dirty="0"/>
              <a:t>: Bridging Domain and Capacity Gaps via Segment Anything Model for Distortion-aware Panoramic Semantic Segmentation,</a:t>
            </a:r>
            <a:r>
              <a:rPr lang="fr-FR" altLang="zh-CN" dirty="0"/>
              <a:t>CVPR, 2024, pp. 28264-28273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151495-0C67-C61E-40EB-24BEBCAF1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886"/>
            <a:ext cx="6931940" cy="26084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44677C-9406-50E6-7F6E-50745D254495}"/>
              </a:ext>
            </a:extLst>
          </p:cNvPr>
          <p:cNvSpPr txBox="1"/>
          <p:nvPr/>
        </p:nvSpPr>
        <p:spPr>
          <a:xfrm>
            <a:off x="6916919" y="2482494"/>
            <a:ext cx="5265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GoodSAM</a:t>
            </a:r>
            <a:r>
              <a:rPr lang="zh-CN" altLang="en-US" dirty="0"/>
              <a:t>：</a:t>
            </a:r>
            <a:r>
              <a:rPr lang="en-US" altLang="zh-CN" dirty="0"/>
              <a:t>SAM </a:t>
            </a:r>
            <a:r>
              <a:rPr lang="zh-CN" altLang="en-US" dirty="0"/>
              <a:t>结构先验先参与构造了一个更强的监督信号，</a:t>
            </a:r>
            <a:r>
              <a:rPr lang="en-US" altLang="zh-CN" dirty="0"/>
              <a:t>TA</a:t>
            </a:r>
            <a:r>
              <a:rPr lang="zh-CN" altLang="en-US" dirty="0"/>
              <a:t>补充语义，然后融合之后把这些知识迁移到轻量 </a:t>
            </a:r>
            <a:r>
              <a:rPr lang="fr-FR" altLang="zh-CN" dirty="0"/>
              <a:t>Student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9A3C59-FBA6-6C3F-2B66-676622968FA5}"/>
              </a:ext>
            </a:extLst>
          </p:cNvPr>
          <p:cNvSpPr txBox="1"/>
          <p:nvPr/>
        </p:nvSpPr>
        <p:spPr>
          <a:xfrm>
            <a:off x="6941302" y="733976"/>
            <a:ext cx="495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任务：无标注全景图像上的语义分割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fr-FR" altLang="zh-CN" sz="1600" dirty="0"/>
              <a:t>Motivation</a:t>
            </a:r>
            <a:r>
              <a:rPr lang="zh-CN" altLang="en-US" sz="1600" dirty="0"/>
              <a:t>：</a:t>
            </a:r>
            <a:r>
              <a:rPr lang="en-US" altLang="zh-CN" sz="1600" dirty="0"/>
              <a:t>1.</a:t>
            </a:r>
            <a:r>
              <a:rPr lang="zh-CN" altLang="en-US" sz="1600" dirty="0"/>
              <a:t>全景语义分割标注数据不足</a:t>
            </a:r>
            <a:endParaRPr lang="en-US" altLang="zh-CN" sz="1600" dirty="0"/>
          </a:p>
          <a:p>
            <a:r>
              <a:rPr lang="zh-CN" altLang="en-US" sz="1600" dirty="0"/>
              <a:t>                        </a:t>
            </a:r>
            <a:r>
              <a:rPr lang="en-US" altLang="zh-CN" sz="1600" dirty="0"/>
              <a:t>2.</a:t>
            </a:r>
            <a:r>
              <a:rPr lang="zh-CN" altLang="en-US" sz="1600" dirty="0"/>
              <a:t>想使用</a:t>
            </a:r>
            <a:r>
              <a:rPr lang="en-US" altLang="zh-CN" sz="1600" dirty="0"/>
              <a:t>SAM</a:t>
            </a:r>
            <a:r>
              <a:rPr lang="zh-CN" altLang="en-US" sz="1600" dirty="0"/>
              <a:t>的零样本分割能力作为教师</a:t>
            </a:r>
            <a:endParaRPr lang="en-US" altLang="zh-CN" sz="1600" dirty="0"/>
          </a:p>
          <a:p>
            <a:r>
              <a:rPr lang="zh-CN" altLang="en-US" sz="1600" dirty="0"/>
              <a:t>                        </a:t>
            </a:r>
            <a:r>
              <a:rPr lang="en-US" altLang="zh-CN" sz="1600" dirty="0"/>
              <a:t>3.</a:t>
            </a:r>
            <a:r>
              <a:rPr lang="zh-CN" altLang="en-US" sz="1600" dirty="0"/>
              <a:t> </a:t>
            </a:r>
            <a:r>
              <a:rPr lang="en-US" altLang="zh-CN" sz="1600" dirty="0"/>
              <a:t>SAM </a:t>
            </a:r>
            <a:r>
              <a:rPr lang="zh-CN" altLang="en-US" sz="1600" dirty="0"/>
              <a:t>只给实例 </a:t>
            </a:r>
            <a:r>
              <a:rPr lang="en-US" altLang="zh-CN" sz="1600" dirty="0"/>
              <a:t>Mask</a:t>
            </a:r>
            <a:r>
              <a:rPr lang="zh-CN" altLang="en-US" sz="1600" dirty="0"/>
              <a:t>，不给语义类别</a:t>
            </a:r>
            <a:endParaRPr lang="en-US" altLang="zh-CN" sz="1600" dirty="0"/>
          </a:p>
          <a:p>
            <a:r>
              <a:rPr lang="en-US" altLang="zh-CN" sz="1600" dirty="0"/>
              <a:t>                        4.</a:t>
            </a:r>
            <a:r>
              <a:rPr lang="zh-CN" altLang="en-US" sz="1600" dirty="0"/>
              <a:t>大模型知识不能简单直接塞给小模型</a:t>
            </a:r>
            <a:endParaRPr lang="en-US" altLang="zh-CN" sz="1600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402EB1F-6A32-3FCF-1619-7FC5A23A8530}"/>
              </a:ext>
            </a:extLst>
          </p:cNvPr>
          <p:cNvGraphicFramePr>
            <a:graphicFrameLocks noGrp="1"/>
          </p:cNvGraphicFramePr>
          <p:nvPr/>
        </p:nvGraphicFramePr>
        <p:xfrm>
          <a:off x="1596000" y="3429000"/>
          <a:ext cx="9360000" cy="26584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20000">
                  <a:extLst>
                    <a:ext uri="{9D8B030D-6E8A-4147-A177-3AD203B41FA5}">
                      <a16:colId xmlns:a16="http://schemas.microsoft.com/office/drawing/2014/main" val="3310827637"/>
                    </a:ext>
                  </a:extLst>
                </a:gridCol>
                <a:gridCol w="3120000">
                  <a:extLst>
                    <a:ext uri="{9D8B030D-6E8A-4147-A177-3AD203B41FA5}">
                      <a16:colId xmlns:a16="http://schemas.microsoft.com/office/drawing/2014/main" val="180530963"/>
                    </a:ext>
                  </a:extLst>
                </a:gridCol>
                <a:gridCol w="3120000">
                  <a:extLst>
                    <a:ext uri="{9D8B030D-6E8A-4147-A177-3AD203B41FA5}">
                      <a16:colId xmlns:a16="http://schemas.microsoft.com/office/drawing/2014/main" val="1514260846"/>
                    </a:ext>
                  </a:extLst>
                </a:gridCol>
              </a:tblGrid>
              <a:tr h="295387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GoodSAM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我们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929052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单幅全景语义分割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双时相二值变化检测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93233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基础模型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SAM2.1+ AMG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745036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fr-FR" sz="1200"/>
                        <a:t>SAM </a:t>
                      </a:r>
                      <a:r>
                        <a:rPr lang="zh-CN" altLang="en-US" sz="1200"/>
                        <a:t>提供什么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Instance mask、Boundary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Instance ID、Boundary、Quality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9823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是否需要类别语义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需要</a:t>
                      </a:r>
                      <a:r>
                        <a:rPr lang="zh-CN" altLang="en-US" sz="1200"/>
                        <a:t>，所以增加 </a:t>
                      </a:r>
                      <a:r>
                        <a:rPr lang="fr-FR" sz="1200"/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不需要</a:t>
                      </a:r>
                      <a:r>
                        <a:rPr lang="zh-CN" altLang="en-US" sz="1200" dirty="0"/>
                        <a:t>，最终只判断 </a:t>
                      </a:r>
                      <a:r>
                        <a:rPr lang="fr-FR" sz="1200" dirty="0"/>
                        <a:t>Change / 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8174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是否由 </a:t>
                      </a:r>
                      <a:r>
                        <a:rPr lang="fr-FR" sz="1200"/>
                        <a:t>SAM </a:t>
                      </a:r>
                      <a:r>
                        <a:rPr lang="zh-CN" altLang="en-US" sz="1200"/>
                        <a:t>直接告诉学生答案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间接是，</a:t>
                      </a:r>
                      <a:r>
                        <a:rPr lang="fr-FR" sz="1200" dirty="0"/>
                        <a:t>SAM+TA → Ensemble Logits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不是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06352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双时相匹配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无此问题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b="1" dirty="0"/>
                        <a:t>T1/T2 </a:t>
                      </a:r>
                      <a:r>
                        <a:rPr lang="zh-CN" altLang="en-US" sz="1200" b="1" dirty="0"/>
                        <a:t>独立，不做实例匹配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057144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fr-FR" sz="1200" dirty="0"/>
                        <a:t>SAM </a:t>
                      </a:r>
                      <a:r>
                        <a:rPr lang="zh-CN" altLang="en-US" sz="1200" dirty="0"/>
                        <a:t>结构最终作用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构造更可靠的语义监督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对变化结果施加结构约束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38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推理时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学生独立推理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SAM2 </a:t>
                      </a:r>
                      <a:r>
                        <a:rPr lang="zh-CN" altLang="en-US" sz="1200" dirty="0"/>
                        <a:t>完全拆除，</a:t>
                      </a:r>
                      <a:r>
                        <a:rPr lang="fr-FR" sz="1200" dirty="0"/>
                        <a:t>A2Net 2.91M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41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72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525" y="0"/>
            <a:ext cx="10359475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Masking meets Supervision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6600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Byeongho Heo</a:t>
            </a:r>
            <a:r>
              <a:rPr lang="fr-FR" altLang="zh-CN" dirty="0"/>
              <a:t>; </a:t>
            </a:r>
            <a:r>
              <a:rPr lang="fr-FR" altLang="zh-C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Taekyung Kim</a:t>
            </a:r>
            <a:r>
              <a:rPr lang="fr-FR" altLang="zh-CN" dirty="0"/>
              <a:t>; </a:t>
            </a:r>
            <a:r>
              <a:rPr lang="fr-FR" altLang="zh-CN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Sangdoo Yun</a:t>
            </a:r>
            <a:r>
              <a:rPr lang="fr-FR" altLang="zh-CN" dirty="0"/>
              <a:t>; </a:t>
            </a:r>
            <a:r>
              <a:rPr lang="fr-FR" altLang="zh-CN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Dongyoon Han</a:t>
            </a:r>
            <a:r>
              <a:rPr lang="fr-FR" altLang="zh-CN" dirty="0"/>
              <a:t>. "Masking meets Supervision: A Strong Learning Alliance." CVPR, 2025,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FC854-E666-5B70-4AFA-BA33AC24D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5" y="897848"/>
            <a:ext cx="6877195" cy="26352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EE3562-CB4C-066B-E8BC-D18CF173361D}"/>
              </a:ext>
            </a:extLst>
          </p:cNvPr>
          <p:cNvSpPr txBox="1"/>
          <p:nvPr/>
        </p:nvSpPr>
        <p:spPr>
          <a:xfrm>
            <a:off x="36392" y="694398"/>
            <a:ext cx="6129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强扰动下的稳定监督学习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3CCB5-9A0B-04FA-49CA-57BAF766663D}"/>
              </a:ext>
            </a:extLst>
          </p:cNvPr>
          <p:cNvSpPr txBox="1"/>
          <p:nvPr/>
        </p:nvSpPr>
        <p:spPr>
          <a:xfrm>
            <a:off x="6941302" y="733976"/>
            <a:ext cx="495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任务：提出一种 </a:t>
            </a:r>
            <a:r>
              <a:rPr lang="zh-CN" altLang="en-US" sz="1600" b="1" dirty="0"/>
              <a:t>监督学习训练方法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正则化框架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fr-FR" altLang="zh-CN" sz="1600" dirty="0"/>
              <a:t>Motivation</a:t>
            </a:r>
            <a:r>
              <a:rPr lang="zh-CN" altLang="en-US" sz="1600" dirty="0"/>
              <a:t>：强 </a:t>
            </a:r>
            <a:r>
              <a:rPr lang="en-US" altLang="zh-CN" sz="1600" dirty="0"/>
              <a:t>Masking </a:t>
            </a:r>
            <a:r>
              <a:rPr lang="zh-CN" altLang="en-US" sz="1600" dirty="0"/>
              <a:t>有利于表征学习，但直接用于监督学习会造成训练不稳定。</a:t>
            </a:r>
            <a:endParaRPr lang="en-US" altLang="zh-CN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170824-3B08-4FFF-ED4E-58E32639943A}"/>
              </a:ext>
            </a:extLst>
          </p:cNvPr>
          <p:cNvSpPr txBox="1"/>
          <p:nvPr/>
        </p:nvSpPr>
        <p:spPr>
          <a:xfrm>
            <a:off x="6945888" y="2034000"/>
            <a:ext cx="463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Masking meets Supervision</a:t>
            </a:r>
            <a:r>
              <a:rPr lang="zh-CN" altLang="en-US" dirty="0"/>
              <a:t>：将强 </a:t>
            </a:r>
            <a:r>
              <a:rPr lang="en-US" altLang="zh-CN" dirty="0"/>
              <a:t>Masking </a:t>
            </a:r>
            <a:r>
              <a:rPr lang="zh-CN" altLang="en-US" dirty="0"/>
              <a:t>放入独立 </a:t>
            </a:r>
            <a:r>
              <a:rPr lang="en-US" altLang="zh-CN" dirty="0"/>
              <a:t>Sub-branch</a:t>
            </a:r>
            <a:r>
              <a:rPr lang="zh-CN" altLang="en-US" dirty="0"/>
              <a:t>，并利用完整输入 </a:t>
            </a:r>
            <a:r>
              <a:rPr lang="en-US" altLang="zh-CN" dirty="0"/>
              <a:t>Main-branch </a:t>
            </a:r>
            <a:r>
              <a:rPr lang="zh-CN" altLang="en-US" dirty="0"/>
              <a:t>的软预测进行自蒸馏监督，实现“强扰动 </a:t>
            </a:r>
            <a:r>
              <a:rPr lang="en-US" altLang="zh-CN" dirty="0"/>
              <a:t>+ </a:t>
            </a:r>
            <a:r>
              <a:rPr lang="zh-CN" altLang="en-US" dirty="0"/>
              <a:t>弱监督”，从而稳定训练。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B72F6EF-D1B1-0AEC-E377-D01B73DF4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85729"/>
              </p:ext>
            </p:extLst>
          </p:nvPr>
        </p:nvGraphicFramePr>
        <p:xfrm>
          <a:off x="1551000" y="4093401"/>
          <a:ext cx="8550000" cy="2070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000">
                  <a:extLst>
                    <a:ext uri="{9D8B030D-6E8A-4147-A177-3AD203B41FA5}">
                      <a16:colId xmlns:a16="http://schemas.microsoft.com/office/drawing/2014/main" val="3933189307"/>
                    </a:ext>
                  </a:extLst>
                </a:gridCol>
                <a:gridCol w="4275000">
                  <a:extLst>
                    <a:ext uri="{9D8B030D-6E8A-4147-A177-3AD203B41FA5}">
                      <a16:colId xmlns:a16="http://schemas.microsoft.com/office/drawing/2014/main" val="869610000"/>
                    </a:ext>
                  </a:extLst>
                </a:gridCol>
              </a:tblGrid>
              <a:tr h="345141">
                <a:tc>
                  <a:txBody>
                    <a:bodyPr/>
                    <a:lstStyle/>
                    <a:p>
                      <a:r>
                        <a:rPr lang="fr-FR" sz="1400" dirty="0"/>
                        <a:t>MaskSub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我们的项目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810206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单图像分类为主要实验场景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双时相遥感变化检测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59069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fr-FR" sz="1400"/>
                        <a:t>Mask </a:t>
                      </a:r>
                      <a:r>
                        <a:rPr lang="zh-CN" altLang="en-US" sz="1400"/>
                        <a:t>输入</a:t>
                      </a:r>
                      <a:r>
                        <a:rPr lang="en-US" altLang="zh-CN" sz="1400"/>
                        <a:t>/</a:t>
                      </a:r>
                      <a:r>
                        <a:rPr lang="fr-FR" sz="1400"/>
                        <a:t>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扰动 </a:t>
                      </a:r>
                      <a:r>
                        <a:rPr lang="fr-FR" sz="1400" b="1"/>
                        <a:t>T1/T2 </a:t>
                      </a:r>
                      <a:r>
                        <a:rPr lang="zh-CN" altLang="en-US" sz="1400" b="1"/>
                        <a:t>中间特征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782787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fr-FR" sz="1400"/>
                        <a:t>Main → Sub </a:t>
                      </a:r>
                      <a:r>
                        <a:rPr lang="zh-CN" altLang="en-US" sz="1400"/>
                        <a:t>自蒸馏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Mentor </a:t>
                      </a:r>
                      <a:r>
                        <a:rPr lang="zh-CN" altLang="en-US" sz="1400"/>
                        <a:t>制造困难特征，</a:t>
                      </a:r>
                      <a:r>
                        <a:rPr lang="fr-FR" sz="1400"/>
                        <a:t>Student </a:t>
                      </a:r>
                      <a:r>
                        <a:rPr lang="zh-CN" altLang="en-US" sz="1400"/>
                        <a:t>学习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38183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/>
                        <a:t>强调稳定强正则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强调提升困难变化场景鲁棒性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12088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训练期机制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同样是</a:t>
                      </a:r>
                      <a:r>
                        <a:rPr lang="zh-CN" altLang="en-US" sz="1400" b="1" dirty="0"/>
                        <a:t>训练期外挂，部署拆除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46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37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Our Work</a:t>
            </a:r>
            <a:r>
              <a:rPr lang="zh-CN" altLang="en-US" dirty="0"/>
              <a:t>整体结构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AB5E0-6098-5043-04E9-1B58A9CC596A}"/>
              </a:ext>
            </a:extLst>
          </p:cNvPr>
          <p:cNvSpPr/>
          <p:nvPr/>
        </p:nvSpPr>
        <p:spPr>
          <a:xfrm>
            <a:off x="225379" y="126035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1B54B-A37D-E22A-1143-220D63740786}"/>
              </a:ext>
            </a:extLst>
          </p:cNvPr>
          <p:cNvSpPr/>
          <p:nvPr/>
        </p:nvSpPr>
        <p:spPr>
          <a:xfrm>
            <a:off x="225379" y="2390798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8C43-6AC5-21FE-F0C7-6621F4065FF6}"/>
              </a:ext>
            </a:extLst>
          </p:cNvPr>
          <p:cNvSpPr/>
          <p:nvPr/>
        </p:nvSpPr>
        <p:spPr>
          <a:xfrm>
            <a:off x="675379" y="1575355"/>
            <a:ext cx="900000" cy="846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SAM2 Automatic Mask Generator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513527-A578-00C1-34D6-DFE394911A5C}"/>
              </a:ext>
            </a:extLst>
          </p:cNvPr>
          <p:cNvSpPr/>
          <p:nvPr/>
        </p:nvSpPr>
        <p:spPr>
          <a:xfrm>
            <a:off x="2284719" y="1471254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实例编号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C61A63-08DD-CC68-0218-048D4FA1E875}"/>
              </a:ext>
            </a:extLst>
          </p:cNvPr>
          <p:cNvSpPr/>
          <p:nvPr/>
        </p:nvSpPr>
        <p:spPr>
          <a:xfrm>
            <a:off x="2284719" y="1884720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边界图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028609-E39A-8240-C3DD-6475AA956F4B}"/>
              </a:ext>
            </a:extLst>
          </p:cNvPr>
          <p:cNvSpPr/>
          <p:nvPr/>
        </p:nvSpPr>
        <p:spPr>
          <a:xfrm>
            <a:off x="2284719" y="2298186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掩码质量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11B3CB-15DA-9E9B-C030-2514E6C0FB48}"/>
              </a:ext>
            </a:extLst>
          </p:cNvPr>
          <p:cNvSpPr/>
          <p:nvPr/>
        </p:nvSpPr>
        <p:spPr>
          <a:xfrm>
            <a:off x="3072219" y="2693034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CEEC11-B492-A288-4C37-AF91F7497014}"/>
              </a:ext>
            </a:extLst>
          </p:cNvPr>
          <p:cNvSpPr/>
          <p:nvPr/>
        </p:nvSpPr>
        <p:spPr>
          <a:xfrm>
            <a:off x="3072219" y="1136691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B4373E5-4100-688D-722C-2E0A40776981}"/>
              </a:ext>
            </a:extLst>
          </p:cNvPr>
          <p:cNvCxnSpPr>
            <a:cxnSpLocks/>
            <a:stCxn id="8" idx="3"/>
            <a:endCxn id="15" idx="0"/>
          </p:cNvCxnSpPr>
          <p:nvPr/>
        </p:nvCxnSpPr>
        <p:spPr>
          <a:xfrm>
            <a:off x="585379" y="1417855"/>
            <a:ext cx="540000" cy="1575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2FBAAAD-E82A-46D2-197C-B44B814ED8A5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585379" y="2421909"/>
            <a:ext cx="540000" cy="1263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F5914803-FBB9-6D5E-1474-598EEAEFE9A9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1575379" y="1589343"/>
            <a:ext cx="709340" cy="409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DF51550-6B41-28BB-E3F6-D6C8466D1D98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1575379" y="1998632"/>
            <a:ext cx="709340" cy="41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3A93F6D5-F08D-27D4-8A7D-BBA02D324A51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1575379" y="1998632"/>
            <a:ext cx="709340" cy="417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272125F-8836-56F4-C5C1-D9E2C286FDE3}"/>
              </a:ext>
            </a:extLst>
          </p:cNvPr>
          <p:cNvSpPr txBox="1"/>
          <p:nvPr/>
        </p:nvSpPr>
        <p:spPr>
          <a:xfrm>
            <a:off x="1617819" y="1372868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获取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960D45C-786D-91D3-470F-CF23485A0DED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 flipV="1">
            <a:off x="3184719" y="1372868"/>
            <a:ext cx="247500" cy="6299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2114E74E-7F86-AE0D-43DE-2E5D5D807A65}"/>
              </a:ext>
            </a:extLst>
          </p:cNvPr>
          <p:cNvCxnSpPr>
            <a:cxnSpLocks/>
            <a:stCxn id="19" idx="3"/>
            <a:endCxn id="24" idx="2"/>
          </p:cNvCxnSpPr>
          <p:nvPr/>
        </p:nvCxnSpPr>
        <p:spPr>
          <a:xfrm flipV="1">
            <a:off x="3184719" y="1372868"/>
            <a:ext cx="247500" cy="2164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FDAABD41-3972-2A5A-B395-F1F03511174A}"/>
              </a:ext>
            </a:extLst>
          </p:cNvPr>
          <p:cNvCxnSpPr>
            <a:cxnSpLocks/>
            <a:stCxn id="22" idx="3"/>
            <a:endCxn id="24" idx="2"/>
          </p:cNvCxnSpPr>
          <p:nvPr/>
        </p:nvCxnSpPr>
        <p:spPr>
          <a:xfrm flipV="1">
            <a:off x="3184719" y="1372868"/>
            <a:ext cx="247500" cy="10434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831E13F2-74BF-2895-B0EF-7A04D4E5DFD6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3184719" y="1589343"/>
            <a:ext cx="247500" cy="1103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20D89E1-5D05-88BF-B94D-4293D78AABAC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>
            <a:off x="3184719" y="2002809"/>
            <a:ext cx="247500" cy="6902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B489F027-3731-72A1-AD3C-8A545A856939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3184719" y="2416275"/>
            <a:ext cx="247500" cy="2767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6610F4C4-57E5-6D71-FC08-684E82B94011}"/>
              </a:ext>
            </a:extLst>
          </p:cNvPr>
          <p:cNvSpPr/>
          <p:nvPr/>
        </p:nvSpPr>
        <p:spPr>
          <a:xfrm>
            <a:off x="69362" y="744410"/>
            <a:ext cx="3877508" cy="2819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AECC764-70E0-EC06-C2ED-BDA08B5DE86B}"/>
              </a:ext>
            </a:extLst>
          </p:cNvPr>
          <p:cNvSpPr txBox="1"/>
          <p:nvPr/>
        </p:nvSpPr>
        <p:spPr>
          <a:xfrm>
            <a:off x="143407" y="3047326"/>
            <a:ext cx="3803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阶段一（离线</a:t>
            </a:r>
            <a:r>
              <a:rPr lang="en-US" altLang="zh-CN" sz="1400" dirty="0"/>
              <a:t>teacher</a:t>
            </a:r>
            <a:r>
              <a:rPr lang="zh-CN" altLang="en-US" sz="1400" dirty="0"/>
              <a:t>）</a:t>
            </a:r>
            <a:r>
              <a:rPr lang="en-US" altLang="zh-CN" sz="1400" dirty="0"/>
              <a:t>:SAM2</a:t>
            </a:r>
            <a:r>
              <a:rPr lang="zh-CN" altLang="en-US" sz="1400" dirty="0"/>
              <a:t>对训练集每个图生成离线教师缓存</a:t>
            </a:r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61785A-0532-F59A-4E36-729BE6DAE458}"/>
              </a:ext>
            </a:extLst>
          </p:cNvPr>
          <p:cNvSpPr/>
          <p:nvPr/>
        </p:nvSpPr>
        <p:spPr>
          <a:xfrm>
            <a:off x="4332881" y="131043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FFBA5B1-45AE-E56C-75A5-BD9FE090C47C}"/>
              </a:ext>
            </a:extLst>
          </p:cNvPr>
          <p:cNvSpPr/>
          <p:nvPr/>
        </p:nvSpPr>
        <p:spPr>
          <a:xfrm>
            <a:off x="4332881" y="244087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03D0A24-98BD-065C-9DD8-FBDB5657B7DB}"/>
              </a:ext>
            </a:extLst>
          </p:cNvPr>
          <p:cNvSpPr/>
          <p:nvPr/>
        </p:nvSpPr>
        <p:spPr>
          <a:xfrm>
            <a:off x="4946493" y="180272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F7B80E7A-AB46-013B-9C91-4E48F8189984}"/>
              </a:ext>
            </a:extLst>
          </p:cNvPr>
          <p:cNvCxnSpPr>
            <a:cxnSpLocks/>
            <a:stCxn id="98" idx="3"/>
            <a:endCxn id="100" idx="1"/>
          </p:cNvCxnSpPr>
          <p:nvPr/>
        </p:nvCxnSpPr>
        <p:spPr>
          <a:xfrm>
            <a:off x="4692881" y="146793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616272E1-F9D7-0BE3-522D-CA5118F3D85A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 flipV="1">
            <a:off x="4692881" y="199951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2082EABE-E19E-1D05-3591-551417A8D7DE}"/>
              </a:ext>
            </a:extLst>
          </p:cNvPr>
          <p:cNvSpPr/>
          <p:nvPr/>
        </p:nvSpPr>
        <p:spPr>
          <a:xfrm>
            <a:off x="4938948" y="125233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1643C3D-5155-A862-4320-A960E0D14B31}"/>
              </a:ext>
            </a:extLst>
          </p:cNvPr>
          <p:cNvSpPr/>
          <p:nvPr/>
        </p:nvSpPr>
        <p:spPr>
          <a:xfrm>
            <a:off x="5476462" y="125233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24A5A29-C812-3F8B-CB65-E005E227BDDC}"/>
              </a:ext>
            </a:extLst>
          </p:cNvPr>
          <p:cNvSpPr/>
          <p:nvPr/>
        </p:nvSpPr>
        <p:spPr>
          <a:xfrm>
            <a:off x="6013976" y="12570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7BCCF705-2B05-A67D-AA7F-8F3DEDC4AD79}"/>
              </a:ext>
            </a:extLst>
          </p:cNvPr>
          <p:cNvSpPr/>
          <p:nvPr/>
        </p:nvSpPr>
        <p:spPr>
          <a:xfrm>
            <a:off x="6573027" y="126211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9071DB8-CF8C-1FE1-7AD7-BFF822E33665}"/>
              </a:ext>
            </a:extLst>
          </p:cNvPr>
          <p:cNvSpPr/>
          <p:nvPr/>
        </p:nvSpPr>
        <p:spPr>
          <a:xfrm>
            <a:off x="4946493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C4D987D-B040-070C-239C-CB4DE1055EF5}"/>
              </a:ext>
            </a:extLst>
          </p:cNvPr>
          <p:cNvSpPr/>
          <p:nvPr/>
        </p:nvSpPr>
        <p:spPr>
          <a:xfrm>
            <a:off x="5484007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6A554D8-058D-A39B-4BE1-299C7E99BFCB}"/>
              </a:ext>
            </a:extLst>
          </p:cNvPr>
          <p:cNvSpPr/>
          <p:nvPr/>
        </p:nvSpPr>
        <p:spPr>
          <a:xfrm>
            <a:off x="6021521" y="25057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DCFBFA2-33D4-CCD2-5B84-9118AA39268A}"/>
              </a:ext>
            </a:extLst>
          </p:cNvPr>
          <p:cNvSpPr/>
          <p:nvPr/>
        </p:nvSpPr>
        <p:spPr>
          <a:xfrm>
            <a:off x="6580572" y="251084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ADC57DFC-F6CB-5DD0-62C3-2D771FC05727}"/>
              </a:ext>
            </a:extLst>
          </p:cNvPr>
          <p:cNvCxnSpPr>
            <a:cxnSpLocks/>
            <a:stCxn id="100" idx="0"/>
            <a:endCxn id="121" idx="2"/>
          </p:cNvCxnSpPr>
          <p:nvPr/>
        </p:nvCxnSpPr>
        <p:spPr>
          <a:xfrm rot="16200000" flipV="1">
            <a:off x="5436574" y="125259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68150A80-F662-EF5F-893C-B52B43282F90}"/>
              </a:ext>
            </a:extLst>
          </p:cNvPr>
          <p:cNvCxnSpPr>
            <a:cxnSpLocks/>
            <a:stCxn id="100" idx="0"/>
            <a:endCxn id="124" idx="2"/>
          </p:cNvCxnSpPr>
          <p:nvPr/>
        </p:nvCxnSpPr>
        <p:spPr>
          <a:xfrm rot="16200000" flipV="1">
            <a:off x="5705331" y="152135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肘形 138">
            <a:extLst>
              <a:ext uri="{FF2B5EF4-FFF2-40B4-BE49-F238E27FC236}">
                <a16:creationId xmlns:a16="http://schemas.microsoft.com/office/drawing/2014/main" id="{2F60BA43-0FED-B637-E014-816A77D38EBE}"/>
              </a:ext>
            </a:extLst>
          </p:cNvPr>
          <p:cNvCxnSpPr>
            <a:cxnSpLocks/>
            <a:stCxn id="100" idx="0"/>
            <a:endCxn id="125" idx="2"/>
          </p:cNvCxnSpPr>
          <p:nvPr/>
        </p:nvCxnSpPr>
        <p:spPr>
          <a:xfrm rot="5400000" flipH="1" flipV="1">
            <a:off x="5976439" y="152893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924E4259-509B-C9BD-3A82-9FBE7304094B}"/>
              </a:ext>
            </a:extLst>
          </p:cNvPr>
          <p:cNvCxnSpPr>
            <a:cxnSpLocks/>
            <a:stCxn id="100" idx="0"/>
            <a:endCxn id="126" idx="2"/>
          </p:cNvCxnSpPr>
          <p:nvPr/>
        </p:nvCxnSpPr>
        <p:spPr>
          <a:xfrm rot="5400000" flipH="1" flipV="1">
            <a:off x="6258504" y="125195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504ED3F8-2BF7-3974-4729-30586231E65A}"/>
              </a:ext>
            </a:extLst>
          </p:cNvPr>
          <p:cNvCxnSpPr>
            <a:cxnSpLocks/>
            <a:stCxn id="100" idx="2"/>
            <a:endCxn id="129" idx="0"/>
          </p:cNvCxnSpPr>
          <p:nvPr/>
        </p:nvCxnSpPr>
        <p:spPr>
          <a:xfrm rot="5400000">
            <a:off x="5432346" y="194670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36F0A44-11B4-D344-C575-F33B98E7DA09}"/>
              </a:ext>
            </a:extLst>
          </p:cNvPr>
          <p:cNvCxnSpPr>
            <a:cxnSpLocks/>
            <a:stCxn id="100" idx="2"/>
            <a:endCxn id="130" idx="0"/>
          </p:cNvCxnSpPr>
          <p:nvPr/>
        </p:nvCxnSpPr>
        <p:spPr>
          <a:xfrm rot="5400000">
            <a:off x="5701103" y="221546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D7AF6E7B-7A85-D190-BFE7-38E52F576F6D}"/>
              </a:ext>
            </a:extLst>
          </p:cNvPr>
          <p:cNvCxnSpPr>
            <a:cxnSpLocks/>
            <a:stCxn id="100" idx="2"/>
            <a:endCxn id="131" idx="0"/>
          </p:cNvCxnSpPr>
          <p:nvPr/>
        </p:nvCxnSpPr>
        <p:spPr>
          <a:xfrm rot="16200000" flipH="1">
            <a:off x="5967508" y="221550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12313C2A-F9D4-87A5-9EF9-54D175E57C68}"/>
              </a:ext>
            </a:extLst>
          </p:cNvPr>
          <p:cNvCxnSpPr>
            <a:cxnSpLocks/>
            <a:stCxn id="100" idx="2"/>
            <a:endCxn id="132" idx="0"/>
          </p:cNvCxnSpPr>
          <p:nvPr/>
        </p:nvCxnSpPr>
        <p:spPr>
          <a:xfrm rot="16200000" flipH="1">
            <a:off x="6244494" y="193851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左大括号 168">
            <a:extLst>
              <a:ext uri="{FF2B5EF4-FFF2-40B4-BE49-F238E27FC236}">
                <a16:creationId xmlns:a16="http://schemas.microsoft.com/office/drawing/2014/main" id="{9CA0F0B2-F8E9-3AAC-4E2E-C17E6E34105D}"/>
              </a:ext>
            </a:extLst>
          </p:cNvPr>
          <p:cNvSpPr/>
          <p:nvPr/>
        </p:nvSpPr>
        <p:spPr>
          <a:xfrm rot="5400000">
            <a:off x="5883107" y="-20534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左大括号 169">
            <a:extLst>
              <a:ext uri="{FF2B5EF4-FFF2-40B4-BE49-F238E27FC236}">
                <a16:creationId xmlns:a16="http://schemas.microsoft.com/office/drawing/2014/main" id="{F826268C-6062-4EDA-490B-0A01E01F158B}"/>
              </a:ext>
            </a:extLst>
          </p:cNvPr>
          <p:cNvSpPr/>
          <p:nvPr/>
        </p:nvSpPr>
        <p:spPr>
          <a:xfrm rot="16200000">
            <a:off x="5913583" y="175034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FE89A49A-4F78-93B9-4E3D-BEA21FD3C70B}"/>
              </a:ext>
            </a:extLst>
          </p:cNvPr>
          <p:cNvSpPr/>
          <p:nvPr/>
        </p:nvSpPr>
        <p:spPr>
          <a:xfrm>
            <a:off x="7446000" y="12702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36D01FB3-97F7-A76E-BCE9-270DC05F288E}"/>
              </a:ext>
            </a:extLst>
          </p:cNvPr>
          <p:cNvCxnSpPr>
            <a:cxnSpLocks/>
            <a:stCxn id="169" idx="1"/>
            <a:endCxn id="171" idx="0"/>
          </p:cNvCxnSpPr>
          <p:nvPr/>
        </p:nvCxnSpPr>
        <p:spPr>
          <a:xfrm rot="16200000" flipH="1">
            <a:off x="6711034" y="29904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D8DA088F-1C3A-2871-5C14-2F0724CE7809}"/>
              </a:ext>
            </a:extLst>
          </p:cNvPr>
          <p:cNvCxnSpPr>
            <a:cxnSpLocks/>
            <a:stCxn id="170" idx="1"/>
            <a:endCxn id="178" idx="2"/>
          </p:cNvCxnSpPr>
          <p:nvPr/>
        </p:nvCxnSpPr>
        <p:spPr>
          <a:xfrm rot="5400000" flipH="1" flipV="1">
            <a:off x="6730343" y="204633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75D306BA-5262-FA5D-AA05-93D2A44B2313}"/>
              </a:ext>
            </a:extLst>
          </p:cNvPr>
          <p:cNvSpPr/>
          <p:nvPr/>
        </p:nvSpPr>
        <p:spPr>
          <a:xfrm>
            <a:off x="7446000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B0AB1AE3-F073-BE81-A3B9-F35AE84A0E40}"/>
              </a:ext>
            </a:extLst>
          </p:cNvPr>
          <p:cNvSpPr/>
          <p:nvPr/>
        </p:nvSpPr>
        <p:spPr>
          <a:xfrm>
            <a:off x="7446000" y="186869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08FB53AE-3F2B-32AA-9E61-95132EEBDDF3}"/>
              </a:ext>
            </a:extLst>
          </p:cNvPr>
          <p:cNvCxnSpPr>
            <a:cxnSpLocks/>
            <a:stCxn id="171" idx="2"/>
            <a:endCxn id="182" idx="0"/>
          </p:cNvCxnSpPr>
          <p:nvPr/>
        </p:nvCxnSpPr>
        <p:spPr>
          <a:xfrm>
            <a:off x="7682250" y="153189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0C04D165-4E34-F7B3-21E7-F51235EE704D}"/>
              </a:ext>
            </a:extLst>
          </p:cNvPr>
          <p:cNvCxnSpPr>
            <a:cxnSpLocks/>
            <a:stCxn id="178" idx="0"/>
            <a:endCxn id="182" idx="2"/>
          </p:cNvCxnSpPr>
          <p:nvPr/>
        </p:nvCxnSpPr>
        <p:spPr>
          <a:xfrm flipV="1">
            <a:off x="7682250" y="213033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矩形 198">
            <a:extLst>
              <a:ext uri="{FF2B5EF4-FFF2-40B4-BE49-F238E27FC236}">
                <a16:creationId xmlns:a16="http://schemas.microsoft.com/office/drawing/2014/main" id="{4F9F42B6-7211-3075-D0A8-A68E62678CCD}"/>
              </a:ext>
            </a:extLst>
          </p:cNvPr>
          <p:cNvSpPr/>
          <p:nvPr/>
        </p:nvSpPr>
        <p:spPr>
          <a:xfrm>
            <a:off x="8125400" y="190712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E9E1A51D-9E5A-2FF7-E4EE-9BC8A938BF5F}"/>
              </a:ext>
            </a:extLst>
          </p:cNvPr>
          <p:cNvSpPr/>
          <p:nvPr/>
        </p:nvSpPr>
        <p:spPr>
          <a:xfrm>
            <a:off x="8159347" y="142701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10477833-171D-CF39-20BE-346AFD6DCF06}"/>
              </a:ext>
            </a:extLst>
          </p:cNvPr>
          <p:cNvSpPr/>
          <p:nvPr/>
        </p:nvSpPr>
        <p:spPr>
          <a:xfrm>
            <a:off x="8902044" y="142679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D9775E87-551E-A8F3-3777-B4A4BBAE4F04}"/>
              </a:ext>
            </a:extLst>
          </p:cNvPr>
          <p:cNvSpPr/>
          <p:nvPr/>
        </p:nvSpPr>
        <p:spPr>
          <a:xfrm>
            <a:off x="9658880" y="142679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9D6C8094-335B-4EB2-26CD-F824EDDE5F22}"/>
              </a:ext>
            </a:extLst>
          </p:cNvPr>
          <p:cNvSpPr/>
          <p:nvPr/>
        </p:nvSpPr>
        <p:spPr>
          <a:xfrm>
            <a:off x="10384874" y="142067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5" name="左大括号 214">
            <a:extLst>
              <a:ext uri="{FF2B5EF4-FFF2-40B4-BE49-F238E27FC236}">
                <a16:creationId xmlns:a16="http://schemas.microsoft.com/office/drawing/2014/main" id="{CFB19C83-D461-5D54-B4BA-BD7475AB697E}"/>
              </a:ext>
            </a:extLst>
          </p:cNvPr>
          <p:cNvSpPr/>
          <p:nvPr/>
        </p:nvSpPr>
        <p:spPr>
          <a:xfrm rot="5400000">
            <a:off x="9368845" y="-13821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38983032-3699-0800-1A87-0D22352C4AB1}"/>
              </a:ext>
            </a:extLst>
          </p:cNvPr>
          <p:cNvCxnSpPr>
            <a:cxnSpLocks/>
            <a:stCxn id="182" idx="3"/>
            <a:endCxn id="215" idx="1"/>
          </p:cNvCxnSpPr>
          <p:nvPr/>
        </p:nvCxnSpPr>
        <p:spPr>
          <a:xfrm flipV="1">
            <a:off x="7918500" y="116916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67CF3628-D0EA-3F61-0011-F16A193148BC}"/>
              </a:ext>
            </a:extLst>
          </p:cNvPr>
          <p:cNvCxnSpPr>
            <a:cxnSpLocks/>
            <a:stCxn id="211" idx="2"/>
            <a:endCxn id="236" idx="0"/>
          </p:cNvCxnSpPr>
          <p:nvPr/>
        </p:nvCxnSpPr>
        <p:spPr>
          <a:xfrm>
            <a:off x="8395597" y="168865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8F36B146-1ED5-30D2-3633-23B68518ADA2}"/>
              </a:ext>
            </a:extLst>
          </p:cNvPr>
          <p:cNvCxnSpPr>
            <a:cxnSpLocks/>
            <a:stCxn id="212" idx="2"/>
            <a:endCxn id="237" idx="0"/>
          </p:cNvCxnSpPr>
          <p:nvPr/>
        </p:nvCxnSpPr>
        <p:spPr>
          <a:xfrm>
            <a:off x="9138294" y="168843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B2CDEE16-1D84-E7EA-0F7F-B66D25218C60}"/>
              </a:ext>
            </a:extLst>
          </p:cNvPr>
          <p:cNvCxnSpPr>
            <a:cxnSpLocks/>
            <a:stCxn id="213" idx="2"/>
            <a:endCxn id="238" idx="0"/>
          </p:cNvCxnSpPr>
          <p:nvPr/>
        </p:nvCxnSpPr>
        <p:spPr>
          <a:xfrm>
            <a:off x="9895130" y="168843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F4A42D1C-BB24-6EED-B8AB-C490BA7F4129}"/>
              </a:ext>
            </a:extLst>
          </p:cNvPr>
          <p:cNvCxnSpPr>
            <a:cxnSpLocks/>
            <a:stCxn id="214" idx="2"/>
            <a:endCxn id="239" idx="0"/>
          </p:cNvCxnSpPr>
          <p:nvPr/>
        </p:nvCxnSpPr>
        <p:spPr>
          <a:xfrm>
            <a:off x="10621124" y="168231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9D5C856D-4CCA-8FB3-D63F-00B6B52E6C5F}"/>
              </a:ext>
            </a:extLst>
          </p:cNvPr>
          <p:cNvSpPr/>
          <p:nvPr/>
        </p:nvSpPr>
        <p:spPr>
          <a:xfrm>
            <a:off x="8163666" y="211086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F387B730-2FD6-E53C-F2B6-2E84A4D0A17B}"/>
              </a:ext>
            </a:extLst>
          </p:cNvPr>
          <p:cNvSpPr/>
          <p:nvPr/>
        </p:nvSpPr>
        <p:spPr>
          <a:xfrm>
            <a:off x="8902044" y="21088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30E3FE8C-59A1-7106-CADD-5C49CE0CE143}"/>
              </a:ext>
            </a:extLst>
          </p:cNvPr>
          <p:cNvSpPr/>
          <p:nvPr/>
        </p:nvSpPr>
        <p:spPr>
          <a:xfrm>
            <a:off x="9663165" y="210527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7478CBA6-B978-BBB0-FE57-4B8CFFBAED24}"/>
              </a:ext>
            </a:extLst>
          </p:cNvPr>
          <p:cNvSpPr/>
          <p:nvPr/>
        </p:nvSpPr>
        <p:spPr>
          <a:xfrm>
            <a:off x="10384874" y="210551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4B576C12-372B-689F-0E61-3D0910ADA353}"/>
              </a:ext>
            </a:extLst>
          </p:cNvPr>
          <p:cNvCxnSpPr>
            <a:cxnSpLocks/>
            <a:stCxn id="236" idx="3"/>
            <a:endCxn id="237" idx="1"/>
          </p:cNvCxnSpPr>
          <p:nvPr/>
        </p:nvCxnSpPr>
        <p:spPr>
          <a:xfrm flipV="1">
            <a:off x="8636166" y="223967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6B8D5CA4-3D26-DBF5-26BA-F5E5D1765C87}"/>
              </a:ext>
            </a:extLst>
          </p:cNvPr>
          <p:cNvCxnSpPr>
            <a:cxnSpLocks/>
            <a:stCxn id="237" idx="3"/>
            <a:endCxn id="238" idx="1"/>
          </p:cNvCxnSpPr>
          <p:nvPr/>
        </p:nvCxnSpPr>
        <p:spPr>
          <a:xfrm flipV="1">
            <a:off x="9374544" y="223609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C1F4B3B2-C0EE-A281-C763-8D024C07A595}"/>
              </a:ext>
            </a:extLst>
          </p:cNvPr>
          <p:cNvCxnSpPr>
            <a:cxnSpLocks/>
            <a:endCxn id="239" idx="1"/>
          </p:cNvCxnSpPr>
          <p:nvPr/>
        </p:nvCxnSpPr>
        <p:spPr>
          <a:xfrm>
            <a:off x="10131380" y="223609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矩形 262">
            <a:extLst>
              <a:ext uri="{FF2B5EF4-FFF2-40B4-BE49-F238E27FC236}">
                <a16:creationId xmlns:a16="http://schemas.microsoft.com/office/drawing/2014/main" id="{0D0D7127-51D9-EBE7-97F5-BA78E774A679}"/>
              </a:ext>
            </a:extLst>
          </p:cNvPr>
          <p:cNvSpPr/>
          <p:nvPr/>
        </p:nvSpPr>
        <p:spPr>
          <a:xfrm>
            <a:off x="11165594" y="212433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264" name="直接箭头连接符 263">
            <a:extLst>
              <a:ext uri="{FF2B5EF4-FFF2-40B4-BE49-F238E27FC236}">
                <a16:creationId xmlns:a16="http://schemas.microsoft.com/office/drawing/2014/main" id="{6F83970F-2AC3-D6BB-2FCD-690A87335CF4}"/>
              </a:ext>
            </a:extLst>
          </p:cNvPr>
          <p:cNvCxnSpPr>
            <a:cxnSpLocks/>
            <a:stCxn id="239" idx="3"/>
            <a:endCxn id="263" idx="1"/>
          </p:cNvCxnSpPr>
          <p:nvPr/>
        </p:nvCxnSpPr>
        <p:spPr>
          <a:xfrm flipV="1">
            <a:off x="10857374" y="223609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FAF70736-36BA-6E27-FEAB-AE29CCCD271C}"/>
              </a:ext>
            </a:extLst>
          </p:cNvPr>
          <p:cNvCxnSpPr>
            <a:cxnSpLocks/>
            <a:stCxn id="263" idx="0"/>
            <a:endCxn id="273" idx="2"/>
          </p:cNvCxnSpPr>
          <p:nvPr/>
        </p:nvCxnSpPr>
        <p:spPr>
          <a:xfrm flipH="1" flipV="1">
            <a:off x="11575797" y="180251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文本框 272">
            <a:extLst>
              <a:ext uri="{FF2B5EF4-FFF2-40B4-BE49-F238E27FC236}">
                <a16:creationId xmlns:a16="http://schemas.microsoft.com/office/drawing/2014/main" id="{ED51C147-759F-E7C4-129E-03FB9D6BED66}"/>
              </a:ext>
            </a:extLst>
          </p:cNvPr>
          <p:cNvSpPr txBox="1"/>
          <p:nvPr/>
        </p:nvSpPr>
        <p:spPr>
          <a:xfrm>
            <a:off x="10975930" y="122543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EC3784C2-9538-DECC-3702-2118C866048A}"/>
              </a:ext>
            </a:extLst>
          </p:cNvPr>
          <p:cNvSpPr txBox="1"/>
          <p:nvPr/>
        </p:nvSpPr>
        <p:spPr>
          <a:xfrm>
            <a:off x="10148030" y="5117378"/>
            <a:ext cx="1857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SAM Structure Loss </a:t>
            </a:r>
          </a:p>
          <a:p>
            <a:pPr algn="ctr"/>
            <a:r>
              <a:rPr lang="en-US" altLang="zh-CN" sz="1000" dirty="0"/>
              <a:t>boundary + affinity </a:t>
            </a:r>
          </a:p>
          <a:p>
            <a:pPr algn="ctr"/>
            <a:r>
              <a:rPr lang="en-US" altLang="zh-CN" sz="1000" dirty="0"/>
              <a:t>↑</a:t>
            </a:r>
          </a:p>
          <a:p>
            <a:pPr algn="ctr"/>
            <a:r>
              <a:rPr lang="en-US" altLang="zh-CN" sz="1000" dirty="0"/>
              <a:t> Stage A cached </a:t>
            </a:r>
            <a:r>
              <a:rPr lang="en-US" altLang="zh-CN" sz="1000" dirty="0" err="1"/>
              <a:t>teacher_pack</a:t>
            </a:r>
            <a:endParaRPr lang="zh-CN" altLang="en-US" sz="1000" dirty="0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4A0F273-FAE4-061B-8484-8B2FE0E58589}"/>
              </a:ext>
            </a:extLst>
          </p:cNvPr>
          <p:cNvSpPr/>
          <p:nvPr/>
        </p:nvSpPr>
        <p:spPr>
          <a:xfrm>
            <a:off x="4069922" y="744410"/>
            <a:ext cx="8052716" cy="2819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4E84D0B9-633E-4133-1CC2-9A6DD932074C}"/>
              </a:ext>
            </a:extLst>
          </p:cNvPr>
          <p:cNvSpPr txBox="1"/>
          <p:nvPr/>
        </p:nvSpPr>
        <p:spPr>
          <a:xfrm>
            <a:off x="4075238" y="3204027"/>
            <a:ext cx="762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阶段二主路径（</a:t>
            </a:r>
            <a:r>
              <a:rPr lang="en-US" altLang="zh-CN" sz="1400" dirty="0"/>
              <a:t>student</a:t>
            </a:r>
            <a:r>
              <a:rPr lang="zh-CN" altLang="en-US" sz="1400" dirty="0"/>
              <a:t>）</a:t>
            </a:r>
            <a:r>
              <a:rPr lang="en-US" altLang="zh-CN" sz="1400" dirty="0"/>
              <a:t>:A2Net+LWGANet</a:t>
            </a:r>
            <a:r>
              <a:rPr lang="zh-CN" altLang="en-US" sz="1400" dirty="0"/>
              <a:t>（</a:t>
            </a:r>
            <a:r>
              <a:rPr lang="en-US" altLang="zh-CN" sz="1400" dirty="0"/>
              <a:t>backbone</a:t>
            </a:r>
            <a:r>
              <a:rPr lang="zh-CN" altLang="en-US" sz="1400" dirty="0"/>
              <a:t>）无改动，推理时也只剩这部分，</a:t>
            </a:r>
            <a:r>
              <a:rPr lang="en-US" altLang="zh-CN" sz="1400" dirty="0"/>
              <a:t>2.91M</a:t>
            </a:r>
            <a:endParaRPr lang="zh-CN" altLang="en-US" sz="1400" dirty="0"/>
          </a:p>
        </p:txBody>
      </p:sp>
      <p:cxnSp>
        <p:nvCxnSpPr>
          <p:cNvPr id="285" name="连接符: 肘形 284">
            <a:extLst>
              <a:ext uri="{FF2B5EF4-FFF2-40B4-BE49-F238E27FC236}">
                <a16:creationId xmlns:a16="http://schemas.microsoft.com/office/drawing/2014/main" id="{4FFB73DE-C2D6-4C75-BA8F-0EF4959A7CCE}"/>
              </a:ext>
            </a:extLst>
          </p:cNvPr>
          <p:cNvCxnSpPr>
            <a:cxnSpLocks/>
            <a:stCxn id="263" idx="2"/>
            <a:endCxn id="277" idx="0"/>
          </p:cNvCxnSpPr>
          <p:nvPr/>
        </p:nvCxnSpPr>
        <p:spPr>
          <a:xfrm rot="5400000">
            <a:off x="9941794" y="3483034"/>
            <a:ext cx="2769537" cy="499151"/>
          </a:xfrm>
          <a:prstGeom prst="bentConnector3">
            <a:avLst>
              <a:gd name="adj1" fmla="val 617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矩形 290">
            <a:extLst>
              <a:ext uri="{FF2B5EF4-FFF2-40B4-BE49-F238E27FC236}">
                <a16:creationId xmlns:a16="http://schemas.microsoft.com/office/drawing/2014/main" id="{9C5D082D-9252-04B5-0A91-E5866536A7D5}"/>
              </a:ext>
            </a:extLst>
          </p:cNvPr>
          <p:cNvSpPr/>
          <p:nvPr/>
        </p:nvSpPr>
        <p:spPr>
          <a:xfrm>
            <a:off x="303948" y="44355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179BF439-6D00-8DAB-E65C-E977FF46BFB4}"/>
              </a:ext>
            </a:extLst>
          </p:cNvPr>
          <p:cNvSpPr/>
          <p:nvPr/>
        </p:nvSpPr>
        <p:spPr>
          <a:xfrm>
            <a:off x="841462" y="44355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E026AF0F-7290-684F-0601-AE995AA1A980}"/>
              </a:ext>
            </a:extLst>
          </p:cNvPr>
          <p:cNvSpPr/>
          <p:nvPr/>
        </p:nvSpPr>
        <p:spPr>
          <a:xfrm>
            <a:off x="1378976" y="444026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151CA2BF-9285-43E7-328C-BFD257912088}"/>
              </a:ext>
            </a:extLst>
          </p:cNvPr>
          <p:cNvSpPr/>
          <p:nvPr/>
        </p:nvSpPr>
        <p:spPr>
          <a:xfrm>
            <a:off x="1938027" y="44453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39DE2D0B-047E-EE3C-EC3F-F4ED44538792}"/>
              </a:ext>
            </a:extLst>
          </p:cNvPr>
          <p:cNvSpPr/>
          <p:nvPr/>
        </p:nvSpPr>
        <p:spPr>
          <a:xfrm>
            <a:off x="266076" y="492857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3E90738-95DF-9D7A-59E3-D081D08DAE59}"/>
              </a:ext>
            </a:extLst>
          </p:cNvPr>
          <p:cNvSpPr/>
          <p:nvPr/>
        </p:nvSpPr>
        <p:spPr>
          <a:xfrm>
            <a:off x="803590" y="492857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302A32A3-B7E0-1E9B-0BA9-B94770DD5065}"/>
              </a:ext>
            </a:extLst>
          </p:cNvPr>
          <p:cNvSpPr/>
          <p:nvPr/>
        </p:nvSpPr>
        <p:spPr>
          <a:xfrm>
            <a:off x="1341104" y="493327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22F4D61-3031-C891-27B4-82CF21B5E5CE}"/>
              </a:ext>
            </a:extLst>
          </p:cNvPr>
          <p:cNvSpPr/>
          <p:nvPr/>
        </p:nvSpPr>
        <p:spPr>
          <a:xfrm>
            <a:off x="1900155" y="49383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9" name="左大括号 298">
            <a:extLst>
              <a:ext uri="{FF2B5EF4-FFF2-40B4-BE49-F238E27FC236}">
                <a16:creationId xmlns:a16="http://schemas.microsoft.com/office/drawing/2014/main" id="{9BD9E842-195F-F7A2-1B5F-E1B7505AEBBF}"/>
              </a:ext>
            </a:extLst>
          </p:cNvPr>
          <p:cNvSpPr/>
          <p:nvPr/>
        </p:nvSpPr>
        <p:spPr>
          <a:xfrm rot="5400000">
            <a:off x="1248107" y="3162698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左大括号 299">
            <a:extLst>
              <a:ext uri="{FF2B5EF4-FFF2-40B4-BE49-F238E27FC236}">
                <a16:creationId xmlns:a16="http://schemas.microsoft.com/office/drawing/2014/main" id="{A7EF92E1-8569-F7AC-2647-73DF1A65C475}"/>
              </a:ext>
            </a:extLst>
          </p:cNvPr>
          <p:cNvSpPr/>
          <p:nvPr/>
        </p:nvSpPr>
        <p:spPr>
          <a:xfrm rot="16200000">
            <a:off x="1233166" y="4177861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1" name="连接符: 肘形 300">
            <a:extLst>
              <a:ext uri="{FF2B5EF4-FFF2-40B4-BE49-F238E27FC236}">
                <a16:creationId xmlns:a16="http://schemas.microsoft.com/office/drawing/2014/main" id="{8111A953-996A-9404-A231-714F26AB5891}"/>
              </a:ext>
            </a:extLst>
          </p:cNvPr>
          <p:cNvCxnSpPr>
            <a:cxnSpLocks/>
            <a:stCxn id="299" idx="1"/>
            <a:endCxn id="303" idx="0"/>
          </p:cNvCxnSpPr>
          <p:nvPr/>
        </p:nvCxnSpPr>
        <p:spPr>
          <a:xfrm rot="16200000" flipH="1">
            <a:off x="2085553" y="3472752"/>
            <a:ext cx="430679" cy="1904786"/>
          </a:xfrm>
          <a:prstGeom prst="bentConnector3">
            <a:avLst>
              <a:gd name="adj1" fmla="val -460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3880AB12-AA1E-53D2-D878-5AE9D5A50DB6}"/>
              </a:ext>
            </a:extLst>
          </p:cNvPr>
          <p:cNvCxnSpPr>
            <a:cxnSpLocks/>
            <a:stCxn id="300" idx="1"/>
            <a:endCxn id="303" idx="2"/>
          </p:cNvCxnSpPr>
          <p:nvPr/>
        </p:nvCxnSpPr>
        <p:spPr>
          <a:xfrm rot="5400000" flipH="1" flipV="1">
            <a:off x="2097581" y="4270050"/>
            <a:ext cx="391681" cy="1919727"/>
          </a:xfrm>
          <a:prstGeom prst="bentConnector3">
            <a:avLst>
              <a:gd name="adj1" fmla="val -66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矩形 302">
            <a:extLst>
              <a:ext uri="{FF2B5EF4-FFF2-40B4-BE49-F238E27FC236}">
                <a16:creationId xmlns:a16="http://schemas.microsoft.com/office/drawing/2014/main" id="{3491132B-FC93-8D8C-16CD-280FC0CFFCBB}"/>
              </a:ext>
            </a:extLst>
          </p:cNvPr>
          <p:cNvSpPr/>
          <p:nvPr/>
        </p:nvSpPr>
        <p:spPr>
          <a:xfrm>
            <a:off x="2697671" y="4640485"/>
            <a:ext cx="1111230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PLUG-Mentor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F7CA629C-E621-8E51-10A5-1097053C9C1A}"/>
              </a:ext>
            </a:extLst>
          </p:cNvPr>
          <p:cNvSpPr txBox="1"/>
          <p:nvPr/>
        </p:nvSpPr>
        <p:spPr>
          <a:xfrm>
            <a:off x="4025710" y="4712945"/>
            <a:ext cx="10507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retention masks</a:t>
            </a:r>
            <a:endParaRPr lang="zh-CN" altLang="en-US" sz="1000" dirty="0"/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1BF6D29F-9421-7F44-4B8D-FC39B850E7F4}"/>
              </a:ext>
            </a:extLst>
          </p:cNvPr>
          <p:cNvCxnSpPr>
            <a:cxnSpLocks/>
            <a:stCxn id="303" idx="3"/>
            <a:endCxn id="312" idx="1"/>
          </p:cNvCxnSpPr>
          <p:nvPr/>
        </p:nvCxnSpPr>
        <p:spPr>
          <a:xfrm flipV="1">
            <a:off x="3808901" y="4836056"/>
            <a:ext cx="216809" cy="1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文本框 325">
            <a:extLst>
              <a:ext uri="{FF2B5EF4-FFF2-40B4-BE49-F238E27FC236}">
                <a16:creationId xmlns:a16="http://schemas.microsoft.com/office/drawing/2014/main" id="{49E30B21-3310-B205-019B-181AAFFDD8F2}"/>
              </a:ext>
            </a:extLst>
          </p:cNvPr>
          <p:cNvSpPr txBox="1"/>
          <p:nvPr/>
        </p:nvSpPr>
        <p:spPr>
          <a:xfrm>
            <a:off x="3725793" y="4202505"/>
            <a:ext cx="1650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hard_F1 = F1 × retention</a:t>
            </a:r>
            <a:endParaRPr lang="zh-CN" altLang="en-US" sz="900" dirty="0"/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D29AFEEE-B043-D383-8CB6-35A3A84835FE}"/>
              </a:ext>
            </a:extLst>
          </p:cNvPr>
          <p:cNvSpPr txBox="1"/>
          <p:nvPr/>
        </p:nvSpPr>
        <p:spPr>
          <a:xfrm>
            <a:off x="3736100" y="5260688"/>
            <a:ext cx="1650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hard_F2 = F2 × retention</a:t>
            </a:r>
            <a:endParaRPr lang="zh-CN" altLang="en-US" sz="900" dirty="0"/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45E04222-A93D-B18E-BC8D-464EFDE812E2}"/>
              </a:ext>
            </a:extLst>
          </p:cNvPr>
          <p:cNvCxnSpPr>
            <a:cxnSpLocks/>
            <a:stCxn id="312" idx="0"/>
            <a:endCxn id="326" idx="2"/>
          </p:cNvCxnSpPr>
          <p:nvPr/>
        </p:nvCxnSpPr>
        <p:spPr>
          <a:xfrm flipV="1">
            <a:off x="4551085" y="4433337"/>
            <a:ext cx="0" cy="279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7C908D0D-C366-B6D4-7E87-6F6F62957640}"/>
              </a:ext>
            </a:extLst>
          </p:cNvPr>
          <p:cNvCxnSpPr>
            <a:cxnSpLocks/>
            <a:stCxn id="312" idx="2"/>
            <a:endCxn id="327" idx="0"/>
          </p:cNvCxnSpPr>
          <p:nvPr/>
        </p:nvCxnSpPr>
        <p:spPr>
          <a:xfrm>
            <a:off x="4551085" y="4959166"/>
            <a:ext cx="10307" cy="301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文本框 338">
            <a:extLst>
              <a:ext uri="{FF2B5EF4-FFF2-40B4-BE49-F238E27FC236}">
                <a16:creationId xmlns:a16="http://schemas.microsoft.com/office/drawing/2014/main" id="{30DC22B9-DC00-0EDF-1366-4126B99CAF5D}"/>
              </a:ext>
            </a:extLst>
          </p:cNvPr>
          <p:cNvSpPr txBox="1"/>
          <p:nvPr/>
        </p:nvSpPr>
        <p:spPr>
          <a:xfrm>
            <a:off x="7379755" y="1528824"/>
            <a:ext cx="3786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9778DB9B-1655-C9A7-75C0-E02B3AD0E870}"/>
              </a:ext>
            </a:extLst>
          </p:cNvPr>
          <p:cNvSpPr txBox="1"/>
          <p:nvPr/>
        </p:nvSpPr>
        <p:spPr>
          <a:xfrm>
            <a:off x="7379755" y="2267249"/>
            <a:ext cx="3786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E51F97D1-7B78-FAF9-A368-B1C02C6166EC}"/>
              </a:ext>
            </a:extLst>
          </p:cNvPr>
          <p:cNvSpPr/>
          <p:nvPr/>
        </p:nvSpPr>
        <p:spPr>
          <a:xfrm>
            <a:off x="5197499" y="41347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DBAF5008-5EA6-A80B-311E-6D5F40FA8105}"/>
              </a:ext>
            </a:extLst>
          </p:cNvPr>
          <p:cNvSpPr/>
          <p:nvPr/>
        </p:nvSpPr>
        <p:spPr>
          <a:xfrm>
            <a:off x="5197499" y="5365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C5279036-60BA-A017-8B2D-168A394DED15}"/>
              </a:ext>
            </a:extLst>
          </p:cNvPr>
          <p:cNvSpPr/>
          <p:nvPr/>
        </p:nvSpPr>
        <p:spPr>
          <a:xfrm>
            <a:off x="5197499" y="473314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46" name="直接箭头连接符 345">
            <a:extLst>
              <a:ext uri="{FF2B5EF4-FFF2-40B4-BE49-F238E27FC236}">
                <a16:creationId xmlns:a16="http://schemas.microsoft.com/office/drawing/2014/main" id="{4AAD1A77-5B22-08CE-1D7E-54A798C8047E}"/>
              </a:ext>
            </a:extLst>
          </p:cNvPr>
          <p:cNvCxnSpPr>
            <a:cxnSpLocks/>
            <a:stCxn id="341" idx="2"/>
            <a:endCxn id="343" idx="0"/>
          </p:cNvCxnSpPr>
          <p:nvPr/>
        </p:nvCxnSpPr>
        <p:spPr>
          <a:xfrm>
            <a:off x="5433749" y="4396349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5EB12891-DA00-DA9F-8090-8BB44CEF409A}"/>
              </a:ext>
            </a:extLst>
          </p:cNvPr>
          <p:cNvCxnSpPr>
            <a:cxnSpLocks/>
            <a:stCxn id="342" idx="0"/>
            <a:endCxn id="343" idx="2"/>
          </p:cNvCxnSpPr>
          <p:nvPr/>
        </p:nvCxnSpPr>
        <p:spPr>
          <a:xfrm flipV="1">
            <a:off x="5433749" y="4994789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连接符: 肘形 351">
            <a:extLst>
              <a:ext uri="{FF2B5EF4-FFF2-40B4-BE49-F238E27FC236}">
                <a16:creationId xmlns:a16="http://schemas.microsoft.com/office/drawing/2014/main" id="{59A839AF-0447-B9C9-211E-AE5AC722F0FC}"/>
              </a:ext>
            </a:extLst>
          </p:cNvPr>
          <p:cNvCxnSpPr>
            <a:cxnSpLocks/>
            <a:stCxn id="326" idx="0"/>
            <a:endCxn id="341" idx="0"/>
          </p:cNvCxnSpPr>
          <p:nvPr/>
        </p:nvCxnSpPr>
        <p:spPr>
          <a:xfrm rot="5400000" flipH="1" flipV="1">
            <a:off x="4958519" y="3727275"/>
            <a:ext cx="67796" cy="882664"/>
          </a:xfrm>
          <a:prstGeom prst="bentConnector3">
            <a:avLst>
              <a:gd name="adj1" fmla="val 4371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连接符: 肘形 354">
            <a:extLst>
              <a:ext uri="{FF2B5EF4-FFF2-40B4-BE49-F238E27FC236}">
                <a16:creationId xmlns:a16="http://schemas.microsoft.com/office/drawing/2014/main" id="{4EE25E3D-0B2B-EAF5-D2E3-2367629600D4}"/>
              </a:ext>
            </a:extLst>
          </p:cNvPr>
          <p:cNvCxnSpPr>
            <a:cxnSpLocks/>
            <a:stCxn id="327" idx="2"/>
            <a:endCxn id="342" idx="2"/>
          </p:cNvCxnSpPr>
          <p:nvPr/>
        </p:nvCxnSpPr>
        <p:spPr>
          <a:xfrm rot="16200000" flipH="1">
            <a:off x="4929753" y="5123158"/>
            <a:ext cx="135635" cy="872357"/>
          </a:xfrm>
          <a:prstGeom prst="bentConnector3">
            <a:avLst>
              <a:gd name="adj1" fmla="val 2685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矩形 357">
            <a:extLst>
              <a:ext uri="{FF2B5EF4-FFF2-40B4-BE49-F238E27FC236}">
                <a16:creationId xmlns:a16="http://schemas.microsoft.com/office/drawing/2014/main" id="{FB7348BC-8434-7EF6-0DB6-9BDC68E52ABB}"/>
              </a:ext>
            </a:extLst>
          </p:cNvPr>
          <p:cNvSpPr/>
          <p:nvPr/>
        </p:nvSpPr>
        <p:spPr>
          <a:xfrm>
            <a:off x="5817958" y="4733149"/>
            <a:ext cx="119794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id="{8186F289-5352-5457-8070-AE4B03ABD394}"/>
              </a:ext>
            </a:extLst>
          </p:cNvPr>
          <p:cNvCxnSpPr>
            <a:cxnSpLocks/>
            <a:stCxn id="343" idx="3"/>
            <a:endCxn id="358" idx="1"/>
          </p:cNvCxnSpPr>
          <p:nvPr/>
        </p:nvCxnSpPr>
        <p:spPr>
          <a:xfrm>
            <a:off x="5669999" y="4863969"/>
            <a:ext cx="147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3FF3FE13-5B5C-EC4D-37D3-6CADDD5C6106}"/>
              </a:ext>
            </a:extLst>
          </p:cNvPr>
          <p:cNvCxnSpPr>
            <a:cxnSpLocks/>
            <a:stCxn id="358" idx="3"/>
            <a:endCxn id="413" idx="1"/>
          </p:cNvCxnSpPr>
          <p:nvPr/>
        </p:nvCxnSpPr>
        <p:spPr>
          <a:xfrm>
            <a:off x="7015900" y="4863969"/>
            <a:ext cx="290366" cy="8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矩形 368">
            <a:extLst>
              <a:ext uri="{FF2B5EF4-FFF2-40B4-BE49-F238E27FC236}">
                <a16:creationId xmlns:a16="http://schemas.microsoft.com/office/drawing/2014/main" id="{0213E720-888D-25B6-482D-FAC575867AB8}"/>
              </a:ext>
            </a:extLst>
          </p:cNvPr>
          <p:cNvSpPr/>
          <p:nvPr/>
        </p:nvSpPr>
        <p:spPr>
          <a:xfrm>
            <a:off x="2644400" y="3713048"/>
            <a:ext cx="9478237" cy="2620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8F2628BC-6992-A25C-6FA6-66D25158E763}"/>
              </a:ext>
            </a:extLst>
          </p:cNvPr>
          <p:cNvSpPr txBox="1"/>
          <p:nvPr/>
        </p:nvSpPr>
        <p:spPr>
          <a:xfrm>
            <a:off x="3014292" y="6030362"/>
            <a:ext cx="7117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可拆卸外挂</a:t>
            </a:r>
            <a:r>
              <a:rPr lang="en-US" altLang="zh-CN" sz="1400" dirty="0"/>
              <a:t>PLUG</a:t>
            </a:r>
            <a:r>
              <a:rPr lang="zh-CN" altLang="en-US" sz="1400" dirty="0"/>
              <a:t>：</a:t>
            </a:r>
            <a:r>
              <a:rPr lang="en-US" altLang="zh-CN" sz="1400" dirty="0"/>
              <a:t>PLUG</a:t>
            </a:r>
            <a:r>
              <a:rPr lang="zh-CN" altLang="en-US" sz="1400" dirty="0"/>
              <a:t>另起一条困难路径（对主路径</a:t>
            </a:r>
            <a:r>
              <a:rPr lang="en-US" altLang="zh-CN" sz="1400" dirty="0"/>
              <a:t>decoder</a:t>
            </a:r>
            <a:r>
              <a:rPr lang="zh-CN" altLang="en-US" sz="1400" dirty="0"/>
              <a:t>进行</a:t>
            </a:r>
            <a:r>
              <a:rPr lang="en-US" altLang="zh-CN" sz="1400" dirty="0"/>
              <a:t>min-max</a:t>
            </a:r>
            <a:r>
              <a:rPr lang="zh-CN" altLang="en-US" sz="1400" dirty="0"/>
              <a:t>对抗训练）</a:t>
            </a:r>
          </a:p>
        </p:txBody>
      </p:sp>
      <p:cxnSp>
        <p:nvCxnSpPr>
          <p:cNvPr id="383" name="直接连接符 382">
            <a:extLst>
              <a:ext uri="{FF2B5EF4-FFF2-40B4-BE49-F238E27FC236}">
                <a16:creationId xmlns:a16="http://schemas.microsoft.com/office/drawing/2014/main" id="{DF7798EF-ADCD-633A-64C7-0ABAA9998963}"/>
              </a:ext>
            </a:extLst>
          </p:cNvPr>
          <p:cNvCxnSpPr>
            <a:cxnSpLocks/>
          </p:cNvCxnSpPr>
          <p:nvPr/>
        </p:nvCxnSpPr>
        <p:spPr>
          <a:xfrm>
            <a:off x="10061821" y="3762147"/>
            <a:ext cx="7471" cy="2268215"/>
          </a:xfrm>
          <a:prstGeom prst="line">
            <a:avLst/>
          </a:prstGeom>
          <a:ln w="952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文本框 390">
            <a:extLst>
              <a:ext uri="{FF2B5EF4-FFF2-40B4-BE49-F238E27FC236}">
                <a16:creationId xmlns:a16="http://schemas.microsoft.com/office/drawing/2014/main" id="{3C3492DB-88DE-9977-7053-C50BD2B6E871}"/>
              </a:ext>
            </a:extLst>
          </p:cNvPr>
          <p:cNvSpPr txBox="1"/>
          <p:nvPr/>
        </p:nvSpPr>
        <p:spPr>
          <a:xfrm>
            <a:off x="10320475" y="6037180"/>
            <a:ext cx="1666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zh-CN" altLang="en-US" dirty="0"/>
              <a:t>可拆卸输出监督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2C4309DE-D27B-C946-5F0C-BDEA36DEA6D8}"/>
              </a:ext>
            </a:extLst>
          </p:cNvPr>
          <p:cNvSpPr/>
          <p:nvPr/>
        </p:nvSpPr>
        <p:spPr>
          <a:xfrm>
            <a:off x="7306266" y="4628832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hard_changemap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BCE+Dice</a:t>
            </a:r>
            <a:r>
              <a:rPr lang="en-US" altLang="zh-CN" sz="1000" dirty="0">
                <a:solidFill>
                  <a:schemeClr val="tx1"/>
                </a:solidFill>
              </a:rPr>
              <a:t> VS GT</a:t>
            </a: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4BBD08B3-6074-13A5-FE98-CF0080E0A9FA}"/>
              </a:ext>
            </a:extLst>
          </p:cNvPr>
          <p:cNvSpPr/>
          <p:nvPr/>
        </p:nvSpPr>
        <p:spPr>
          <a:xfrm>
            <a:off x="8559341" y="4742029"/>
            <a:ext cx="613836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L_hard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421" name="直接箭头连接符 420">
            <a:extLst>
              <a:ext uri="{FF2B5EF4-FFF2-40B4-BE49-F238E27FC236}">
                <a16:creationId xmlns:a16="http://schemas.microsoft.com/office/drawing/2014/main" id="{D21B3F2E-20DA-B829-83A0-B8338D9A1CA8}"/>
              </a:ext>
            </a:extLst>
          </p:cNvPr>
          <p:cNvCxnSpPr>
            <a:cxnSpLocks/>
            <a:stCxn id="413" idx="3"/>
            <a:endCxn id="420" idx="1"/>
          </p:cNvCxnSpPr>
          <p:nvPr/>
        </p:nvCxnSpPr>
        <p:spPr>
          <a:xfrm>
            <a:off x="8395309" y="4872849"/>
            <a:ext cx="1640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矩形 424">
            <a:extLst>
              <a:ext uri="{FF2B5EF4-FFF2-40B4-BE49-F238E27FC236}">
                <a16:creationId xmlns:a16="http://schemas.microsoft.com/office/drawing/2014/main" id="{0DFD310F-BEE9-7A5D-0E9E-A7EDAF999B6E}"/>
              </a:ext>
            </a:extLst>
          </p:cNvPr>
          <p:cNvSpPr/>
          <p:nvPr/>
        </p:nvSpPr>
        <p:spPr>
          <a:xfrm>
            <a:off x="8876738" y="3820762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Student wants L_hard↓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0F389A86-FA75-E0FC-05B7-9B4B41F42947}"/>
              </a:ext>
            </a:extLst>
          </p:cNvPr>
          <p:cNvSpPr/>
          <p:nvPr/>
        </p:nvSpPr>
        <p:spPr>
          <a:xfrm>
            <a:off x="8881053" y="5440496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Mentor wants L_hard</a:t>
            </a:r>
            <a:r>
              <a:rPr lang="zh-CN" altLang="en-US" sz="1000" dirty="0">
                <a:solidFill>
                  <a:schemeClr val="tx1"/>
                </a:solidFill>
              </a:rPr>
              <a:t>↑</a:t>
            </a:r>
            <a:r>
              <a:rPr lang="fr-FR" altLang="zh-CN" sz="1000" dirty="0">
                <a:solidFill>
                  <a:schemeClr val="tx1"/>
                </a:solidFill>
              </a:rPr>
              <a:t>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93D366E7-6FFE-73EF-50C1-B0D3C0345033}"/>
              </a:ext>
            </a:extLst>
          </p:cNvPr>
          <p:cNvSpPr/>
          <p:nvPr/>
        </p:nvSpPr>
        <p:spPr>
          <a:xfrm>
            <a:off x="8008094" y="3938658"/>
            <a:ext cx="655134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+ L_hard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55160E8B-46D1-C9A8-BC7D-67E80E5A1CEE}"/>
              </a:ext>
            </a:extLst>
          </p:cNvPr>
          <p:cNvSpPr/>
          <p:nvPr/>
        </p:nvSpPr>
        <p:spPr>
          <a:xfrm>
            <a:off x="7993022" y="5567035"/>
            <a:ext cx="655134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- L_hard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38" name="直接箭头连接符 437">
            <a:extLst>
              <a:ext uri="{FF2B5EF4-FFF2-40B4-BE49-F238E27FC236}">
                <a16:creationId xmlns:a16="http://schemas.microsoft.com/office/drawing/2014/main" id="{9ABF21EA-9F96-A791-E82D-2068C4B000F9}"/>
              </a:ext>
            </a:extLst>
          </p:cNvPr>
          <p:cNvCxnSpPr>
            <a:cxnSpLocks/>
            <a:stCxn id="425" idx="1"/>
            <a:endCxn id="436" idx="3"/>
          </p:cNvCxnSpPr>
          <p:nvPr/>
        </p:nvCxnSpPr>
        <p:spPr>
          <a:xfrm flipH="1" flipV="1">
            <a:off x="8663228" y="4062502"/>
            <a:ext cx="213510" cy="2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直接箭头连接符 441">
            <a:extLst>
              <a:ext uri="{FF2B5EF4-FFF2-40B4-BE49-F238E27FC236}">
                <a16:creationId xmlns:a16="http://schemas.microsoft.com/office/drawing/2014/main" id="{6A13685C-4A94-DE3D-B673-04412C62D173}"/>
              </a:ext>
            </a:extLst>
          </p:cNvPr>
          <p:cNvCxnSpPr>
            <a:cxnSpLocks/>
            <a:stCxn id="426" idx="1"/>
            <a:endCxn id="437" idx="3"/>
          </p:cNvCxnSpPr>
          <p:nvPr/>
        </p:nvCxnSpPr>
        <p:spPr>
          <a:xfrm flipH="1">
            <a:off x="8648156" y="5684513"/>
            <a:ext cx="232897" cy="6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连接符: 肘形 452">
            <a:extLst>
              <a:ext uri="{FF2B5EF4-FFF2-40B4-BE49-F238E27FC236}">
                <a16:creationId xmlns:a16="http://schemas.microsoft.com/office/drawing/2014/main" id="{6795690B-7AE6-785B-706A-22BF8B20225B}"/>
              </a:ext>
            </a:extLst>
          </p:cNvPr>
          <p:cNvCxnSpPr>
            <a:cxnSpLocks/>
            <a:stCxn id="420" idx="3"/>
          </p:cNvCxnSpPr>
          <p:nvPr/>
        </p:nvCxnSpPr>
        <p:spPr>
          <a:xfrm flipV="1">
            <a:off x="9173177" y="4369134"/>
            <a:ext cx="248082" cy="5037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连接符: 肘形 455">
            <a:extLst>
              <a:ext uri="{FF2B5EF4-FFF2-40B4-BE49-F238E27FC236}">
                <a16:creationId xmlns:a16="http://schemas.microsoft.com/office/drawing/2014/main" id="{D8E6CA62-BC6D-033D-A8BC-4BE61B9B5250}"/>
              </a:ext>
            </a:extLst>
          </p:cNvPr>
          <p:cNvCxnSpPr>
            <a:cxnSpLocks/>
            <a:stCxn id="420" idx="3"/>
            <a:endCxn id="426" idx="0"/>
          </p:cNvCxnSpPr>
          <p:nvPr/>
        </p:nvCxnSpPr>
        <p:spPr>
          <a:xfrm>
            <a:off x="9173177" y="4872849"/>
            <a:ext cx="252398" cy="5676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 465">
            <a:extLst>
              <a:ext uri="{FF2B5EF4-FFF2-40B4-BE49-F238E27FC236}">
                <a16:creationId xmlns:a16="http://schemas.microsoft.com/office/drawing/2014/main" id="{C085C791-46EF-F256-6715-56BE263AA517}"/>
              </a:ext>
            </a:extLst>
          </p:cNvPr>
          <p:cNvSpPr/>
          <p:nvPr/>
        </p:nvSpPr>
        <p:spPr>
          <a:xfrm>
            <a:off x="6926747" y="3934742"/>
            <a:ext cx="856766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Student step</a:t>
            </a:r>
          </a:p>
        </p:txBody>
      </p:sp>
      <p:cxnSp>
        <p:nvCxnSpPr>
          <p:cNvPr id="467" name="直接箭头连接符 466">
            <a:extLst>
              <a:ext uri="{FF2B5EF4-FFF2-40B4-BE49-F238E27FC236}">
                <a16:creationId xmlns:a16="http://schemas.microsoft.com/office/drawing/2014/main" id="{CAF34CAD-01C1-68F8-4EF7-0D46F95E5DA8}"/>
              </a:ext>
            </a:extLst>
          </p:cNvPr>
          <p:cNvCxnSpPr>
            <a:cxnSpLocks/>
            <a:stCxn id="436" idx="1"/>
            <a:endCxn id="466" idx="3"/>
          </p:cNvCxnSpPr>
          <p:nvPr/>
        </p:nvCxnSpPr>
        <p:spPr>
          <a:xfrm flipH="1" flipV="1">
            <a:off x="7783513" y="4058586"/>
            <a:ext cx="224581" cy="3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矩形 471">
            <a:extLst>
              <a:ext uri="{FF2B5EF4-FFF2-40B4-BE49-F238E27FC236}">
                <a16:creationId xmlns:a16="http://schemas.microsoft.com/office/drawing/2014/main" id="{969B8CDA-7F45-EDE8-5EE4-7E1D9C35FA5A}"/>
              </a:ext>
            </a:extLst>
          </p:cNvPr>
          <p:cNvSpPr/>
          <p:nvPr/>
        </p:nvSpPr>
        <p:spPr>
          <a:xfrm>
            <a:off x="6903979" y="5571778"/>
            <a:ext cx="856766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Mentor step</a:t>
            </a:r>
          </a:p>
        </p:txBody>
      </p:sp>
      <p:cxnSp>
        <p:nvCxnSpPr>
          <p:cNvPr id="473" name="直接箭头连接符 472">
            <a:extLst>
              <a:ext uri="{FF2B5EF4-FFF2-40B4-BE49-F238E27FC236}">
                <a16:creationId xmlns:a16="http://schemas.microsoft.com/office/drawing/2014/main" id="{B243E137-6086-F1B5-F474-8D685CD27C8A}"/>
              </a:ext>
            </a:extLst>
          </p:cNvPr>
          <p:cNvCxnSpPr>
            <a:cxnSpLocks/>
            <a:stCxn id="437" idx="1"/>
            <a:endCxn id="472" idx="3"/>
          </p:cNvCxnSpPr>
          <p:nvPr/>
        </p:nvCxnSpPr>
        <p:spPr>
          <a:xfrm flipH="1">
            <a:off x="7760745" y="5690879"/>
            <a:ext cx="232277" cy="4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25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SAM Structure Loss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38A6FD-E100-03C0-6120-4B2B89CEC8AE}"/>
              </a:ext>
            </a:extLst>
          </p:cNvPr>
          <p:cNvSpPr/>
          <p:nvPr/>
        </p:nvSpPr>
        <p:spPr>
          <a:xfrm>
            <a:off x="554776" y="1748712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7D13BF-41CC-16DA-8AB3-B238CF36612D}"/>
              </a:ext>
            </a:extLst>
          </p:cNvPr>
          <p:cNvSpPr txBox="1"/>
          <p:nvPr/>
        </p:nvSpPr>
        <p:spPr>
          <a:xfrm>
            <a:off x="149776" y="1475081"/>
            <a:ext cx="1492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来自</a:t>
            </a:r>
            <a:r>
              <a:rPr lang="en-US" altLang="zh-CN" sz="1200" dirty="0"/>
              <a:t>A2Net_Decoder</a:t>
            </a:r>
            <a:endParaRPr lang="zh-CN" altLang="en-US" sz="1200" dirty="0"/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2BA2D17-B0C0-A43B-F165-5D307AF3548F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1375862" y="1361530"/>
            <a:ext cx="941388" cy="498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6E0F7F4-8F97-0D16-79E4-C0CEE67388E6}"/>
              </a:ext>
            </a:extLst>
          </p:cNvPr>
          <p:cNvSpPr txBox="1"/>
          <p:nvPr/>
        </p:nvSpPr>
        <p:spPr>
          <a:xfrm>
            <a:off x="2317250" y="1223030"/>
            <a:ext cx="1089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CN" sz="1200" dirty="0"/>
              <a:t>Boundary Loss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FE207-6B05-EADB-57F7-A7AE7BCD12F1}"/>
              </a:ext>
            </a:extLst>
          </p:cNvPr>
          <p:cNvSpPr txBox="1"/>
          <p:nvPr/>
        </p:nvSpPr>
        <p:spPr>
          <a:xfrm>
            <a:off x="2317250" y="3180218"/>
            <a:ext cx="939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CN" sz="1200" dirty="0"/>
              <a:t>Affinity Loss</a:t>
            </a:r>
            <a:endParaRPr lang="zh-CN" altLang="en-US" sz="1200" dirty="0"/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A23A21D-9512-FB9B-99F2-79C1CCB157D9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1375862" y="1860464"/>
            <a:ext cx="941388" cy="14582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09A727B-64FC-58E1-9C87-BC547C79078E}"/>
              </a:ext>
            </a:extLst>
          </p:cNvPr>
          <p:cNvSpPr/>
          <p:nvPr/>
        </p:nvSpPr>
        <p:spPr>
          <a:xfrm>
            <a:off x="4558812" y="804546"/>
            <a:ext cx="1215000" cy="556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boundary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quality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91B83D85-3241-BCC5-E2E0-76CCDB2C4358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rot="10800000" flipV="1">
            <a:off x="3406780" y="1083038"/>
            <a:ext cx="1152033" cy="278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FBE6A7B-1748-9305-BBF3-06167E094545}"/>
              </a:ext>
            </a:extLst>
          </p:cNvPr>
          <p:cNvSpPr/>
          <p:nvPr/>
        </p:nvSpPr>
        <p:spPr>
          <a:xfrm>
            <a:off x="4554340" y="1808519"/>
            <a:ext cx="1215000" cy="4989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GT</a:t>
            </a:r>
            <a:r>
              <a:rPr lang="zh-CN" altLang="en-US" sz="1000" dirty="0">
                <a:solidFill>
                  <a:schemeClr val="tx1"/>
                </a:solidFill>
              </a:rPr>
              <a:t>变化边界</a:t>
            </a:r>
            <a:br>
              <a:rPr lang="en-US" altLang="zh-CN" sz="1000" dirty="0">
                <a:solidFill>
                  <a:schemeClr val="tx1"/>
                </a:solidFill>
              </a:rPr>
            </a:br>
            <a:r>
              <a:rPr lang="zh-CN" altLang="en-US" sz="1000" dirty="0">
                <a:solidFill>
                  <a:schemeClr val="tx1"/>
                </a:solidFill>
              </a:rPr>
              <a:t>附近区域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881E9C7-E89A-A720-8B14-D1D2014ACE91}"/>
              </a:ext>
            </a:extLst>
          </p:cNvPr>
          <p:cNvCxnSpPr>
            <a:cxnSpLocks/>
            <a:stCxn id="36" idx="1"/>
            <a:endCxn id="19" idx="3"/>
          </p:cNvCxnSpPr>
          <p:nvPr/>
        </p:nvCxnSpPr>
        <p:spPr>
          <a:xfrm rot="10800000">
            <a:off x="3406780" y="1361530"/>
            <a:ext cx="1147561" cy="6964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F557037-281F-0F10-79EF-22D0093F6D18}"/>
              </a:ext>
            </a:extLst>
          </p:cNvPr>
          <p:cNvSpPr/>
          <p:nvPr/>
        </p:nvSpPr>
        <p:spPr>
          <a:xfrm>
            <a:off x="4554340" y="3327821"/>
            <a:ext cx="1215000" cy="556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instance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quality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BE56DB6-201C-75E8-4614-CBA6A488F094}"/>
              </a:ext>
            </a:extLst>
          </p:cNvPr>
          <p:cNvCxnSpPr>
            <a:cxnSpLocks/>
            <a:stCxn id="40" idx="1"/>
            <a:endCxn id="20" idx="3"/>
          </p:cNvCxnSpPr>
          <p:nvPr/>
        </p:nvCxnSpPr>
        <p:spPr>
          <a:xfrm rot="10800000">
            <a:off x="3257060" y="3318719"/>
            <a:ext cx="1297281" cy="2875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36B51A67-879F-6624-AE3B-28E9DFE32A0D}"/>
              </a:ext>
            </a:extLst>
          </p:cNvPr>
          <p:cNvSpPr/>
          <p:nvPr/>
        </p:nvSpPr>
        <p:spPr>
          <a:xfrm>
            <a:off x="4563197" y="2541636"/>
            <a:ext cx="1215000" cy="3344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GT</a:t>
            </a:r>
            <a:r>
              <a:rPr lang="zh-CN" altLang="en-US" sz="1000" dirty="0">
                <a:solidFill>
                  <a:schemeClr val="tx1"/>
                </a:solidFill>
              </a:rPr>
              <a:t>变化区域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E797097-BD7B-038B-C60B-C33722F0A96E}"/>
              </a:ext>
            </a:extLst>
          </p:cNvPr>
          <p:cNvCxnSpPr>
            <a:cxnSpLocks/>
            <a:stCxn id="44" idx="1"/>
            <a:endCxn id="20" idx="3"/>
          </p:cNvCxnSpPr>
          <p:nvPr/>
        </p:nvCxnSpPr>
        <p:spPr>
          <a:xfrm rot="10800000" flipV="1">
            <a:off x="3257059" y="2708872"/>
            <a:ext cx="1306138" cy="6098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7321104B-829B-1001-F4FA-99A9DDBE9444}"/>
              </a:ext>
            </a:extLst>
          </p:cNvPr>
          <p:cNvSpPr txBox="1"/>
          <p:nvPr/>
        </p:nvSpPr>
        <p:spPr>
          <a:xfrm>
            <a:off x="2384961" y="148025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边界要清楚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1D8902B-37D8-20F8-F25E-68EDBFF0E08B}"/>
              </a:ext>
            </a:extLst>
          </p:cNvPr>
          <p:cNvSpPr txBox="1"/>
          <p:nvPr/>
        </p:nvSpPr>
        <p:spPr>
          <a:xfrm>
            <a:off x="2302952" y="296401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对象内部要一致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87A691-8A74-B208-0C7F-4EC1AA8228B1}"/>
              </a:ext>
            </a:extLst>
          </p:cNvPr>
          <p:cNvSpPr/>
          <p:nvPr/>
        </p:nvSpPr>
        <p:spPr>
          <a:xfrm>
            <a:off x="6406212" y="1960692"/>
            <a:ext cx="2448346" cy="783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Structure Loss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Lsam = 0.7 Lboundary+ 0.3 Laffinity </a:t>
            </a:r>
            <a:br>
              <a:rPr lang="fr-FR" altLang="zh-CN" sz="1000" dirty="0">
                <a:solidFill>
                  <a:schemeClr val="tx1"/>
                </a:solidFill>
              </a:rPr>
            </a:br>
            <a:r>
              <a:rPr lang="zh-CN" altLang="en-US" sz="1000" dirty="0">
                <a:solidFill>
                  <a:schemeClr val="tx1"/>
                </a:solidFill>
              </a:rPr>
              <a:t>（权重暂时设置为</a:t>
            </a:r>
            <a:r>
              <a:rPr lang="en-US" altLang="zh-CN" sz="1000" dirty="0">
                <a:solidFill>
                  <a:schemeClr val="tx1"/>
                </a:solidFill>
              </a:rPr>
              <a:t>0.7/0.3</a:t>
            </a:r>
            <a:r>
              <a:rPr lang="zh-CN" altLang="en-US" sz="1000" dirty="0">
                <a:solidFill>
                  <a:schemeClr val="tx1"/>
                </a:solidFill>
              </a:rPr>
              <a:t>）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74" name="右大括号 73">
            <a:extLst>
              <a:ext uri="{FF2B5EF4-FFF2-40B4-BE49-F238E27FC236}">
                <a16:creationId xmlns:a16="http://schemas.microsoft.com/office/drawing/2014/main" id="{7ABFA0AD-03DF-3D22-576E-3CFA82A75079}"/>
              </a:ext>
            </a:extLst>
          </p:cNvPr>
          <p:cNvSpPr/>
          <p:nvPr/>
        </p:nvSpPr>
        <p:spPr>
          <a:xfrm>
            <a:off x="5909775" y="820196"/>
            <a:ext cx="399565" cy="30646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8F929C2-60F6-262C-FA3A-CDC6ED8AC131}"/>
              </a:ext>
            </a:extLst>
          </p:cNvPr>
          <p:cNvSpPr/>
          <p:nvPr/>
        </p:nvSpPr>
        <p:spPr>
          <a:xfrm>
            <a:off x="7504558" y="3921292"/>
            <a:ext cx="1350000" cy="4989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+ </a:t>
            </a:r>
            <a:r>
              <a:rPr lang="zh-CN" altLang="en-US" sz="1000" dirty="0">
                <a:solidFill>
                  <a:schemeClr val="tx1"/>
                </a:solidFill>
              </a:rPr>
              <a:t>主 </a:t>
            </a:r>
            <a:r>
              <a:rPr lang="fr-FR" altLang="zh-CN" sz="1000" dirty="0">
                <a:solidFill>
                  <a:schemeClr val="tx1"/>
                </a:solidFill>
              </a:rPr>
              <a:t>BCE + Dice Loss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70638AE-8C04-D3D2-C59F-B348B326F20B}"/>
              </a:ext>
            </a:extLst>
          </p:cNvPr>
          <p:cNvSpPr txBox="1"/>
          <p:nvPr/>
        </p:nvSpPr>
        <p:spPr>
          <a:xfrm>
            <a:off x="10601094" y="2901367"/>
            <a:ext cx="1251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组合为</a:t>
            </a:r>
            <a:r>
              <a:rPr lang="fr-FR" altLang="zh-CN" sz="1200" dirty="0"/>
              <a:t>Total Loss</a:t>
            </a:r>
            <a:endParaRPr lang="en-US" altLang="zh-CN" sz="1200" dirty="0"/>
          </a:p>
          <a:p>
            <a:r>
              <a:rPr lang="zh-CN" altLang="en-US" sz="1200" dirty="0"/>
              <a:t>更新</a:t>
            </a:r>
            <a:r>
              <a:rPr lang="en-US" altLang="zh-CN" sz="1200" dirty="0"/>
              <a:t>A2Net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E87A3FC-F965-27BD-05A2-4CE57F3E325A}"/>
              </a:ext>
            </a:extLst>
          </p:cNvPr>
          <p:cNvSpPr txBox="1"/>
          <p:nvPr/>
        </p:nvSpPr>
        <p:spPr>
          <a:xfrm>
            <a:off x="373204" y="4735203"/>
            <a:ext cx="11800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fr-FR" altLang="zh-CN" sz="1800" dirty="0"/>
              <a:t> Boundary :</a:t>
            </a:r>
            <a:r>
              <a:rPr lang="en-US" altLang="zh-CN" dirty="0"/>
              <a:t>SAM </a:t>
            </a:r>
            <a:r>
              <a:rPr lang="zh-CN" altLang="en-US" dirty="0"/>
              <a:t>告诉学生“对象边缘在哪里”，</a:t>
            </a:r>
            <a:r>
              <a:rPr lang="en-US" altLang="zh-CN" dirty="0"/>
              <a:t>GT </a:t>
            </a:r>
            <a:r>
              <a:rPr lang="zh-CN" altLang="en-US" dirty="0"/>
              <a:t>告诉学生“这里是不是真的发生变化”。只有两者重合或接近的位置，</a:t>
            </a:r>
            <a:r>
              <a:rPr lang="en-US" altLang="zh-CN" dirty="0"/>
              <a:t>SAM </a:t>
            </a:r>
            <a:r>
              <a:rPr lang="zh-CN" altLang="en-US" dirty="0"/>
              <a:t>的边界知识才会被采用</a:t>
            </a:r>
          </a:p>
        </p:txBody>
      </p:sp>
      <p:sp>
        <p:nvSpPr>
          <p:cNvPr id="86" name="箭头: 上下 85">
            <a:extLst>
              <a:ext uri="{FF2B5EF4-FFF2-40B4-BE49-F238E27FC236}">
                <a16:creationId xmlns:a16="http://schemas.microsoft.com/office/drawing/2014/main" id="{E21CB248-0D21-B0C5-3A4B-778B558E344F}"/>
              </a:ext>
            </a:extLst>
          </p:cNvPr>
          <p:cNvSpPr/>
          <p:nvPr/>
        </p:nvSpPr>
        <p:spPr>
          <a:xfrm>
            <a:off x="5074451" y="1370632"/>
            <a:ext cx="160053" cy="43788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箭头: 上下 88">
            <a:extLst>
              <a:ext uri="{FF2B5EF4-FFF2-40B4-BE49-F238E27FC236}">
                <a16:creationId xmlns:a16="http://schemas.microsoft.com/office/drawing/2014/main" id="{E8E63CF0-8112-9122-E453-0A5AF171EE37}"/>
              </a:ext>
            </a:extLst>
          </p:cNvPr>
          <p:cNvSpPr/>
          <p:nvPr/>
        </p:nvSpPr>
        <p:spPr>
          <a:xfrm>
            <a:off x="5072004" y="2891346"/>
            <a:ext cx="160053" cy="43788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124C460-A152-EF71-F475-2B65F1939C9E}"/>
              </a:ext>
            </a:extLst>
          </p:cNvPr>
          <p:cNvSpPr txBox="1"/>
          <p:nvPr/>
        </p:nvSpPr>
        <p:spPr>
          <a:xfrm>
            <a:off x="373204" y="5484797"/>
            <a:ext cx="11032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fr-FR" altLang="zh-CN" sz="1800" dirty="0"/>
              <a:t> Affinity:</a:t>
            </a:r>
            <a:r>
              <a:rPr lang="zh-CN" altLang="en-US" dirty="0"/>
              <a:t>在 </a:t>
            </a:r>
            <a:r>
              <a:rPr lang="fr-FR" altLang="zh-CN" dirty="0"/>
              <a:t>GT </a:t>
            </a:r>
            <a:r>
              <a:rPr lang="zh-CN" altLang="en-US" dirty="0"/>
              <a:t>已确认发生变化的可靠 </a:t>
            </a:r>
            <a:r>
              <a:rPr lang="fr-FR" altLang="zh-CN" dirty="0"/>
              <a:t>SAM </a:t>
            </a:r>
            <a:r>
              <a:rPr lang="zh-CN" altLang="en-US" dirty="0"/>
              <a:t>对象内部，要求 </a:t>
            </a:r>
            <a:r>
              <a:rPr lang="fr-FR" altLang="zh-CN" dirty="0"/>
              <a:t>Changemap </a:t>
            </a:r>
            <a:r>
              <a:rPr lang="zh-CN" altLang="en-US" dirty="0"/>
              <a:t>变化概率保持一致。</a:t>
            </a:r>
          </a:p>
        </p:txBody>
      </p: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0D810CA8-3788-B9F7-4904-0D446DC79AA9}"/>
              </a:ext>
            </a:extLst>
          </p:cNvPr>
          <p:cNvCxnSpPr>
            <a:cxnSpLocks/>
            <a:stCxn id="4" idx="2"/>
            <a:endCxn id="75" idx="1"/>
          </p:cNvCxnSpPr>
          <p:nvPr/>
        </p:nvCxnSpPr>
        <p:spPr>
          <a:xfrm rot="16200000" flipH="1">
            <a:off x="3135666" y="-198133"/>
            <a:ext cx="2198544" cy="65392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70A5ED37-907B-9D21-E620-2AF4251C9241}"/>
              </a:ext>
            </a:extLst>
          </p:cNvPr>
          <p:cNvCxnSpPr>
            <a:cxnSpLocks/>
            <a:stCxn id="54" idx="3"/>
            <a:endCxn id="80" idx="1"/>
          </p:cNvCxnSpPr>
          <p:nvPr/>
        </p:nvCxnSpPr>
        <p:spPr>
          <a:xfrm>
            <a:off x="8854558" y="2352500"/>
            <a:ext cx="1746536" cy="779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4C6D3BF4-A044-FED4-1AAD-6741BFD5F633}"/>
              </a:ext>
            </a:extLst>
          </p:cNvPr>
          <p:cNvCxnSpPr>
            <a:cxnSpLocks/>
            <a:stCxn id="75" idx="3"/>
            <a:endCxn id="80" idx="1"/>
          </p:cNvCxnSpPr>
          <p:nvPr/>
        </p:nvCxnSpPr>
        <p:spPr>
          <a:xfrm flipV="1">
            <a:off x="8854558" y="3132200"/>
            <a:ext cx="1746536" cy="10385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235FC9D-EF11-99F6-9355-FB9C9BB6FD94}"/>
              </a:ext>
            </a:extLst>
          </p:cNvPr>
          <p:cNvSpPr txBox="1"/>
          <p:nvPr/>
        </p:nvSpPr>
        <p:spPr>
          <a:xfrm>
            <a:off x="7120390" y="929149"/>
            <a:ext cx="235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FD1E80A7-77C6-2A10-A2A2-500F14C0D224}"/>
              </a:ext>
            </a:extLst>
          </p:cNvPr>
          <p:cNvCxnSpPr>
            <a:cxnSpLocks/>
            <a:stCxn id="107" idx="1"/>
            <a:endCxn id="25" idx="3"/>
          </p:cNvCxnSpPr>
          <p:nvPr/>
        </p:nvCxnSpPr>
        <p:spPr>
          <a:xfrm flipH="1">
            <a:off x="5773812" y="1083038"/>
            <a:ext cx="1346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E9124C-F68A-E151-F751-10F9E491E602}"/>
              </a:ext>
            </a:extLst>
          </p:cNvPr>
          <p:cNvSpPr txBox="1"/>
          <p:nvPr/>
        </p:nvSpPr>
        <p:spPr>
          <a:xfrm>
            <a:off x="7124774" y="3446008"/>
            <a:ext cx="235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14B97C4-D7EC-6193-7E8D-F2C0923DEA1F}"/>
              </a:ext>
            </a:extLst>
          </p:cNvPr>
          <p:cNvCxnSpPr>
            <a:cxnSpLocks/>
            <a:stCxn id="118" idx="1"/>
            <a:endCxn id="40" idx="3"/>
          </p:cNvCxnSpPr>
          <p:nvPr/>
        </p:nvCxnSpPr>
        <p:spPr>
          <a:xfrm flipH="1">
            <a:off x="5769340" y="3599897"/>
            <a:ext cx="1355434" cy="6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1384B11-438A-57C2-4998-508337FFCA0F}"/>
              </a:ext>
            </a:extLst>
          </p:cNvPr>
          <p:cNvSpPr txBox="1"/>
          <p:nvPr/>
        </p:nvSpPr>
        <p:spPr>
          <a:xfrm>
            <a:off x="6469812" y="8698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提供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04715D8-3521-36D2-7084-65AA3BEA3D3A}"/>
              </a:ext>
            </a:extLst>
          </p:cNvPr>
          <p:cNvSpPr txBox="1"/>
          <p:nvPr/>
        </p:nvSpPr>
        <p:spPr>
          <a:xfrm>
            <a:off x="6491896" y="33630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提供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EC46A844-7B86-6C81-122F-EBA57EAB99D1}"/>
              </a:ext>
            </a:extLst>
          </p:cNvPr>
          <p:cNvSpPr txBox="1"/>
          <p:nvPr/>
        </p:nvSpPr>
        <p:spPr>
          <a:xfrm>
            <a:off x="65144" y="6057773"/>
            <a:ext cx="118000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注：双时相的分割结果直接相减会把分割误差、配准误差和对象碎片化都变成伪变化，所以我们只利用 </a:t>
            </a:r>
            <a:r>
              <a:rPr lang="en-US" altLang="zh-CN" sz="1600" dirty="0"/>
              <a:t>SAM2 </a:t>
            </a:r>
            <a:r>
              <a:rPr lang="zh-CN" altLang="en-US" sz="1600" dirty="0"/>
              <a:t>的结构先验，真正的变化判断仍由 </a:t>
            </a:r>
            <a:r>
              <a:rPr lang="en-US" altLang="zh-CN" sz="1600" dirty="0"/>
              <a:t>GT </a:t>
            </a:r>
            <a:r>
              <a:rPr lang="zh-CN" altLang="en-US" sz="1600" dirty="0"/>
              <a:t>监督下的 </a:t>
            </a:r>
            <a:r>
              <a:rPr lang="en-US" altLang="zh-CN" sz="1600" dirty="0"/>
              <a:t>A2Net </a:t>
            </a:r>
            <a:r>
              <a:rPr lang="zh-CN" altLang="en-US" sz="1600" dirty="0"/>
              <a:t>完成。</a:t>
            </a:r>
          </a:p>
        </p:txBody>
      </p:sp>
    </p:spTree>
    <p:extLst>
      <p:ext uri="{BB962C8B-B14F-4D97-AF65-F5344CB8AC3E}">
        <p14:creationId xmlns:p14="http://schemas.microsoft.com/office/powerpoint/2010/main" val="56500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PLUG Mentor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41200A-8D63-F765-9B3A-EEF727990A03}"/>
              </a:ext>
            </a:extLst>
          </p:cNvPr>
          <p:cNvSpPr/>
          <p:nvPr/>
        </p:nvSpPr>
        <p:spPr>
          <a:xfrm>
            <a:off x="647082" y="1573412"/>
            <a:ext cx="34705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A2F02E-D17D-285D-288E-64AC486C79DE}"/>
              </a:ext>
            </a:extLst>
          </p:cNvPr>
          <p:cNvSpPr/>
          <p:nvPr/>
        </p:nvSpPr>
        <p:spPr>
          <a:xfrm>
            <a:off x="625987" y="2482384"/>
            <a:ext cx="34705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876B65-E53A-F033-57A6-3BE283274F0A}"/>
              </a:ext>
            </a:extLst>
          </p:cNvPr>
          <p:cNvSpPr/>
          <p:nvPr/>
        </p:nvSpPr>
        <p:spPr>
          <a:xfrm>
            <a:off x="2197859" y="1695409"/>
            <a:ext cx="891881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差异信息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|F2—F1|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BE0E63CA-D2F1-2112-8587-56EEEF8A46CE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994134" y="1704232"/>
            <a:ext cx="1019636" cy="4694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ED17464-8B65-630C-4AAD-DD1C7D5CC81A}"/>
              </a:ext>
            </a:extLst>
          </p:cNvPr>
          <p:cNvSpPr/>
          <p:nvPr/>
        </p:nvSpPr>
        <p:spPr>
          <a:xfrm>
            <a:off x="2197859" y="2277488"/>
            <a:ext cx="891881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特征强度</a:t>
            </a:r>
            <a:r>
              <a:rPr lang="en-US" altLang="zh-CN" sz="1200" dirty="0">
                <a:solidFill>
                  <a:schemeClr val="tx1"/>
                </a:solidFill>
              </a:rPr>
              <a:t>|F1|+|F2|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9402C0-BFE1-2C6B-07D6-8B4AF8A2CC23}"/>
              </a:ext>
            </a:extLst>
          </p:cNvPr>
          <p:cNvSpPr/>
          <p:nvPr/>
        </p:nvSpPr>
        <p:spPr>
          <a:xfrm>
            <a:off x="2013770" y="1603314"/>
            <a:ext cx="1305000" cy="1140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FC79050-E3BC-70C2-7EA2-398A520CB50F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973039" y="2173669"/>
            <a:ext cx="1040731" cy="439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04FF1F8-61C6-7D57-5E30-540E386DDD27}"/>
              </a:ext>
            </a:extLst>
          </p:cNvPr>
          <p:cNvSpPr/>
          <p:nvPr/>
        </p:nvSpPr>
        <p:spPr>
          <a:xfrm>
            <a:off x="3685906" y="1603313"/>
            <a:ext cx="1686176" cy="1140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4928A0-9A14-043C-474B-758E9585608D}"/>
              </a:ext>
            </a:extLst>
          </p:cNvPr>
          <p:cNvSpPr/>
          <p:nvPr/>
        </p:nvSpPr>
        <p:spPr>
          <a:xfrm>
            <a:off x="3914726" y="1704232"/>
            <a:ext cx="1232356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Spatial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哪里容易？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F9FC4D-E7F6-645F-21D1-76D4B7D919DC}"/>
              </a:ext>
            </a:extLst>
          </p:cNvPr>
          <p:cNvSpPr/>
          <p:nvPr/>
        </p:nvSpPr>
        <p:spPr>
          <a:xfrm>
            <a:off x="3913559" y="2252803"/>
            <a:ext cx="1233523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Channel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哪些通道容易？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F757E76-7752-ABB0-DD84-582E0888CD16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 flipV="1">
            <a:off x="3318770" y="2173668"/>
            <a:ext cx="3671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323CE84-0A17-F190-9B3E-27EA690814C8}"/>
              </a:ext>
            </a:extLst>
          </p:cNvPr>
          <p:cNvSpPr/>
          <p:nvPr/>
        </p:nvSpPr>
        <p:spPr>
          <a:xfrm>
            <a:off x="5618635" y="1927117"/>
            <a:ext cx="1518086" cy="493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200" dirty="0">
                <a:solidFill>
                  <a:schemeClr val="tx1"/>
                </a:solidFill>
              </a:rPr>
              <a:t>Importance 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空间 </a:t>
            </a:r>
            <a:r>
              <a:rPr lang="en-US" altLang="zh-CN" sz="1200" dirty="0">
                <a:solidFill>
                  <a:schemeClr val="tx1"/>
                </a:solidFill>
              </a:rPr>
              <a:t>× </a:t>
            </a:r>
            <a:r>
              <a:rPr lang="zh-CN" altLang="en-US" sz="1200" dirty="0">
                <a:solidFill>
                  <a:schemeClr val="tx1"/>
                </a:solidFill>
              </a:rPr>
              <a:t>通道重要性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B17DCCB-1055-D6ED-0E84-92FDADD814C2}"/>
              </a:ext>
            </a:extLst>
          </p:cNvPr>
          <p:cNvCxnSpPr>
            <a:cxnSpLocks/>
            <a:stCxn id="27" idx="3"/>
            <a:endCxn id="38" idx="1"/>
          </p:cNvCxnSpPr>
          <p:nvPr/>
        </p:nvCxnSpPr>
        <p:spPr>
          <a:xfrm flipV="1">
            <a:off x="5372082" y="2173667"/>
            <a:ext cx="24655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71B857E2-D1F1-5DDF-ECBC-FF4CCB0ACA5D}"/>
              </a:ext>
            </a:extLst>
          </p:cNvPr>
          <p:cNvSpPr/>
          <p:nvPr/>
        </p:nvSpPr>
        <p:spPr>
          <a:xfrm>
            <a:off x="7311000" y="1989000"/>
            <a:ext cx="29210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1200" dirty="0">
                <a:solidFill>
                  <a:schemeClr val="tx1"/>
                </a:solidFill>
              </a:rPr>
              <a:t>retention = 1 - α × importance </a:t>
            </a:r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fr-FR" altLang="zh-CN" sz="1200" dirty="0">
                <a:solidFill>
                  <a:schemeClr val="tx1"/>
                </a:solidFill>
              </a:rPr>
              <a:t>α ≤ 0.35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F2EF6B1-4975-BA42-ACCF-1E2AD12C37BE}"/>
              </a:ext>
            </a:extLst>
          </p:cNvPr>
          <p:cNvCxnSpPr>
            <a:cxnSpLocks/>
            <a:stCxn id="38" idx="3"/>
            <a:endCxn id="49" idx="1"/>
          </p:cNvCxnSpPr>
          <p:nvPr/>
        </p:nvCxnSpPr>
        <p:spPr>
          <a:xfrm flipV="1">
            <a:off x="7136721" y="2173666"/>
            <a:ext cx="17427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8BFD7114-D64F-15B3-F8E5-D2A02E9D76B0}"/>
              </a:ext>
            </a:extLst>
          </p:cNvPr>
          <p:cNvSpPr/>
          <p:nvPr/>
        </p:nvSpPr>
        <p:spPr>
          <a:xfrm>
            <a:off x="8169076" y="2559356"/>
            <a:ext cx="12049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1200" dirty="0">
                <a:solidFill>
                  <a:schemeClr val="tx1"/>
                </a:solidFill>
              </a:rPr>
              <a:t>SAME retention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B9485CB-BCCE-D00E-D55A-3D6275B45FF2}"/>
              </a:ext>
            </a:extLst>
          </p:cNvPr>
          <p:cNvCxnSpPr>
            <a:cxnSpLocks/>
            <a:stCxn id="49" idx="2"/>
            <a:endCxn id="62" idx="0"/>
          </p:cNvCxnSpPr>
          <p:nvPr/>
        </p:nvCxnSpPr>
        <p:spPr>
          <a:xfrm flipH="1">
            <a:off x="8771540" y="2358332"/>
            <a:ext cx="1" cy="201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84C9D774-C11E-427D-BB36-388188E82E77}"/>
              </a:ext>
            </a:extLst>
          </p:cNvPr>
          <p:cNvSpPr txBox="1"/>
          <p:nvPr/>
        </p:nvSpPr>
        <p:spPr>
          <a:xfrm>
            <a:off x="471000" y="4204728"/>
            <a:ext cx="11448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Mentor </a:t>
            </a:r>
            <a:r>
              <a:rPr lang="zh-CN" altLang="en-US" dirty="0"/>
              <a:t>看双时相特征 → 找“容易证据” → 生成 </a:t>
            </a:r>
            <a:r>
              <a:rPr lang="en-US" altLang="zh-CN" dirty="0"/>
              <a:t>retention → </a:t>
            </a:r>
            <a:r>
              <a:rPr lang="zh-CN" altLang="en-US" dirty="0"/>
              <a:t>软削弱这些证据 → </a:t>
            </a:r>
            <a:r>
              <a:rPr lang="en-US" altLang="zh-CN" dirty="0"/>
              <a:t>A2Net </a:t>
            </a:r>
            <a:r>
              <a:rPr lang="zh-CN" altLang="en-US" dirty="0"/>
              <a:t>再做一次困难变化检测。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300EF2-E9C3-2CE5-8D73-69B7BB0683A3}"/>
              </a:ext>
            </a:extLst>
          </p:cNvPr>
          <p:cNvSpPr txBox="1"/>
          <p:nvPr/>
        </p:nvSpPr>
        <p:spPr>
          <a:xfrm>
            <a:off x="9595024" y="2473127"/>
            <a:ext cx="1427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hard_F1 = F1 × retention</a:t>
            </a:r>
            <a:endParaRPr lang="zh-CN" altLang="en-US" sz="9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2518C5C-21A8-2691-03DA-88AFA83096BD}"/>
              </a:ext>
            </a:extLst>
          </p:cNvPr>
          <p:cNvSpPr txBox="1"/>
          <p:nvPr/>
        </p:nvSpPr>
        <p:spPr>
          <a:xfrm>
            <a:off x="9608980" y="2727089"/>
            <a:ext cx="1399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hard_F2 = F2 × retention</a:t>
            </a:r>
            <a:endParaRPr lang="zh-CN" altLang="en-US" sz="900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CA533C7-A2EE-38F5-DE34-67665FA049B3}"/>
              </a:ext>
            </a:extLst>
          </p:cNvPr>
          <p:cNvCxnSpPr>
            <a:cxnSpLocks/>
            <a:stCxn id="62" idx="3"/>
            <a:endCxn id="69" idx="1"/>
          </p:cNvCxnSpPr>
          <p:nvPr/>
        </p:nvCxnSpPr>
        <p:spPr>
          <a:xfrm flipV="1">
            <a:off x="9374004" y="2588543"/>
            <a:ext cx="221020" cy="155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A2DCD07-0E9B-8CE4-4908-E953C2F25495}"/>
              </a:ext>
            </a:extLst>
          </p:cNvPr>
          <p:cNvCxnSpPr>
            <a:cxnSpLocks/>
            <a:stCxn id="62" idx="3"/>
            <a:endCxn id="70" idx="1"/>
          </p:cNvCxnSpPr>
          <p:nvPr/>
        </p:nvCxnSpPr>
        <p:spPr>
          <a:xfrm>
            <a:off x="9374004" y="2744022"/>
            <a:ext cx="234976" cy="9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28BDC9CF-61B4-AA10-01FD-F77031D4CB96}"/>
              </a:ext>
            </a:extLst>
          </p:cNvPr>
          <p:cNvSpPr txBox="1"/>
          <p:nvPr/>
        </p:nvSpPr>
        <p:spPr>
          <a:xfrm>
            <a:off x="471000" y="4918248"/>
            <a:ext cx="11136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即主路径是正常做题，</a:t>
            </a:r>
            <a:r>
              <a:rPr lang="en-US" altLang="zh-CN" dirty="0"/>
              <a:t>Mentor </a:t>
            </a:r>
            <a:r>
              <a:rPr lang="zh-CN" altLang="en-US" dirty="0"/>
              <a:t>会把学生最容易看的提示遮掉一点，再让它重新做同一道题。学生如果还能做对，说明它学到的变化表征更鲁棒。</a:t>
            </a:r>
          </a:p>
        </p:txBody>
      </p:sp>
    </p:spTree>
    <p:extLst>
      <p:ext uri="{BB962C8B-B14F-4D97-AF65-F5344CB8AC3E}">
        <p14:creationId xmlns:p14="http://schemas.microsoft.com/office/powerpoint/2010/main" val="386632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数据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F05C76-85E5-4841-77C1-7806FB08C0A6}"/>
              </a:ext>
            </a:extLst>
          </p:cNvPr>
          <p:cNvSpPr txBox="1"/>
          <p:nvPr/>
        </p:nvSpPr>
        <p:spPr>
          <a:xfrm>
            <a:off x="17650" y="774000"/>
            <a:ext cx="118226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SAM2 </a:t>
            </a:r>
            <a:r>
              <a:rPr lang="zh-CN" altLang="en-US" dirty="0"/>
              <a:t>可学习参数：</a:t>
            </a:r>
            <a:r>
              <a:rPr lang="en-US" altLang="zh-CN" dirty="0"/>
              <a:t>0M</a:t>
            </a:r>
            <a:r>
              <a:rPr lang="zh-CN" altLang="en-US" dirty="0"/>
              <a:t>，离线教师，不参与训练和推理</a:t>
            </a:r>
            <a:endParaRPr lang="en-US" altLang="zh-CN" dirty="0"/>
          </a:p>
          <a:p>
            <a:r>
              <a:rPr lang="en-US" altLang="zh-CN" dirty="0"/>
              <a:t>PLUG Mentor</a:t>
            </a:r>
            <a:r>
              <a:rPr lang="zh-CN" altLang="en-US" dirty="0"/>
              <a:t>参数：</a:t>
            </a:r>
            <a:r>
              <a:rPr lang="en-US" altLang="zh-CN" dirty="0"/>
              <a:t>25.48M</a:t>
            </a:r>
            <a:r>
              <a:rPr lang="zh-CN" altLang="en-US" dirty="0"/>
              <a:t>，推理时拆除。</a:t>
            </a:r>
            <a:endParaRPr lang="en-US" altLang="zh-CN" dirty="0"/>
          </a:p>
          <a:p>
            <a:r>
              <a:rPr lang="zh-CN" altLang="en-US" dirty="0"/>
              <a:t>训练时总参数量：</a:t>
            </a:r>
            <a:r>
              <a:rPr lang="en-US" altLang="zh-CN" dirty="0"/>
              <a:t>28.388M</a:t>
            </a:r>
          </a:p>
          <a:p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部署时参数量：</a:t>
            </a:r>
            <a:r>
              <a:rPr lang="en-US" altLang="zh-CN" dirty="0"/>
              <a:t>2.913M</a:t>
            </a:r>
          </a:p>
          <a:p>
            <a:r>
              <a:rPr lang="en-US" altLang="zh-CN" dirty="0"/>
              <a:t>Flops</a:t>
            </a:r>
            <a:r>
              <a:rPr lang="zh-CN" altLang="en-US" dirty="0"/>
              <a:t>：</a:t>
            </a:r>
            <a:r>
              <a:rPr lang="en-US" altLang="zh-CN" dirty="0"/>
              <a:t>2.75G</a:t>
            </a:r>
          </a:p>
          <a:p>
            <a:r>
              <a:rPr lang="zh-CN" altLang="en-US" dirty="0"/>
              <a:t>现在的训练策略：阶段一生成离线教师缓存，阶段二主路径在训练集训练，验证集验证。最后获得</a:t>
            </a:r>
            <a:r>
              <a:rPr lang="en-US" altLang="zh-CN" dirty="0"/>
              <a:t>best</a:t>
            </a:r>
            <a:r>
              <a:rPr lang="zh-CN" altLang="en-US" dirty="0"/>
              <a:t>在测试集推理。</a:t>
            </a:r>
            <a:endParaRPr lang="en-US" altLang="zh-CN" dirty="0"/>
          </a:p>
          <a:p>
            <a:r>
              <a:rPr lang="zh-CN" altLang="en-US" dirty="0"/>
              <a:t>                                   没有直接在测试集上挑</a:t>
            </a:r>
            <a:r>
              <a:rPr lang="en-US" altLang="zh-CN" dirty="0"/>
              <a:t>best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A7CB44-B96C-36EF-0955-307D483F1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753435"/>
              </p:ext>
            </p:extLst>
          </p:nvPr>
        </p:nvGraphicFramePr>
        <p:xfrm>
          <a:off x="39451" y="2910195"/>
          <a:ext cx="5895002" cy="33225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23264">
                  <a:extLst>
                    <a:ext uri="{9D8B030D-6E8A-4147-A177-3AD203B41FA5}">
                      <a16:colId xmlns:a16="http://schemas.microsoft.com/office/drawing/2014/main" val="4127761708"/>
                    </a:ext>
                  </a:extLst>
                </a:gridCol>
                <a:gridCol w="494767">
                  <a:extLst>
                    <a:ext uri="{9D8B030D-6E8A-4147-A177-3AD203B41FA5}">
                      <a16:colId xmlns:a16="http://schemas.microsoft.com/office/drawing/2014/main" val="3869875886"/>
                    </a:ext>
                  </a:extLst>
                </a:gridCol>
                <a:gridCol w="483518">
                  <a:extLst>
                    <a:ext uri="{9D8B030D-6E8A-4147-A177-3AD203B41FA5}">
                      <a16:colId xmlns:a16="http://schemas.microsoft.com/office/drawing/2014/main" val="13066444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14107582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35646031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50600668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4120070378"/>
                    </a:ext>
                  </a:extLst>
                </a:gridCol>
                <a:gridCol w="398520">
                  <a:extLst>
                    <a:ext uri="{9D8B030D-6E8A-4147-A177-3AD203B41FA5}">
                      <a16:colId xmlns:a16="http://schemas.microsoft.com/office/drawing/2014/main" val="2869162477"/>
                    </a:ext>
                  </a:extLst>
                </a:gridCol>
                <a:gridCol w="439378">
                  <a:extLst>
                    <a:ext uri="{9D8B030D-6E8A-4147-A177-3AD203B41FA5}">
                      <a16:colId xmlns:a16="http://schemas.microsoft.com/office/drawing/2014/main" val="1638987300"/>
                    </a:ext>
                  </a:extLst>
                </a:gridCol>
                <a:gridCol w="572728">
                  <a:extLst>
                    <a:ext uri="{9D8B030D-6E8A-4147-A177-3AD203B41FA5}">
                      <a16:colId xmlns:a16="http://schemas.microsoft.com/office/drawing/2014/main" val="3996214726"/>
                    </a:ext>
                  </a:extLst>
                </a:gridCol>
                <a:gridCol w="454086">
                  <a:extLst>
                    <a:ext uri="{9D8B030D-6E8A-4147-A177-3AD203B41FA5}">
                      <a16:colId xmlns:a16="http://schemas.microsoft.com/office/drawing/2014/main" val="2886313191"/>
                    </a:ext>
                  </a:extLst>
                </a:gridCol>
                <a:gridCol w="538741">
                  <a:extLst>
                    <a:ext uri="{9D8B030D-6E8A-4147-A177-3AD203B41FA5}">
                      <a16:colId xmlns:a16="http://schemas.microsoft.com/office/drawing/2014/main" val="3990869489"/>
                    </a:ext>
                  </a:extLst>
                </a:gridCol>
              </a:tblGrid>
              <a:tr h="560450">
                <a:tc>
                  <a:txBody>
                    <a:bodyPr/>
                    <a:lstStyle/>
                    <a:p>
                      <a:r>
                        <a:rPr lang="zh-CN" altLang="en-US" sz="1100"/>
                        <a:t>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Val_</a:t>
                      </a:r>
                    </a:p>
                    <a:p>
                      <a:pPr algn="r"/>
                      <a:r>
                        <a:rPr lang="en-US" altLang="zh-CN" sz="1100" dirty="0"/>
                        <a:t>best</a:t>
                      </a:r>
                    </a:p>
                    <a:p>
                      <a:pPr algn="r"/>
                      <a:r>
                        <a:rPr lang="zh-CN" altLang="en-US" sz="1100" dirty="0"/>
                        <a:t> </a:t>
                      </a:r>
                      <a:r>
                        <a:rPr lang="fr-FR" sz="11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Train p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Infer p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FLOPs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431847"/>
                  </a:ext>
                </a:extLst>
              </a:tr>
              <a:tr h="452039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base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78.93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92.06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764657"/>
                  </a:ext>
                </a:extLst>
              </a:tr>
              <a:tr h="483475">
                <a:tc>
                  <a:txBody>
                    <a:bodyPr/>
                    <a:lstStyle/>
                    <a:p>
                      <a:r>
                        <a:rPr lang="fr-FR" sz="1100" dirty="0"/>
                        <a:t>+PLUG_Full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81.46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79.99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86.44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92.32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 dirty="0"/>
                        <a:t>83.09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 dirty="0"/>
                        <a:t>71.07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/>
                        <a:t>78.13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102.67M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903303"/>
                  </a:ext>
                </a:extLst>
              </a:tr>
              <a:tr h="347722">
                <a:tc>
                  <a:txBody>
                    <a:bodyPr/>
                    <a:lstStyle/>
                    <a:p>
                      <a:r>
                        <a:rPr lang="fr-FR" sz="1100" dirty="0"/>
                        <a:t>+SAM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81.21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86.45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82.21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69.8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77.07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84076"/>
                  </a:ext>
                </a:extLst>
              </a:tr>
              <a:tr h="452039">
                <a:tc>
                  <a:txBody>
                    <a:bodyPr/>
                    <a:lstStyle/>
                    <a:p>
                      <a:r>
                        <a:rPr lang="fr-FR" sz="1100" dirty="0"/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28.39M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615184"/>
                  </a:ext>
                </a:extLst>
              </a:tr>
              <a:tr h="660672">
                <a:tc>
                  <a:txBody>
                    <a:bodyPr/>
                    <a:lstStyle/>
                    <a:p>
                      <a:r>
                        <a:rPr lang="fr-FR" sz="1100" dirty="0"/>
                        <a:t>+SAM</a:t>
                      </a:r>
                    </a:p>
                    <a:p>
                      <a:r>
                        <a:rPr lang="fr-FR" sz="1100" dirty="0"/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28.39M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10105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C2BDDA-6663-826D-E6F2-2542360E6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78234"/>
              </p:ext>
            </p:extLst>
          </p:nvPr>
        </p:nvGraphicFramePr>
        <p:xfrm>
          <a:off x="6096000" y="2910194"/>
          <a:ext cx="6056550" cy="332251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37457">
                  <a:extLst>
                    <a:ext uri="{9D8B030D-6E8A-4147-A177-3AD203B41FA5}">
                      <a16:colId xmlns:a16="http://schemas.microsoft.com/office/drawing/2014/main" val="529086770"/>
                    </a:ext>
                  </a:extLst>
                </a:gridCol>
                <a:gridCol w="518374">
                  <a:extLst>
                    <a:ext uri="{9D8B030D-6E8A-4147-A177-3AD203B41FA5}">
                      <a16:colId xmlns:a16="http://schemas.microsoft.com/office/drawing/2014/main" val="2606312031"/>
                    </a:ext>
                  </a:extLst>
                </a:gridCol>
                <a:gridCol w="739731">
                  <a:extLst>
                    <a:ext uri="{9D8B030D-6E8A-4147-A177-3AD203B41FA5}">
                      <a16:colId xmlns:a16="http://schemas.microsoft.com/office/drawing/2014/main" val="2911690771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3561307916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1413421080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3749874056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2521114673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4091152818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4194850357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354515722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2352584723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1949123534"/>
                    </a:ext>
                  </a:extLst>
                </a:gridCol>
              </a:tblGrid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</a:p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Train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Infer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889611"/>
                  </a:ext>
                </a:extLst>
              </a:tr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96.55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99.58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94.56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89.69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94.34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982124"/>
                  </a:ext>
                </a:extLst>
              </a:tr>
              <a:tr h="6297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+PLUG_Full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93.06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99.55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102.67M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369458"/>
                  </a:ext>
                </a:extLst>
              </a:tr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469470"/>
                  </a:ext>
                </a:extLst>
              </a:tr>
              <a:tr h="6297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28.39M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619755"/>
                  </a:ext>
                </a:extLst>
              </a:tr>
              <a:tr h="654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+SAM+PLUG_M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28.39M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3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856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A2Net+LWGANet</a:t>
            </a:r>
            <a:r>
              <a:rPr lang="zh-CN" altLang="en-US" dirty="0"/>
              <a:t>（</a:t>
            </a:r>
            <a:r>
              <a:rPr lang="en-US" altLang="zh-CN" dirty="0"/>
              <a:t>baseline</a:t>
            </a:r>
            <a:r>
              <a:rPr lang="zh-CN" altLang="en-US" dirty="0"/>
              <a:t>记录）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8456B3-CE1E-241E-801F-ABBB51A12AED}"/>
              </a:ext>
            </a:extLst>
          </p:cNvPr>
          <p:cNvSpPr/>
          <p:nvPr/>
        </p:nvSpPr>
        <p:spPr>
          <a:xfrm>
            <a:off x="2038959" y="246502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F98B6-0243-A13C-9511-374B726DE5E8}"/>
              </a:ext>
            </a:extLst>
          </p:cNvPr>
          <p:cNvSpPr/>
          <p:nvPr/>
        </p:nvSpPr>
        <p:spPr>
          <a:xfrm>
            <a:off x="2038959" y="359546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7CE02-E65F-BC7A-D241-F916AB0483AF}"/>
              </a:ext>
            </a:extLst>
          </p:cNvPr>
          <p:cNvSpPr/>
          <p:nvPr/>
        </p:nvSpPr>
        <p:spPr>
          <a:xfrm>
            <a:off x="2652571" y="295731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520187C-BF51-EA5D-6B42-821810752A8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98959" y="262252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2C3223F-4D4A-53F2-F716-C23A98E6D29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398959" y="315410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9A773C4-AE15-171F-34E4-CE0D07657693}"/>
              </a:ext>
            </a:extLst>
          </p:cNvPr>
          <p:cNvSpPr/>
          <p:nvPr/>
        </p:nvSpPr>
        <p:spPr>
          <a:xfrm>
            <a:off x="2645026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F85BF-3BF2-E8BA-852D-E264733B902A}"/>
              </a:ext>
            </a:extLst>
          </p:cNvPr>
          <p:cNvSpPr/>
          <p:nvPr/>
        </p:nvSpPr>
        <p:spPr>
          <a:xfrm>
            <a:off x="3182540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FAE46-FF3A-4876-070F-1062AF9E86A2}"/>
              </a:ext>
            </a:extLst>
          </p:cNvPr>
          <p:cNvSpPr/>
          <p:nvPr/>
        </p:nvSpPr>
        <p:spPr>
          <a:xfrm>
            <a:off x="3720054" y="241162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3D609F-A8E5-1B89-4374-193435D3E271}"/>
              </a:ext>
            </a:extLst>
          </p:cNvPr>
          <p:cNvSpPr/>
          <p:nvPr/>
        </p:nvSpPr>
        <p:spPr>
          <a:xfrm>
            <a:off x="4279105" y="241670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4DBC98-F9B9-CD00-8A61-371C01490E3D}"/>
              </a:ext>
            </a:extLst>
          </p:cNvPr>
          <p:cNvSpPr/>
          <p:nvPr/>
        </p:nvSpPr>
        <p:spPr>
          <a:xfrm>
            <a:off x="2652571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E8B7E-9E79-EC32-80A4-3A78EBF19FF5}"/>
              </a:ext>
            </a:extLst>
          </p:cNvPr>
          <p:cNvSpPr/>
          <p:nvPr/>
        </p:nvSpPr>
        <p:spPr>
          <a:xfrm>
            <a:off x="3190085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56AC48-41BD-3B6B-456E-7EA79446E475}"/>
              </a:ext>
            </a:extLst>
          </p:cNvPr>
          <p:cNvSpPr/>
          <p:nvPr/>
        </p:nvSpPr>
        <p:spPr>
          <a:xfrm>
            <a:off x="3727599" y="366035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23D08C-4BA4-1EAE-C12D-C6587671C386}"/>
              </a:ext>
            </a:extLst>
          </p:cNvPr>
          <p:cNvSpPr/>
          <p:nvPr/>
        </p:nvSpPr>
        <p:spPr>
          <a:xfrm>
            <a:off x="4286650" y="36654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CCD5049-5974-71E8-AB0E-9E8025385D2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16200000" flipV="1">
            <a:off x="3142652" y="240718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4D9380F-1C18-DBED-3B8F-791CCEE84D33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16200000" flipV="1">
            <a:off x="3411409" y="267594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EB309CBD-4F7A-4424-0C1B-C93E94F4DA06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rot="5400000" flipH="1" flipV="1">
            <a:off x="3682517" y="268352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21804445-F9D9-07F8-603A-8D696A9B897A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rot="5400000" flipH="1" flipV="1">
            <a:off x="3964582" y="240654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0BFE552B-5261-D0C1-0CFF-D5B79152E16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3138424" y="310129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12D0E96-70C2-EDE2-89A5-6FCEAA321D6D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5400000">
            <a:off x="3407181" y="337005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4AEFCEF-FF4A-AD73-BE60-51E58E68F213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3673586" y="337009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B9D1604-D9DC-A507-4917-95BE8052CEF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3950572" y="309310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DC3F41BF-EE99-B2F5-DFC0-7A9B89A82544}"/>
              </a:ext>
            </a:extLst>
          </p:cNvPr>
          <p:cNvSpPr/>
          <p:nvPr/>
        </p:nvSpPr>
        <p:spPr>
          <a:xfrm rot="5400000">
            <a:off x="3589185" y="1134056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91445F5F-6417-C848-9383-A98C7908FAA0}"/>
              </a:ext>
            </a:extLst>
          </p:cNvPr>
          <p:cNvSpPr/>
          <p:nvPr/>
        </p:nvSpPr>
        <p:spPr>
          <a:xfrm rot="16200000">
            <a:off x="3619661" y="290493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543534-459E-7CD0-5164-F762CF668ECB}"/>
              </a:ext>
            </a:extLst>
          </p:cNvPr>
          <p:cNvSpPr/>
          <p:nvPr/>
        </p:nvSpPr>
        <p:spPr>
          <a:xfrm>
            <a:off x="5152078" y="24248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3900C4B1-5A71-39B9-B555-75EC53D2A257}"/>
              </a:ext>
            </a:extLst>
          </p:cNvPr>
          <p:cNvCxnSpPr>
            <a:cxnSpLocks/>
            <a:stCxn id="26" idx="1"/>
            <a:endCxn id="28" idx="0"/>
          </p:cNvCxnSpPr>
          <p:nvPr/>
        </p:nvCxnSpPr>
        <p:spPr>
          <a:xfrm rot="16200000" flipH="1">
            <a:off x="4417112" y="145363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DAD18E6-E5CB-0D54-F0B9-539A379CD2ED}"/>
              </a:ext>
            </a:extLst>
          </p:cNvPr>
          <p:cNvCxnSpPr>
            <a:cxnSpLocks/>
            <a:stCxn id="27" idx="1"/>
            <a:endCxn id="31" idx="2"/>
          </p:cNvCxnSpPr>
          <p:nvPr/>
        </p:nvCxnSpPr>
        <p:spPr>
          <a:xfrm rot="5400000" flipH="1" flipV="1">
            <a:off x="4436421" y="320092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AC29147-7DA2-1EF9-DA76-F12B71818596}"/>
              </a:ext>
            </a:extLst>
          </p:cNvPr>
          <p:cNvSpPr/>
          <p:nvPr/>
        </p:nvSpPr>
        <p:spPr>
          <a:xfrm>
            <a:off x="5152078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C3868D-F906-133B-8F96-332E3E746D34}"/>
              </a:ext>
            </a:extLst>
          </p:cNvPr>
          <p:cNvSpPr/>
          <p:nvPr/>
        </p:nvSpPr>
        <p:spPr>
          <a:xfrm>
            <a:off x="5152078" y="302328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8CC5BE-C737-AC49-B340-43482B070861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5388328" y="268648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BC56912-2946-830E-ACE4-64EE9FCBE294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5388328" y="328492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52B64A2-7E86-0A72-C635-17767D07AE18}"/>
              </a:ext>
            </a:extLst>
          </p:cNvPr>
          <p:cNvSpPr/>
          <p:nvPr/>
        </p:nvSpPr>
        <p:spPr>
          <a:xfrm>
            <a:off x="5831478" y="306171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7D916DE-6544-82B0-B630-5A97E7B91714}"/>
              </a:ext>
            </a:extLst>
          </p:cNvPr>
          <p:cNvSpPr/>
          <p:nvPr/>
        </p:nvSpPr>
        <p:spPr>
          <a:xfrm>
            <a:off x="5865425" y="25816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86DF87E-1867-FDE4-DBE3-75091BA42B6A}"/>
              </a:ext>
            </a:extLst>
          </p:cNvPr>
          <p:cNvSpPr/>
          <p:nvPr/>
        </p:nvSpPr>
        <p:spPr>
          <a:xfrm>
            <a:off x="6608122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2B879E-1DBA-26AE-927C-F158C1B33C8D}"/>
              </a:ext>
            </a:extLst>
          </p:cNvPr>
          <p:cNvSpPr/>
          <p:nvPr/>
        </p:nvSpPr>
        <p:spPr>
          <a:xfrm>
            <a:off x="7364958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4EC551-CA67-5134-FDCA-C208FF9203E5}"/>
              </a:ext>
            </a:extLst>
          </p:cNvPr>
          <p:cNvSpPr/>
          <p:nvPr/>
        </p:nvSpPr>
        <p:spPr>
          <a:xfrm>
            <a:off x="8090952" y="257526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FEA55FE6-179C-2C08-3B46-3528089BA253}"/>
              </a:ext>
            </a:extLst>
          </p:cNvPr>
          <p:cNvSpPr/>
          <p:nvPr/>
        </p:nvSpPr>
        <p:spPr>
          <a:xfrm rot="5400000">
            <a:off x="7074923" y="101638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77DA8A2-7711-9696-B4DA-9CC0E350BDDD}"/>
              </a:ext>
            </a:extLst>
          </p:cNvPr>
          <p:cNvCxnSpPr>
            <a:cxnSpLocks/>
            <a:stCxn id="32" idx="3"/>
            <a:endCxn id="40" idx="1"/>
          </p:cNvCxnSpPr>
          <p:nvPr/>
        </p:nvCxnSpPr>
        <p:spPr>
          <a:xfrm flipV="1">
            <a:off x="5624578" y="232375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2407C86-66A9-C73C-F3DB-D8303137540F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6101675" y="284324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15F2C7F-ADD6-E428-6379-49A6D6ECEE8F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844372" y="284302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D2B798A-A759-78FD-19D0-CF8CE173C9C2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>
            <a:off x="7601208" y="284302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FDD373C-F5CC-88D8-C91D-778958174D81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8327202" y="283690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B5F8502-4887-DCED-9EFE-A51DDEF2C146}"/>
              </a:ext>
            </a:extLst>
          </p:cNvPr>
          <p:cNvSpPr/>
          <p:nvPr/>
        </p:nvSpPr>
        <p:spPr>
          <a:xfrm>
            <a:off x="5869744" y="326545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69455D3-CF62-F70A-1DF4-966C22131DAF}"/>
              </a:ext>
            </a:extLst>
          </p:cNvPr>
          <p:cNvSpPr/>
          <p:nvPr/>
        </p:nvSpPr>
        <p:spPr>
          <a:xfrm>
            <a:off x="6608122" y="32634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362F27-33DA-4C6C-FED8-4EA8A1146D5D}"/>
              </a:ext>
            </a:extLst>
          </p:cNvPr>
          <p:cNvSpPr/>
          <p:nvPr/>
        </p:nvSpPr>
        <p:spPr>
          <a:xfrm>
            <a:off x="7369243" y="325986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0D271E-3373-8434-6924-AF7545E8F091}"/>
              </a:ext>
            </a:extLst>
          </p:cNvPr>
          <p:cNvSpPr/>
          <p:nvPr/>
        </p:nvSpPr>
        <p:spPr>
          <a:xfrm>
            <a:off x="8090952" y="326010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2F10F90-0567-3A1F-ED66-18814D096FC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342244" y="339426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0FB2F08-11F1-3656-A8D3-C5133F64B79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7080622" y="339068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9E58273-B015-A969-C54A-BDD892408D0A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837458" y="339068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4B262E2-504A-2795-DDC6-DCE3282CCDF2}"/>
              </a:ext>
            </a:extLst>
          </p:cNvPr>
          <p:cNvSpPr/>
          <p:nvPr/>
        </p:nvSpPr>
        <p:spPr>
          <a:xfrm>
            <a:off x="8871672" y="327892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F8D5117-E9D8-BDD4-9C3D-B0A58146C3EA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8563452" y="339068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80E22C-07EA-0F71-2156-E6E194717005}"/>
              </a:ext>
            </a:extLst>
          </p:cNvPr>
          <p:cNvCxnSpPr>
            <a:cxnSpLocks/>
            <a:stCxn id="53" idx="0"/>
            <a:endCxn id="56" idx="2"/>
          </p:cNvCxnSpPr>
          <p:nvPr/>
        </p:nvCxnSpPr>
        <p:spPr>
          <a:xfrm flipH="1" flipV="1">
            <a:off x="9281875" y="295710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7CED921-E2D3-920F-95D4-D8BBEC66162C}"/>
              </a:ext>
            </a:extLst>
          </p:cNvPr>
          <p:cNvSpPr txBox="1"/>
          <p:nvPr/>
        </p:nvSpPr>
        <p:spPr>
          <a:xfrm>
            <a:off x="8682008" y="238002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C4399E1-9C00-ECE4-5414-FD4405CC2423}"/>
              </a:ext>
            </a:extLst>
          </p:cNvPr>
          <p:cNvSpPr/>
          <p:nvPr/>
        </p:nvSpPr>
        <p:spPr>
          <a:xfrm>
            <a:off x="1776000" y="1899000"/>
            <a:ext cx="810574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2B510B-EED9-E1A5-32D1-9FDE9FA3B231}"/>
              </a:ext>
            </a:extLst>
          </p:cNvPr>
          <p:cNvSpPr txBox="1"/>
          <p:nvPr/>
        </p:nvSpPr>
        <p:spPr>
          <a:xfrm>
            <a:off x="5085833" y="268341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B7EE21-3EE1-738F-4118-8127D946882B}"/>
              </a:ext>
            </a:extLst>
          </p:cNvPr>
          <p:cNvSpPr txBox="1"/>
          <p:nvPr/>
        </p:nvSpPr>
        <p:spPr>
          <a:xfrm>
            <a:off x="5085833" y="3421839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137916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Future Work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295655-5947-83FD-B735-D11DFB71ECCE}"/>
              </a:ext>
            </a:extLst>
          </p:cNvPr>
          <p:cNvSpPr txBox="1"/>
          <p:nvPr/>
        </p:nvSpPr>
        <p:spPr>
          <a:xfrm>
            <a:off x="201000" y="1044000"/>
            <a:ext cx="11925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Stage A</a:t>
            </a:r>
            <a:r>
              <a:rPr lang="zh-CN" altLang="en-US" dirty="0"/>
              <a:t>（如果当前失败）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现在的</a:t>
            </a:r>
            <a:r>
              <a:rPr lang="en-US" altLang="zh-CN" dirty="0"/>
              <a:t>Stage A</a:t>
            </a:r>
            <a:r>
              <a:rPr lang="zh-CN" altLang="en-US" dirty="0"/>
              <a:t>的</a:t>
            </a:r>
            <a:r>
              <a:rPr lang="fr-FR" altLang="zh-CN" dirty="0"/>
              <a:t>SAM Structure</a:t>
            </a:r>
            <a:r>
              <a:rPr lang="zh-CN" altLang="en-US" dirty="0"/>
              <a:t>先验是两个时相分开处理的，得到的离线教师缓存也是分开的。寻找两个离线教师缓存的</a:t>
            </a:r>
            <a:r>
              <a:rPr lang="zh-CN" altLang="en-US" b="1" dirty="0"/>
              <a:t>跨时相结构关系</a:t>
            </a:r>
            <a:r>
              <a:rPr lang="zh-CN" altLang="en-US" dirty="0"/>
              <a:t>，找到结构</a:t>
            </a:r>
            <a:r>
              <a:rPr lang="en-US" altLang="zh-CN" dirty="0"/>
              <a:t>/</a:t>
            </a:r>
            <a:r>
              <a:rPr lang="zh-CN" altLang="en-US" dirty="0"/>
              <a:t>语义上 的可能相关。但是还是不要直接做变化标签。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单一</a:t>
            </a:r>
            <a:r>
              <a:rPr lang="en-US" altLang="zh-CN" dirty="0"/>
              <a:t>SAM</a:t>
            </a:r>
            <a:r>
              <a:rPr lang="zh-CN" altLang="en-US" dirty="0"/>
              <a:t>教师的能力可能不足，可以升级为</a:t>
            </a:r>
            <a:r>
              <a:rPr lang="zh-CN" altLang="en-US" b="1" dirty="0"/>
              <a:t>多教师</a:t>
            </a:r>
            <a:r>
              <a:rPr lang="zh-CN" altLang="en-US" dirty="0"/>
              <a:t>共识，比如在</a:t>
            </a:r>
            <a:r>
              <a:rPr lang="en-US" altLang="zh-CN" dirty="0"/>
              <a:t>Stage A</a:t>
            </a:r>
            <a:r>
              <a:rPr lang="zh-CN" altLang="en-US" dirty="0"/>
              <a:t>加上</a:t>
            </a:r>
            <a:r>
              <a:rPr lang="fr-FR" altLang="zh-CN" dirty="0"/>
              <a:t>DINOv2/RS-VFM</a:t>
            </a:r>
            <a:r>
              <a:rPr lang="zh-CN" altLang="en-US" dirty="0"/>
              <a:t>之类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fr-FR" altLang="zh-CN" dirty="0"/>
              <a:t>Stage A </a:t>
            </a:r>
            <a:r>
              <a:rPr lang="zh-CN" altLang="en-US" dirty="0"/>
              <a:t>可能使学生过度依赖先验。训练后期逐渐降低 </a:t>
            </a:r>
            <a:r>
              <a:rPr lang="fr-FR" altLang="zh-CN" dirty="0"/>
              <a:t>SAM Structure Loss </a:t>
            </a:r>
            <a:r>
              <a:rPr lang="zh-CN" altLang="en-US" dirty="0"/>
              <a:t>权重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对于</a:t>
            </a:r>
            <a:r>
              <a:rPr lang="en-US" altLang="zh-CN" dirty="0"/>
              <a:t>PLUG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逐步让困难监督进入 </a:t>
            </a:r>
            <a:r>
              <a:rPr lang="en-US" altLang="zh-CN" dirty="0"/>
              <a:t>backbone</a:t>
            </a:r>
            <a:r>
              <a:rPr lang="zh-CN" altLang="en-US" dirty="0"/>
              <a:t>（现在都在</a:t>
            </a:r>
            <a:r>
              <a:rPr lang="en-US" altLang="zh-CN" dirty="0"/>
              <a:t>decoder</a:t>
            </a:r>
            <a:r>
              <a:rPr lang="zh-CN" altLang="en-US" dirty="0"/>
              <a:t>，</a:t>
            </a:r>
            <a:r>
              <a:rPr lang="en-US" altLang="zh-CN" dirty="0"/>
              <a:t>encoder</a:t>
            </a:r>
            <a:r>
              <a:rPr lang="zh-CN" altLang="en-US" dirty="0"/>
              <a:t>没有困难监督）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引入</a:t>
            </a:r>
            <a:r>
              <a:rPr lang="zh-CN" altLang="en-US" b="1" dirty="0"/>
              <a:t>难度控制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对于主路径</a:t>
            </a:r>
            <a:endParaRPr lang="en-US" altLang="zh-CN" dirty="0"/>
          </a:p>
          <a:p>
            <a:r>
              <a:rPr lang="en-US" altLang="zh-CN" dirty="0"/>
              <a:t>1.TFM</a:t>
            </a:r>
            <a:r>
              <a:rPr lang="zh-CN" altLang="en-US" dirty="0"/>
              <a:t>（时序融合模块，里面有双时相特征的变化交互）里引入 </a:t>
            </a:r>
            <a:r>
              <a:rPr lang="zh-CN" altLang="en-US" b="1" dirty="0"/>
              <a:t>时序 </a:t>
            </a:r>
            <a:r>
              <a:rPr lang="en-US" altLang="zh-CN" b="1" dirty="0"/>
              <a:t>+ </a:t>
            </a:r>
            <a:r>
              <a:rPr lang="zh-CN" altLang="en-US" b="1" dirty="0"/>
              <a:t>空间结构重参数化</a:t>
            </a:r>
          </a:p>
        </p:txBody>
      </p:sp>
    </p:spTree>
    <p:extLst>
      <p:ext uri="{BB962C8B-B14F-4D97-AF65-F5344CB8AC3E}">
        <p14:creationId xmlns:p14="http://schemas.microsoft.com/office/powerpoint/2010/main" val="268284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研究方向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轻量/高效/可部署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变化检测系统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zh-CN" altLang="zh-CN" b="0" dirty="0"/>
              <a:t>基础问题</a:t>
            </a:r>
            <a:r>
              <a:rPr lang="zh-CN" altLang="en-US" b="0" dirty="0"/>
              <a:t>：</a:t>
            </a:r>
            <a:r>
              <a:rPr lang="zh-CN" altLang="zh-CN" b="0" dirty="0"/>
              <a:t>减少参数与算力的情况下保持时空变化特征提取能力</a:t>
            </a:r>
            <a:r>
              <a:rPr lang="zh-CN" altLang="en-US" b="0" dirty="0"/>
              <a:t>、使用</a:t>
            </a:r>
            <a:r>
              <a:rPr lang="zh-CN" altLang="zh-CN" b="0" dirty="0"/>
              <a:t>结构重参数化、知识蒸馏或动态推理实现精度与速度的平衡</a:t>
            </a:r>
            <a:endParaRPr lang="en-US" altLang="zh-CN" b="0" dirty="0"/>
          </a:p>
          <a:p>
            <a:pPr marL="0" indent="0">
              <a:buNone/>
            </a:pPr>
            <a:endParaRPr lang="zh-CN" altLang="zh-CN" b="0" dirty="0"/>
          </a:p>
          <a:p>
            <a:pPr marL="0" indent="0">
              <a:buNone/>
            </a:pPr>
            <a:r>
              <a:rPr lang="zh-CN" altLang="en-US" b="0" dirty="0"/>
              <a:t>研究方向：模块剪枝、通道压缩、轻量</a:t>
            </a:r>
            <a:r>
              <a:rPr lang="en-US" altLang="zh-CN" b="0" dirty="0"/>
              <a:t>backbone</a:t>
            </a:r>
            <a:r>
              <a:rPr lang="zh-CN" altLang="en-US" b="0" dirty="0"/>
              <a:t>、时</a:t>
            </a:r>
            <a:r>
              <a:rPr lang="en-US" altLang="zh-CN" b="0" dirty="0"/>
              <a:t>/</a:t>
            </a:r>
            <a:r>
              <a:rPr lang="zh-CN" altLang="en-US" b="0" dirty="0"/>
              <a:t>空结构重参数化、推理时可拆卸的外挂模块、轻量化解码器等。</a:t>
            </a:r>
            <a:endParaRPr lang="en-US" altLang="zh-CN" b="0" dirty="0"/>
          </a:p>
          <a:p>
            <a:pPr marL="0" indent="0">
              <a:buNone/>
            </a:pP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007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下一个工作</a:t>
            </a:r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思路</a:t>
            </a:r>
            <a:r>
              <a:rPr lang="en-US" altLang="zh-CN" dirty="0">
                <a:solidFill>
                  <a:srgbClr val="C00000"/>
                </a:solidFill>
              </a:rPr>
              <a:t>+Academic Papers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b="0" dirty="0"/>
              <a:t>使用</a:t>
            </a:r>
            <a:r>
              <a:rPr lang="en-US" altLang="zh-CN" b="0" dirty="0" err="1"/>
              <a:t>LSNet</a:t>
            </a:r>
            <a:r>
              <a:rPr lang="zh-CN" altLang="en-US" b="0" dirty="0"/>
              <a:t>的思想，结合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时空结构重参数化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latin typeface="Consolas" panose="020B0609020204030204" pitchFamily="49" charset="0"/>
              </a:rPr>
              <a:t>来做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推理时轻量化的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RS_BCD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任务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b="0" dirty="0">
                <a:latin typeface="Consolas" panose="020B0609020204030204" pitchFamily="49" charset="0"/>
              </a:rPr>
              <a:t>（待解决的三个问题：</a:t>
            </a:r>
            <a:r>
              <a:rPr lang="zh-CN" altLang="en-US" b="0" u="sng" dirty="0">
                <a:latin typeface="Consolas" panose="020B0609020204030204" pitchFamily="49" charset="0"/>
              </a:rPr>
              <a:t>骨干网络选择</a:t>
            </a:r>
            <a:r>
              <a:rPr lang="zh-CN" altLang="en-US" b="0" dirty="0">
                <a:latin typeface="Consolas" panose="020B0609020204030204" pitchFamily="49" charset="0"/>
              </a:rPr>
              <a:t>、轻量化编码器解码器主路设计、推理可拆卸的外挂模块设计）</a:t>
            </a:r>
            <a:endParaRPr lang="zh-CN" altLang="en-US" b="0" dirty="0">
              <a:effectLst/>
              <a:latin typeface="Consolas" panose="020B0609020204030204" pitchFamily="49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zh-CN" b="0" dirty="0"/>
              <a:t>（TIP2023）LSNet：Lightweight Spatial Boosting Network for Detecting Salient Objects in RGB-Thermal Images</a:t>
            </a:r>
            <a:endParaRPr lang="en-US" altLang="zh-CN" b="0" dirty="0"/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zh-CN" b="0" dirty="0"/>
              <a:t>（</a:t>
            </a:r>
            <a:r>
              <a:rPr lang="en-US" altLang="zh-CN" b="0" dirty="0"/>
              <a:t>CVPR</a:t>
            </a:r>
            <a:r>
              <a:rPr lang="zh-CN" altLang="zh-CN" b="0" dirty="0"/>
              <a:t>202</a:t>
            </a:r>
            <a:r>
              <a:rPr lang="en-US" altLang="zh-CN" b="0" dirty="0"/>
              <a:t>4</a:t>
            </a:r>
            <a:r>
              <a:rPr lang="zh-CN" altLang="zh-CN" b="0" dirty="0"/>
              <a:t>） </a:t>
            </a:r>
            <a:r>
              <a:rPr lang="fr-FR" altLang="zh-CN" b="0" dirty="0"/>
              <a:t>Rep ViT: revisiting mobile CNN from ViT perspective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b="0" dirty="0"/>
              <a:t>（</a:t>
            </a:r>
            <a:r>
              <a:rPr lang="en-US" altLang="zh-CN" b="0" dirty="0"/>
              <a:t>AAAI 2026</a:t>
            </a:r>
            <a:r>
              <a:rPr lang="zh-CN" altLang="en-US" b="0" dirty="0"/>
              <a:t>）</a:t>
            </a:r>
            <a:r>
              <a:rPr lang="en-US" altLang="zh-CN" b="0" dirty="0" err="1"/>
              <a:t>LWGANet</a:t>
            </a:r>
            <a:r>
              <a:rPr lang="en-US" altLang="zh-CN" b="0" dirty="0"/>
              <a:t>: Addressing spatial and channel redundancy in remote sensing visual tasks with light-weight grouped attention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83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LSNet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FD05AE-D273-EDDD-444F-4413FC1BD6BD}"/>
              </a:ext>
            </a:extLst>
          </p:cNvPr>
          <p:cNvSpPr txBox="1"/>
          <p:nvPr/>
        </p:nvSpPr>
        <p:spPr>
          <a:xfrm>
            <a:off x="384170" y="690890"/>
            <a:ext cx="11416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0">
                <a:effectLst/>
                <a:latin typeface="-apple-system"/>
              </a:defRPr>
            </a:lvl1pPr>
          </a:lstStyle>
          <a:p>
            <a:r>
              <a:rPr lang="zh-CN" altLang="en-US" dirty="0"/>
              <a:t>创新点：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在极轻量的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双 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MobileNetV2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编码器 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逐层逐元素相加融合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的架构上，引入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注意力特征蒸馏（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AFD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，含语义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/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空间两级）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作为训练的外挂模块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让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RGB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和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T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两支特征在训练时互相模仿对齐、增强跨模态互补表达，和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BBA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（边界监督）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也是外挂模块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同时用深度可分离空洞卷积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轻量上采样解码器保持推理时的极小参数量，从而在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RGB-T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显著性检测上以轻量代价实现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SOTA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精度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25E1E3-2A7C-43CA-4B9A-4A7122D0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00" y="1832001"/>
            <a:ext cx="7824217" cy="30443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008AE1-AAD3-8153-0A41-B91E5E669D0B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Zhou W, Zhu Y, Lei J, et al. LSNet: Lightweight spatial boosting network for detecting salient objects in RGB-thermal images[J]. IEEE Transactions on Image Processing, 2023, 32: 1329-1340.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9AFD49-3BCB-503E-0335-13A372EB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90495"/>
              </p:ext>
            </p:extLst>
          </p:nvPr>
        </p:nvGraphicFramePr>
        <p:xfrm>
          <a:off x="1972327" y="5185208"/>
          <a:ext cx="4204804" cy="773964"/>
        </p:xfrm>
        <a:graphic>
          <a:graphicData uri="http://schemas.openxmlformats.org/drawingml/2006/table">
            <a:tbl>
              <a:tblPr/>
              <a:tblGrid>
                <a:gridCol w="1051201">
                  <a:extLst>
                    <a:ext uri="{9D8B030D-6E8A-4147-A177-3AD203B41FA5}">
                      <a16:colId xmlns:a16="http://schemas.microsoft.com/office/drawing/2014/main" val="1086345026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2227355681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1304997452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1176277700"/>
                    </a:ext>
                  </a:extLst>
                </a:gridCol>
              </a:tblGrid>
              <a:tr h="320086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Model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Backbone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b="1" dirty="0">
                          <a:effectLst/>
                        </a:rPr>
                        <a:t>Params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b="1" dirty="0">
                          <a:effectLst/>
                        </a:rPr>
                        <a:t>FLOPs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76515"/>
                  </a:ext>
                </a:extLst>
              </a:tr>
              <a:tr h="320086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LSNet</a:t>
                      </a:r>
                      <a:r>
                        <a:rPr lang="fr-FR" sz="1200">
                          <a:effectLst/>
                        </a:rPr>
                        <a:t>​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>
                          <a:effectLst/>
                        </a:rPr>
                        <a:t>MobileNetV2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dirty="0">
                          <a:effectLst/>
                        </a:rPr>
                        <a:t>5.52M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dirty="0">
                          <a:effectLst/>
                        </a:rPr>
                        <a:t>1.61G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3957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35D1905-F7CD-5422-005B-A5C944BE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69535"/>
              </p:ext>
            </p:extLst>
          </p:nvPr>
        </p:nvGraphicFramePr>
        <p:xfrm>
          <a:off x="6186000" y="4938401"/>
          <a:ext cx="4204802" cy="1008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000">
                  <a:extLst>
                    <a:ext uri="{9D8B030D-6E8A-4147-A177-3AD203B41FA5}">
                      <a16:colId xmlns:a16="http://schemas.microsoft.com/office/drawing/2014/main" val="4029874946"/>
                    </a:ext>
                  </a:extLst>
                </a:gridCol>
                <a:gridCol w="571372">
                  <a:extLst>
                    <a:ext uri="{9D8B030D-6E8A-4147-A177-3AD203B41FA5}">
                      <a16:colId xmlns:a16="http://schemas.microsoft.com/office/drawing/2014/main" val="2654261793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281561913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274150330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4045805498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3370921018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355853978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Recall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Precision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OA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F1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IoU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Kappa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512597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LEVIR-CD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87.45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91.27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98.93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89.32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80.71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88.76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2974299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SYSU-CD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70.71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77.57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71.51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727835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WHU-CD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789607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CDD-CD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9752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LSNet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Zhou W, Zhu Y, Lei J, et al. LSNet: Lightweight spatial boosting network for detecting salient objects in RGB-thermal images[J]. IEEE Transactions on Image Processing, 2023, 32: 1329-1340.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291000" y="1269000"/>
            <a:ext cx="1179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但是我们不用</a:t>
            </a:r>
            <a:r>
              <a:rPr lang="en-US" altLang="zh-CN" dirty="0"/>
              <a:t>GTL &amp; STL / AFD (</a:t>
            </a:r>
            <a:r>
              <a:rPr lang="zh-CN" altLang="en-US" dirty="0"/>
              <a:t>跨模态迁移学习</a:t>
            </a:r>
            <a:r>
              <a:rPr lang="en-US" altLang="zh-CN" dirty="0"/>
              <a:t>) </a:t>
            </a:r>
            <a:r>
              <a:rPr lang="zh-CN" altLang="en-US" dirty="0"/>
              <a:t>和</a:t>
            </a:r>
            <a:r>
              <a:rPr lang="en-US" altLang="zh-CN" dirty="0"/>
              <a:t>BBA</a:t>
            </a:r>
            <a:r>
              <a:rPr lang="zh-CN" altLang="en-US" dirty="0"/>
              <a:t>这两个外挂模块原因：</a:t>
            </a:r>
            <a:endParaRPr lang="en-US" altLang="zh-CN" dirty="0"/>
          </a:p>
          <a:p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GTL </a:t>
            </a:r>
            <a:r>
              <a:rPr lang="zh-CN" altLang="en-US" dirty="0"/>
              <a:t>和 </a:t>
            </a:r>
            <a:r>
              <a:rPr lang="en-US" altLang="zh-CN" dirty="0"/>
              <a:t>STL</a:t>
            </a:r>
            <a:r>
              <a:rPr lang="zh-CN" altLang="en-US" dirty="0"/>
              <a:t>（</a:t>
            </a:r>
            <a:r>
              <a:rPr lang="en-US" altLang="zh-CN" dirty="0"/>
              <a:t>AFD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是在</a:t>
            </a:r>
            <a:r>
              <a:rPr lang="en-US" altLang="zh-CN" dirty="0"/>
              <a:t>RGB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分支间进行语义和几何信息的互相模仿，互相蒸馏，这个模块在我们的变化检测双分支）之间会抹杀掉我们需要的变化差异，弃用。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2.BBA</a:t>
            </a:r>
            <a:r>
              <a:rPr lang="zh-CN" altLang="en-US" dirty="0"/>
              <a:t>对于显著性目标边界有效，对于遥感化不规则变化区域只会引入大量噪声。并且其损失</a:t>
            </a:r>
            <a:r>
              <a:rPr lang="fr-FR" altLang="zh-CN" dirty="0"/>
              <a:t>kd_loss</a:t>
            </a:r>
            <a:r>
              <a:rPr lang="zh-CN" altLang="en-US" dirty="0"/>
              <a:t>，与变化检测模型存在逻辑和不匹配问题，弃用。变化检测的碎片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141AD4-95A9-BB75-5542-26133B92B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61202"/>
              </p:ext>
            </p:extLst>
          </p:nvPr>
        </p:nvGraphicFramePr>
        <p:xfrm>
          <a:off x="232553" y="3479275"/>
          <a:ext cx="657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000">
                  <a:extLst>
                    <a:ext uri="{9D8B030D-6E8A-4147-A177-3AD203B41FA5}">
                      <a16:colId xmlns:a16="http://schemas.microsoft.com/office/drawing/2014/main" val="2112753995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52369451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965551655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933983698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468407549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316285885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实验批次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模块配置状态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CDD-CD-256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LEVIR-CD-256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SYSU-CD-256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WHU-CD-256 (F1)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51009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fr-FR" sz="1200" b="1"/>
                        <a:t>Run2_05_Baseline</a:t>
                      </a:r>
                      <a:endParaRPr lang="fr-F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含 </a:t>
                      </a:r>
                      <a:r>
                        <a:rPr lang="en-US" altLang="zh-CN" sz="1200" dirty="0"/>
                        <a:t>AFD </a:t>
                      </a:r>
                      <a:r>
                        <a:rPr lang="zh-CN" altLang="en-US" sz="1200" dirty="0"/>
                        <a:t>跨模态特征蒸馏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92.62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89.33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77.82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92.42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8748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fr-FR" sz="1200" b="1"/>
                        <a:t>Run2_06_noAFD</a:t>
                      </a:r>
                      <a:endParaRPr lang="fr-F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移除 </a:t>
                      </a:r>
                      <a:r>
                        <a:rPr lang="fr-FR" sz="1200" b="1" dirty="0"/>
                        <a:t>AFD </a:t>
                      </a:r>
                      <a:r>
                        <a:rPr lang="zh-CN" altLang="en-US" sz="1200" b="1" dirty="0"/>
                        <a:t>蒸馏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93.27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89.07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/>
                        <a:t>78.96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93.71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86037"/>
                  </a:ext>
                </a:extLst>
              </a:tr>
            </a:tbl>
          </a:graphicData>
        </a:graphic>
      </p:graphicFrame>
      <p:pic>
        <p:nvPicPr>
          <p:cNvPr id="9" name="图片 8" descr="黑暗中的灯光&#10;&#10;描述已自动生成">
            <a:extLst>
              <a:ext uri="{FF2B5EF4-FFF2-40B4-BE49-F238E27FC236}">
                <a16:creationId xmlns:a16="http://schemas.microsoft.com/office/drawing/2014/main" id="{BCE134E5-9322-6150-743D-54AFA9D1C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046" y="3837820"/>
            <a:ext cx="1219200" cy="1219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B5DAAD8-CC9D-002A-5737-41D079AAD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87" y="3837820"/>
            <a:ext cx="1219200" cy="1219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AEAFE5-238B-FE70-7C74-118C9D099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505" y="3837820"/>
            <a:ext cx="1219200" cy="1219200"/>
          </a:xfrm>
          <a:prstGeom prst="rect">
            <a:avLst/>
          </a:prstGeom>
        </p:spPr>
      </p:pic>
      <p:pic>
        <p:nvPicPr>
          <p:cNvPr id="18" name="图片 17" descr="男子的脸部特写与配字黑白照&#10;&#10;中度可信度描述已自动生成">
            <a:extLst>
              <a:ext uri="{FF2B5EF4-FFF2-40B4-BE49-F238E27FC236}">
                <a16:creationId xmlns:a16="http://schemas.microsoft.com/office/drawing/2014/main" id="{A3748684-7182-876F-6D7A-723CDB625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964" y="383782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24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b="1" dirty="0">
                <a:effectLst/>
              </a:rPr>
              <a:t>RepViT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Wang A, Chen H, Lin Z, et al. Rep ViT: revisiting mobile CNN from ViT perspective[C]//2024 IEEE/CVF Conference on Computer Vision and Pattern Recognition (CVPR). IEEE, 2024: 15909-15920.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312499" y="849921"/>
            <a:ext cx="1179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思考更换骨干网络：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1323B15-DE39-B019-A7F8-43760A607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72314"/>
              </p:ext>
            </p:extLst>
          </p:nvPr>
        </p:nvGraphicFramePr>
        <p:xfrm>
          <a:off x="393259" y="1750694"/>
          <a:ext cx="10665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5000">
                  <a:extLst>
                    <a:ext uri="{9D8B030D-6E8A-4147-A177-3AD203B41FA5}">
                      <a16:colId xmlns:a16="http://schemas.microsoft.com/office/drawing/2014/main" val="1048362607"/>
                    </a:ext>
                  </a:extLst>
                </a:gridCol>
                <a:gridCol w="7650000">
                  <a:extLst>
                    <a:ext uri="{9D8B030D-6E8A-4147-A177-3AD203B41FA5}">
                      <a16:colId xmlns:a16="http://schemas.microsoft.com/office/drawing/2014/main" val="3404008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理由：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说明：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88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0" dirty="0">
                          <a:effectLst/>
                        </a:rPr>
                        <a:t>ImageNet </a:t>
                      </a:r>
                      <a:r>
                        <a:rPr lang="zh-CN" altLang="en-US" b="0" dirty="0">
                          <a:effectLst/>
                        </a:rPr>
                        <a:t>精度更高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solidFill>
                            <a:srgbClr val="FF0000"/>
                          </a:solidFill>
                          <a:effectLst/>
                        </a:rPr>
                        <a:t>RepViT-M0.9</a:t>
                      </a:r>
                      <a:r>
                        <a:rPr lang="fr-FR" b="0" dirty="0">
                          <a:effectLst/>
                        </a:rPr>
                        <a:t> 80.0% vs </a:t>
                      </a:r>
                      <a:r>
                        <a:rPr lang="fr-FR" b="0" dirty="0">
                          <a:solidFill>
                            <a:srgbClr val="FF0000"/>
                          </a:solidFill>
                          <a:effectLst/>
                        </a:rPr>
                        <a:t>MobileNetV2 </a:t>
                      </a:r>
                      <a:r>
                        <a:rPr lang="fr-FR" b="0" dirty="0">
                          <a:effectLst/>
                        </a:rPr>
                        <a:t>71.9%，</a:t>
                      </a:r>
                      <a:r>
                        <a:rPr lang="zh-CN" altLang="en-US" b="0" dirty="0">
                          <a:effectLst/>
                        </a:rPr>
                        <a:t>高 </a:t>
                      </a:r>
                      <a:r>
                        <a:rPr lang="en-US" altLang="zh-CN" b="0" dirty="0">
                          <a:effectLst/>
                        </a:rPr>
                        <a:t>8.1%</a:t>
                      </a:r>
                      <a:endParaRPr lang="zh-CN" altLang="en-US" b="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5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原生支持结构重参数化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effectLst/>
                        </a:rPr>
                        <a:t>RepViT</a:t>
                      </a:r>
                      <a:r>
                        <a:rPr lang="en-US" altLang="zh-CN" b="0" dirty="0">
                          <a:effectLst/>
                        </a:rPr>
                        <a:t> </a:t>
                      </a:r>
                      <a:r>
                        <a:rPr lang="zh-CN" altLang="en-US" b="0" dirty="0">
                          <a:effectLst/>
                        </a:rPr>
                        <a:t>本身就是「训练多分支→部署折叠单路径」；</a:t>
                      </a:r>
                      <a:r>
                        <a:rPr lang="en-US" altLang="zh-CN" b="0" dirty="0">
                          <a:effectLst/>
                        </a:rPr>
                        <a:t>MBV2 </a:t>
                      </a:r>
                      <a:r>
                        <a:rPr lang="zh-CN" altLang="en-US" b="0" dirty="0">
                          <a:effectLst/>
                        </a:rPr>
                        <a:t>不支持重参数化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1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轻量约束内精度最优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effectLst/>
                        </a:rPr>
                        <a:t>≤6M </a:t>
                      </a:r>
                      <a:r>
                        <a:rPr lang="zh-CN" altLang="en-US" b="0" dirty="0">
                          <a:effectLst/>
                        </a:rPr>
                        <a:t>参数下 </a:t>
                      </a:r>
                      <a:r>
                        <a:rPr lang="fr-FR" b="0" dirty="0">
                          <a:effectLst/>
                        </a:rPr>
                        <a:t>ImageNet </a:t>
                      </a:r>
                      <a:r>
                        <a:rPr lang="zh-CN" altLang="en-US" b="0" dirty="0">
                          <a:effectLst/>
                        </a:rPr>
                        <a:t>最高的 </a:t>
                      </a:r>
                      <a:r>
                        <a:rPr lang="fr-FR" b="0" dirty="0">
                          <a:effectLst/>
                        </a:rPr>
                        <a:t>CNN </a:t>
                      </a:r>
                      <a:r>
                        <a:rPr lang="zh-CN" altLang="en-US" b="0" dirty="0">
                          <a:effectLst/>
                        </a:rPr>
                        <a:t>之一，共享权重后 </a:t>
                      </a:r>
                      <a:r>
                        <a:rPr lang="fr-FR" b="0" dirty="0">
                          <a:effectLst/>
                        </a:rPr>
                        <a:t>backbone 4.57M，</a:t>
                      </a:r>
                      <a:r>
                        <a:rPr lang="zh-CN" altLang="en-US" b="0" dirty="0">
                          <a:effectLst/>
                        </a:rPr>
                        <a:t>达标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08246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4D3D8B10-5F80-DB4B-4CB2-45D1D82C9815}"/>
              </a:ext>
            </a:extLst>
          </p:cNvPr>
          <p:cNvSpPr txBox="1"/>
          <p:nvPr/>
        </p:nvSpPr>
        <p:spPr>
          <a:xfrm>
            <a:off x="312499" y="3464483"/>
            <a:ext cx="717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但是经过实验发现</a:t>
            </a:r>
            <a:r>
              <a:rPr lang="fr-FR" altLang="zh-CN" dirty="0">
                <a:effectLst/>
              </a:rPr>
              <a:t>RepViT</a:t>
            </a:r>
            <a:r>
              <a:rPr lang="zh-CN" altLang="en-US" dirty="0">
                <a:effectLst/>
              </a:rPr>
              <a:t>只在变化检测的简单数据集上更有效：</a:t>
            </a:r>
            <a:endParaRPr lang="zh-CN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7D431BC-ED8F-E0C4-373F-A3714F74D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793318"/>
              </p:ext>
            </p:extLst>
          </p:nvPr>
        </p:nvGraphicFramePr>
        <p:xfrm>
          <a:off x="596459" y="4086030"/>
          <a:ext cx="6165000" cy="163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00">
                  <a:extLst>
                    <a:ext uri="{9D8B030D-6E8A-4147-A177-3AD203B41FA5}">
                      <a16:colId xmlns:a16="http://schemas.microsoft.com/office/drawing/2014/main" val="500569378"/>
                    </a:ext>
                  </a:extLst>
                </a:gridCol>
                <a:gridCol w="2055000">
                  <a:extLst>
                    <a:ext uri="{9D8B030D-6E8A-4147-A177-3AD203B41FA5}">
                      <a16:colId xmlns:a16="http://schemas.microsoft.com/office/drawing/2014/main" val="3474649206"/>
                    </a:ext>
                  </a:extLst>
                </a:gridCol>
                <a:gridCol w="2055000">
                  <a:extLst>
                    <a:ext uri="{9D8B030D-6E8A-4147-A177-3AD203B41FA5}">
                      <a16:colId xmlns:a16="http://schemas.microsoft.com/office/drawing/2014/main" val="413806681"/>
                    </a:ext>
                  </a:extLst>
                </a:gridCol>
              </a:tblGrid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Backbone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LEVIR-CD-256 F1 (%)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SYSU</a:t>
                      </a:r>
                      <a:r>
                        <a:rPr lang="fr-FR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-CD-256 F1 (%)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16529302"/>
                  </a:ext>
                </a:extLst>
              </a:tr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MobileNetV2（</a:t>
                      </a:r>
                      <a:r>
                        <a:rPr lang="zh-CN" altLang="en-US">
                          <a:effectLst/>
                        </a:rPr>
                        <a:t>历史最佳 </a:t>
                      </a:r>
                      <a:r>
                        <a:rPr lang="fr-FR">
                          <a:effectLst/>
                        </a:rPr>
                        <a:t>v1-v3）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89.44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80.54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76499769"/>
                  </a:ext>
                </a:extLst>
              </a:tr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/>
                        </a:rPr>
                        <a:t>RepViT-M0.9（v5 E1）</a:t>
                      </a:r>
                      <a:endParaRPr lang="fr-FR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/>
                        </a:rPr>
                        <a:t>90.78</a:t>
                      </a:r>
                      <a:endParaRPr lang="zh-CN" altLang="en-US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79.64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47332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639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LWGANet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312499" y="849921"/>
            <a:ext cx="1179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思考更换骨干网络：</a:t>
            </a:r>
            <a:endParaRPr lang="en-US" altLang="zh-CN" dirty="0"/>
          </a:p>
          <a:p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遥感专用，并作了</a:t>
            </a:r>
            <a:r>
              <a:rPr lang="en-US" altLang="zh-CN" dirty="0"/>
              <a:t>BCD</a:t>
            </a:r>
            <a:r>
              <a:rPr lang="zh-CN" altLang="en-US" dirty="0"/>
              <a:t>专用设计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 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1.92M</a:t>
            </a:r>
          </a:p>
          <a:p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3.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特点：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将输入特征图按空间位置分成不重叠的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patch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，只选择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Top-K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个最显著的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patch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进行全局交互，其余背景区域不参与计算，大幅降低计算量，通过稀疏采样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插值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恒等映射恢复完整特征图，解决空间冗余。</a:t>
            </a:r>
            <a:b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</a:b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将通道分成 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组，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3*3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5*5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7*7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卷积和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identity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实现多尺度特征并行提取，避免特征干扰，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解决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通道冗余。</a:t>
            </a:r>
            <a:endParaRPr lang="en-US" altLang="zh-CN" b="0" i="0" dirty="0">
              <a:solidFill>
                <a:srgbClr val="3B3B3B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4.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论文在</a:t>
            </a:r>
            <a:r>
              <a:rPr lang="fr-FR" altLang="zh-CN" b="0" i="0" dirty="0">
                <a:solidFill>
                  <a:srgbClr val="3B3B3B"/>
                </a:solidFill>
                <a:effectLst/>
                <a:latin typeface="-apple-system"/>
              </a:rPr>
              <a:t>A2Net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（无</a:t>
            </a:r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mmcv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）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和</a:t>
            </a:r>
            <a:r>
              <a:rPr lang="fr-FR" altLang="zh-CN" i="0" dirty="0">
                <a:solidFill>
                  <a:srgbClr val="3B3B3B"/>
                </a:solidFill>
                <a:effectLst/>
                <a:latin typeface="-apple-system"/>
              </a:rPr>
              <a:t>CLAFA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 （有</a:t>
            </a:r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mmcv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）这两个简单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BCD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框架下对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4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个数据集做了实验，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LEVIR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、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WHU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、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SYSU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上接近</a:t>
            </a:r>
            <a:r>
              <a:rPr lang="en-US" altLang="zh-CN" i="0" dirty="0" err="1">
                <a:solidFill>
                  <a:srgbClr val="3B3B3B"/>
                </a:solidFill>
                <a:effectLst/>
                <a:latin typeface="-apple-system"/>
              </a:rPr>
              <a:t>sota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，说明在复杂遥感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BCD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任务上有效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FFC381-4E4C-E987-520D-566258B7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429000"/>
            <a:ext cx="10070513" cy="27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10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时空重参数化思想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5575B6-63E2-162E-AB90-900DE4B8485E}"/>
                  </a:ext>
                </a:extLst>
              </p:cNvPr>
              <p:cNvSpPr txBox="1"/>
              <p:nvPr/>
            </p:nvSpPr>
            <p:spPr>
              <a:xfrm>
                <a:off x="1956000" y="1359000"/>
                <a:ext cx="9090000" cy="990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fr-FR" altLang="zh-CN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[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₁, 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₂])        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 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拼接分支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zh-CN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(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 + 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₂))       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求和分支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(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 − 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₁))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  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差分分支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5575B6-63E2-162E-AB90-900DE4B84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000" y="1359000"/>
                <a:ext cx="9090000" cy="990912"/>
              </a:xfrm>
              <a:prstGeom prst="rect">
                <a:avLst/>
              </a:prstGeom>
              <a:blipFill>
                <a:blip r:embed="rId3"/>
                <a:stretch>
                  <a:fillRect t="-2469" b="-9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4FAFF910-AF06-B8FA-67D5-8B923BAEA9E9}"/>
              </a:ext>
            </a:extLst>
          </p:cNvPr>
          <p:cNvSpPr txBox="1"/>
          <p:nvPr/>
        </p:nvSpPr>
        <p:spPr>
          <a:xfrm>
            <a:off x="1814118" y="989668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时相结构重参数化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332EA826-68B8-F84C-121E-2D9A1C7FAB36}"/>
              </a:ext>
            </a:extLst>
          </p:cNvPr>
          <p:cNvSpPr/>
          <p:nvPr/>
        </p:nvSpPr>
        <p:spPr>
          <a:xfrm>
            <a:off x="6366000" y="1494000"/>
            <a:ext cx="180000" cy="765000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87FEA8-A8FD-03E8-C12A-AE62D5890362}"/>
              </a:ext>
            </a:extLst>
          </p:cNvPr>
          <p:cNvSpPr txBox="1"/>
          <p:nvPr/>
        </p:nvSpPr>
        <p:spPr>
          <a:xfrm>
            <a:off x="1731000" y="2490450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空间异构结构重参数化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5D2977-EBF9-68A7-74FA-21BB4AA8E34B}"/>
                  </a:ext>
                </a:extLst>
              </p:cNvPr>
              <p:cNvSpPr txBox="1"/>
              <p:nvPr/>
            </p:nvSpPr>
            <p:spPr>
              <a:xfrm>
                <a:off x="1666898" y="3003143"/>
                <a:ext cx="399832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×5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×3(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×3,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×5(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×1(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𝐵𝑁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5D2977-EBF9-68A7-74FA-21BB4AA8E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98" y="3003143"/>
                <a:ext cx="3998329" cy="1754326"/>
              </a:xfrm>
              <a:prstGeom prst="rect">
                <a:avLst/>
              </a:prstGeom>
              <a:blipFill>
                <a:blip r:embed="rId4"/>
                <a:stretch>
                  <a:fillRect b="-2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">
            <a:extLst>
              <a:ext uri="{FF2B5EF4-FFF2-40B4-BE49-F238E27FC236}">
                <a16:creationId xmlns:a16="http://schemas.microsoft.com/office/drawing/2014/main" id="{E7E2927C-1B47-831D-8AE2-9E1C1284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227" y="2984276"/>
            <a:ext cx="2923892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较大范围上下文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局部细节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稀疏大感受野（空洞）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水平狭长边缘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垂直狭长边缘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恒等分支（保持原始信息）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A99F521-E00D-E28A-7205-EF092F1931BF}"/>
                  </a:ext>
                </a:extLst>
              </p:cNvPr>
              <p:cNvSpPr txBox="1"/>
              <p:nvPr/>
            </p:nvSpPr>
            <p:spPr>
              <a:xfrm>
                <a:off x="1714966" y="5559393"/>
                <a:ext cx="6147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altLang="zh-CN" b="0" i="1" dirty="0" smtClean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₁,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₂] → </m:t>
                      </m:r>
                      <m:sSub>
                        <m:sSubPr>
                          <m:ctrlPr>
                            <a:rPr lang="fr-FR" altLang="zh-CN" b="0" i="1" dirty="0" smtClean="0">
                              <a:solidFill>
                                <a:srgbClr val="3B3B3B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1×1</m:t>
                          </m:r>
                        </m:sub>
                      </m:sSub>
                      <m:r>
                        <a:rPr lang="fr-FR" altLang="zh-CN" b="0" i="1" dirty="0" smtClean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𝐷𝑊</m:t>
                      </m:r>
                      <m:sSub>
                        <m:sSubPr>
                          <m:ctrlP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5×5</m:t>
                          </m:r>
                        </m:sub>
                      </m:sSub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1×1</m:t>
                          </m:r>
                        </m:sub>
                      </m:sSub>
                    </m:oMath>
                  </m:oMathPara>
                </a14:m>
                <a:endParaRPr lang="fr-FR" altLang="zh-CN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A99F521-E00D-E28A-7205-EF092F193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966" y="5559393"/>
                <a:ext cx="6147685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899ACE4D-E9E1-086E-9E57-66C20F62F04E}"/>
              </a:ext>
            </a:extLst>
          </p:cNvPr>
          <p:cNvSpPr txBox="1"/>
          <p:nvPr/>
        </p:nvSpPr>
        <p:spPr>
          <a:xfrm>
            <a:off x="1731000" y="5154327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推理等价：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702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AE501E6-46CC-9B88-7FA3-7DA5D11C1706}"/>
              </a:ext>
            </a:extLst>
          </p:cNvPr>
          <p:cNvSpPr/>
          <p:nvPr/>
        </p:nvSpPr>
        <p:spPr>
          <a:xfrm>
            <a:off x="162427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AFD</a:t>
            </a:r>
            <a:r>
              <a:rPr lang="zh-CN" altLang="en-US" dirty="0"/>
              <a:t>模块详解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50941C-4A36-B13B-C4FA-83C104BB2980}"/>
              </a:ext>
            </a:extLst>
          </p:cNvPr>
          <p:cNvSpPr txBox="1"/>
          <p:nvPr/>
        </p:nvSpPr>
        <p:spPr>
          <a:xfrm>
            <a:off x="741000" y="819000"/>
            <a:ext cx="10305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①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双分支每层输入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</a:t>
            </a: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② </a:t>
            </a:r>
            <a:r>
              <a:rPr lang="zh-CN" alt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没有输出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只返回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loss`</a:t>
            </a:r>
            <a:r>
              <a:rPr lang="zh-CN" altLang="fr-F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不修改特征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③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仅训练时增强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if self.training:`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④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拆除不影响推理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model.eval()`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→ 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跳过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⑤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零推理成本 推理时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完全不参与 </a:t>
            </a:r>
            <a:b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是通过损失函数的梯度来训练编码器，不是在特征上做前向变换。训练时用损失约束增强编码器，推理时拆掉无损。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DEC42-8C02-1283-618A-BAFBE572A2D4}"/>
              </a:ext>
            </a:extLst>
          </p:cNvPr>
          <p:cNvSpPr/>
          <p:nvPr/>
        </p:nvSpPr>
        <p:spPr>
          <a:xfrm>
            <a:off x="123600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降维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94896-1824-DC80-DCD2-3A8010BC87AE}"/>
              </a:ext>
            </a:extLst>
          </p:cNvPr>
          <p:cNvSpPr/>
          <p:nvPr/>
        </p:nvSpPr>
        <p:spPr>
          <a:xfrm>
            <a:off x="1236000" y="3652138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升维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8964EC-9161-3C21-7BFE-FFC476304FE2}"/>
              </a:ext>
            </a:extLst>
          </p:cNvPr>
          <p:cNvSpPr txBox="1"/>
          <p:nvPr/>
        </p:nvSpPr>
        <p:spPr>
          <a:xfrm>
            <a:off x="1663500" y="3861711"/>
            <a:ext cx="1317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attention_map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12FC78-B7D1-ED45-FD7A-7B3D16D40133}"/>
              </a:ext>
            </a:extLst>
          </p:cNvPr>
          <p:cNvSpPr txBox="1"/>
          <p:nvPr/>
        </p:nvSpPr>
        <p:spPr>
          <a:xfrm>
            <a:off x="1056000" y="4058450"/>
            <a:ext cx="7263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/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/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blipFill>
                <a:blip r:embed="rId4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/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DCB5F4-A2D7-BF57-2725-803CF36F90C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663500" y="3429000"/>
            <a:ext cx="0" cy="223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790DA9A1-59E8-0A0F-CD59-9325EA02B3D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83664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D3901CFF-3196-EF00-C940-351D85315F5D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147234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416DA52-D795-ABF8-0A97-30B6CEDF2A3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221160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301113A-808F-2376-9ADC-B5251BDD08F9}"/>
              </a:ext>
            </a:extLst>
          </p:cNvPr>
          <p:cNvSpPr txBox="1"/>
          <p:nvPr/>
        </p:nvSpPr>
        <p:spPr>
          <a:xfrm>
            <a:off x="1193114" y="5204096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3EAC2C-821A-3960-332A-16CC29C55CAF}"/>
              </a:ext>
            </a:extLst>
          </p:cNvPr>
          <p:cNvSpPr/>
          <p:nvPr/>
        </p:nvSpPr>
        <p:spPr>
          <a:xfrm>
            <a:off x="4512026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4614F0-E4DC-3F3A-A9A2-023FB58B4259}"/>
              </a:ext>
            </a:extLst>
          </p:cNvPr>
          <p:cNvSpPr/>
          <p:nvPr/>
        </p:nvSpPr>
        <p:spPr>
          <a:xfrm>
            <a:off x="555155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空间注意力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/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/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blipFill>
                <a:blip r:embed="rId6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/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D6F04EE-8167-028E-B85A-982E1F0340A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979050" y="3429000"/>
            <a:ext cx="0" cy="377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8D731C4-B5A6-5C61-973D-B729CDD5CBAB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515219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8728D2DA-A006-5892-8B13-5D0D21A3C231}"/>
              </a:ext>
            </a:extLst>
          </p:cNvPr>
          <p:cNvCxnSpPr>
            <a:cxnSpLocks/>
            <a:endCxn id="33" idx="0"/>
          </p:cNvCxnSpPr>
          <p:nvPr/>
        </p:nvCxnSpPr>
        <p:spPr>
          <a:xfrm rot="16200000" flipH="1">
            <a:off x="578789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6D3B1FE1-EE89-B8F4-FB36-5AEC4E68AA10}"/>
              </a:ext>
            </a:extLst>
          </p:cNvPr>
          <p:cNvCxnSpPr>
            <a:cxnSpLocks/>
            <a:endCxn id="34" idx="0"/>
          </p:cNvCxnSpPr>
          <p:nvPr/>
        </p:nvCxnSpPr>
        <p:spPr>
          <a:xfrm rot="16200000" flipH="1">
            <a:off x="652715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3B2578-8B84-B094-447E-6F208CA97F2E}"/>
              </a:ext>
            </a:extLst>
          </p:cNvPr>
          <p:cNvSpPr txBox="1"/>
          <p:nvPr/>
        </p:nvSpPr>
        <p:spPr>
          <a:xfrm>
            <a:off x="5625613" y="5204095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36B8CCD-CFCF-40AC-C51B-E84C777ECDDF}"/>
              </a:ext>
            </a:extLst>
          </p:cNvPr>
          <p:cNvSpPr txBox="1"/>
          <p:nvPr/>
        </p:nvSpPr>
        <p:spPr>
          <a:xfrm>
            <a:off x="5349920" y="3748294"/>
            <a:ext cx="863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1582C8D-28AF-EB43-5C1C-0C36CAA69B88}"/>
              </a:ext>
            </a:extLst>
          </p:cNvPr>
          <p:cNvSpPr txBox="1"/>
          <p:nvPr/>
        </p:nvSpPr>
        <p:spPr>
          <a:xfrm>
            <a:off x="5923011" y="3472141"/>
            <a:ext cx="105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spatial_map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09A9BAD-1D71-D528-B5AD-8226B05BF99A}"/>
              </a:ext>
            </a:extLst>
          </p:cNvPr>
          <p:cNvSpPr txBox="1"/>
          <p:nvPr/>
        </p:nvSpPr>
        <p:spPr>
          <a:xfrm>
            <a:off x="494750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AFD_semantic: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语义注意力蒸馏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B9DA0C4-447A-3031-16B5-36D8E6C16803}"/>
              </a:ext>
            </a:extLst>
          </p:cNvPr>
          <p:cNvSpPr txBox="1"/>
          <p:nvPr/>
        </p:nvSpPr>
        <p:spPr>
          <a:xfrm>
            <a:off x="4903757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AFD_spatial: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空间注意力蒸馏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C6F25356-A813-6245-DC93-FC205AA2D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844181"/>
              </p:ext>
            </p:extLst>
          </p:nvPr>
        </p:nvGraphicFramePr>
        <p:xfrm>
          <a:off x="8767619" y="3334908"/>
          <a:ext cx="3397146" cy="1915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713">
                  <a:extLst>
                    <a:ext uri="{9D8B030D-6E8A-4147-A177-3AD203B41FA5}">
                      <a16:colId xmlns:a16="http://schemas.microsoft.com/office/drawing/2014/main" val="3477755293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764496977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67763386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92615053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682154280"/>
                    </a:ext>
                  </a:extLst>
                </a:gridCol>
              </a:tblGrid>
              <a:tr h="38867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数据集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Baseline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+AFD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effectLst/>
                        </a:rPr>
                        <a:t>Δ</a:t>
                      </a:r>
                      <a:r>
                        <a:rPr lang="fr-FR" sz="1050" dirty="0">
                          <a:effectLst/>
                        </a:rPr>
                        <a:t>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结论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22981789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LEVIR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89.08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90.59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+1.51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有效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94430663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SYSU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82.54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82.11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0.43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轻微有害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9239308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WHU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93.64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effectLst/>
                        </a:rPr>
                        <a:t>90.37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3.27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明显有害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8652892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CDD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+0.02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 </a:t>
                      </a:r>
                      <a:r>
                        <a:rPr lang="zh-CN" altLang="en-US" sz="1050" dirty="0">
                          <a:effectLst/>
                        </a:rPr>
                        <a:t>无影响 </a:t>
                      </a:r>
                      <a:endParaRPr lang="en-US" altLang="zh-CN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91468244"/>
                  </a:ext>
                </a:extLst>
              </a:tr>
            </a:tbl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037F5623-606F-DDF0-BA33-5A3BAD9B5E7A}"/>
              </a:ext>
            </a:extLst>
          </p:cNvPr>
          <p:cNvSpPr txBox="1"/>
          <p:nvPr/>
        </p:nvSpPr>
        <p:spPr>
          <a:xfrm>
            <a:off x="8616123" y="3027131"/>
            <a:ext cx="341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测试</a:t>
            </a:r>
            <a:r>
              <a:rPr lang="en-US" altLang="zh-CN" sz="1400" dirty="0"/>
              <a:t>AFD</a:t>
            </a:r>
            <a:r>
              <a:rPr lang="zh-CN" altLang="en-US" sz="1400" dirty="0"/>
              <a:t>在</a:t>
            </a:r>
            <a:r>
              <a:rPr lang="en-US" altLang="zh-CN" sz="1400" dirty="0"/>
              <a:t>A2Net</a:t>
            </a:r>
            <a:r>
              <a:rPr lang="zh-CN" altLang="en-US" sz="1400" dirty="0"/>
              <a:t>（</a:t>
            </a:r>
            <a:r>
              <a:rPr lang="fr-FR" altLang="zh-CN" sz="1400" dirty="0"/>
              <a:t>LWGANet</a:t>
            </a:r>
            <a:r>
              <a:rPr lang="zh-CN" altLang="en-US" sz="1400" dirty="0"/>
              <a:t>骨干）有效性：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B894514-EC6F-3C1D-0E45-0A1D73101B7B}"/>
              </a:ext>
            </a:extLst>
          </p:cNvPr>
          <p:cNvSpPr txBox="1"/>
          <p:nvPr/>
        </p:nvSpPr>
        <p:spPr>
          <a:xfrm>
            <a:off x="8690599" y="5342594"/>
            <a:ext cx="3413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结论：外挂模块需要重新设计，因为它会把两个分支的特征拉近</a:t>
            </a:r>
            <a:r>
              <a:rPr lang="en-US" altLang="zh-CN" sz="1400" dirty="0"/>
              <a:t>/</a:t>
            </a:r>
            <a:r>
              <a:rPr lang="zh-CN" altLang="en-US" sz="1400" dirty="0"/>
              <a:t>对齐。</a:t>
            </a:r>
            <a:endParaRPr lang="en-US" altLang="zh-CN" sz="1400" dirty="0"/>
          </a:p>
          <a:p>
            <a:r>
              <a:rPr lang="zh-CN" altLang="en-US" sz="1400" dirty="0"/>
              <a:t>我们需要外挂模块加强编码器的差异保持或者</a:t>
            </a:r>
            <a:r>
              <a:rPr lang="zh-CN" altLang="en-US" sz="14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变化感知。</a:t>
            </a:r>
            <a:endParaRPr lang="zh-CN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2E08147-6174-38B1-1373-0D6187CAD91C}"/>
              </a:ext>
            </a:extLst>
          </p:cNvPr>
          <p:cNvSpPr txBox="1"/>
          <p:nvPr/>
        </p:nvSpPr>
        <p:spPr>
          <a:xfrm>
            <a:off x="145316" y="6288292"/>
            <a:ext cx="7120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80"/>
                </a:solidFill>
                <a:latin typeface="Consolas" panose="020B0609020204030204" pitchFamily="49" charset="0"/>
              </a:rPr>
              <a:t>注：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LEVIR: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未变化区占绝对主导且高度相似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变化区与未变化区差异足够大，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SYSU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与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的未变化区伪变化局多</a:t>
            </a:r>
            <a:endParaRPr lang="zh-CN" alt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099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7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17937</TotalTime>
  <Words>4321</Words>
  <Application>Microsoft Office PowerPoint</Application>
  <PresentationFormat>宽屏</PresentationFormat>
  <Paragraphs>618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-apple-system</vt:lpstr>
      <vt:lpstr>ui-sans-serif</vt:lpstr>
      <vt:lpstr>华文楷体</vt:lpstr>
      <vt:lpstr>宋体</vt:lpstr>
      <vt:lpstr>微软雅黑</vt:lpstr>
      <vt:lpstr>Arial</vt:lpstr>
      <vt:lpstr>Calibri</vt:lpstr>
      <vt:lpstr>Cambria Math</vt:lpstr>
      <vt:lpstr>Consolas</vt:lpstr>
      <vt:lpstr>Times New Roman</vt:lpstr>
      <vt:lpstr>Office Theme</vt:lpstr>
      <vt:lpstr>自定义设计方案</vt:lpstr>
      <vt:lpstr>组会汇报</vt:lpstr>
      <vt:lpstr>Overview</vt:lpstr>
      <vt:lpstr>BFD</vt:lpstr>
      <vt:lpstr>BFD</vt:lpstr>
      <vt:lpstr>SAM2+AMG</vt:lpstr>
      <vt:lpstr>GoodSAM：利用 SAM 结构先验指导轻量模型</vt:lpstr>
      <vt:lpstr>Masking meets Supervision</vt:lpstr>
      <vt:lpstr>Our Work整体结构</vt:lpstr>
      <vt:lpstr>SAM Structure Loss</vt:lpstr>
      <vt:lpstr>PLUG Mentor</vt:lpstr>
      <vt:lpstr>数据</vt:lpstr>
      <vt:lpstr>A2Net+LWGANet（baseline记录）</vt:lpstr>
      <vt:lpstr>Future Work</vt:lpstr>
      <vt:lpstr>Overview</vt:lpstr>
      <vt:lpstr>下一个工作Overview</vt:lpstr>
      <vt:lpstr>LSNet</vt:lpstr>
      <vt:lpstr>LSNet</vt:lpstr>
      <vt:lpstr>RepViT</vt:lpstr>
      <vt:lpstr>LWGANet</vt:lpstr>
      <vt:lpstr>时空重参数化思想</vt:lpstr>
      <vt:lpstr>AFD模块详解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禹棋 王</cp:lastModifiedBy>
  <cp:revision>928</cp:revision>
  <dcterms:created xsi:type="dcterms:W3CDTF">2019-08-31T02:02:00Z</dcterms:created>
  <dcterms:modified xsi:type="dcterms:W3CDTF">2026-08-31T10:59:07Z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