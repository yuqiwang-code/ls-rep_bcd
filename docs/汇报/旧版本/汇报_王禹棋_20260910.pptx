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  <p:sldMasterId id="2147483654" r:id="rId3"/>
  </p:sldMasterIdLst>
  <p:notesMasterIdLst>
    <p:notesMasterId r:id="rId18"/>
  </p:notesMasterIdLst>
  <p:handoutMasterIdLst>
    <p:handoutMasterId r:id="rId19"/>
  </p:handoutMasterIdLst>
  <p:sldIdLst>
    <p:sldId id="439" r:id="rId4"/>
    <p:sldId id="1967" r:id="rId5"/>
    <p:sldId id="1978" r:id="rId6"/>
    <p:sldId id="1979" r:id="rId7"/>
    <p:sldId id="1980" r:id="rId8"/>
    <p:sldId id="1981" r:id="rId9"/>
    <p:sldId id="1982" r:id="rId10"/>
    <p:sldId id="1983" r:id="rId11"/>
    <p:sldId id="1984" r:id="rId12"/>
    <p:sldId id="1985" r:id="rId13"/>
    <p:sldId id="1986" r:id="rId14"/>
    <p:sldId id="1966" r:id="rId15"/>
    <p:sldId id="1968" r:id="rId16"/>
    <p:sldId id="193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88" userDrawn="1">
          <p15:clr>
            <a:srgbClr val="A4A3A4"/>
          </p15:clr>
        </p15:guide>
        <p15:guide id="2" pos="7412" userDrawn="1">
          <p15:clr>
            <a:srgbClr val="A4A3A4"/>
          </p15:clr>
        </p15:guide>
        <p15:guide id="3" pos="2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zsh" initials="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5D7F"/>
    <a:srgbClr val="3483CA"/>
    <a:srgbClr val="5597D3"/>
    <a:srgbClr val="2C4D88"/>
    <a:srgbClr val="76ABDC"/>
    <a:srgbClr val="2F5597"/>
    <a:srgbClr val="984378"/>
    <a:srgbClr val="FFFFFF"/>
    <a:srgbClr val="54C3F4"/>
    <a:srgbClr val="2230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6" autoAdjust="0"/>
    <p:restoredTop sz="95192" autoAdjust="0"/>
  </p:normalViewPr>
  <p:slideViewPr>
    <p:cSldViewPr>
      <p:cViewPr varScale="1">
        <p:scale>
          <a:sx n="106" d="100"/>
          <a:sy n="106" d="100"/>
        </p:scale>
        <p:origin x="1080" y="156"/>
      </p:cViewPr>
      <p:guideLst>
        <p:guide orient="horz" pos="488"/>
        <p:guide pos="7412"/>
        <p:guide pos="240"/>
      </p:guideLst>
    </p:cSldViewPr>
  </p:slideViewPr>
  <p:outlineViewPr>
    <p:cViewPr>
      <p:scale>
        <a:sx n="33" d="100"/>
        <a:sy n="33" d="100"/>
      </p:scale>
      <p:origin x="0" y="-1191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2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3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EEE64E-9A2D-4D02-BD46-DFCFC74B5EE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D3604F-F5C7-412C-AE28-FF961BD94C8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2100" b="0" i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4760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9628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1843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4721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5297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7682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4558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7428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929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3145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3946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931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1852551"/>
          </a:xfrm>
          <a:solidFill>
            <a:srgbClr val="005D7F"/>
          </a:solidFill>
        </p:spPr>
        <p:txBody>
          <a:bodyPr anchor="ctr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4447" y="1"/>
            <a:ext cx="11797552" cy="669129"/>
          </a:xfrm>
          <a:noFill/>
        </p:spPr>
        <p:txBody>
          <a:bodyPr>
            <a:noAutofit/>
          </a:bodyPr>
          <a:lstStyle>
            <a:lvl1pPr>
              <a:lnSpc>
                <a:spcPct val="100000"/>
              </a:lnSpc>
              <a:defRPr sz="4000" b="1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94447" y="789710"/>
            <a:ext cx="11355295" cy="5820093"/>
          </a:xfrm>
        </p:spPr>
        <p:txBody>
          <a:bodyPr/>
          <a:lstStyle>
            <a:lvl1pPr algn="just">
              <a:lnSpc>
                <a:spcPct val="120000"/>
              </a:lnSpc>
              <a:defRPr sz="3200" b="1" i="0" baseline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algn="just">
              <a:lnSpc>
                <a:spcPct val="120000"/>
              </a:lnSpc>
              <a:defRPr sz="3000" b="0" i="0" baseline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defRPr>
            </a:lvl2pPr>
            <a:lvl3pPr algn="just">
              <a:lnSpc>
                <a:spcPct val="120000"/>
              </a:lnSpc>
              <a:defRPr sz="2800" b="0" i="0" baseline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3pPr>
            <a:lvl4pPr algn="just"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algn="just"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Line 1"/>
          <p:cNvSpPr>
            <a:spLocks noChangeShapeType="1"/>
          </p:cNvSpPr>
          <p:nvPr userDrawn="1"/>
        </p:nvSpPr>
        <p:spPr bwMode="auto">
          <a:xfrm>
            <a:off x="0" y="669130"/>
            <a:ext cx="10661650" cy="0"/>
          </a:xfrm>
          <a:prstGeom prst="line">
            <a:avLst/>
          </a:prstGeom>
          <a:noFill/>
          <a:ln w="34925">
            <a:solidFill>
              <a:srgbClr val="005D7F"/>
            </a:solidFill>
            <a:miter lim="800000"/>
          </a:ln>
          <a:effectLst/>
        </p:spPr>
        <p:txBody>
          <a:bodyPr/>
          <a:lstStyle/>
          <a:p>
            <a:pPr>
              <a:buFont typeface="Times New Roman" panose="02020603050405020304" pitchFamily="16" charset="0"/>
              <a:buNone/>
              <a:defRPr/>
            </a:pPr>
            <a:endParaRPr lang="en-GB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E36C418-9240-1A4C-6765-7F8140BD68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1766" y="47207"/>
            <a:ext cx="1480233" cy="621923"/>
          </a:xfrm>
          <a:prstGeom prst="rect">
            <a:avLst/>
          </a:prstGeom>
        </p:spPr>
      </p:pic>
      <p:sp>
        <p:nvSpPr>
          <p:cNvPr id="4" name="Line 1">
            <a:extLst>
              <a:ext uri="{FF2B5EF4-FFF2-40B4-BE49-F238E27FC236}">
                <a16:creationId xmlns:a16="http://schemas.microsoft.com/office/drawing/2014/main" id="{57EFDD6C-8898-6231-26FC-46546BEEF7B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0661650" y="669130"/>
            <a:ext cx="1530350" cy="0"/>
          </a:xfrm>
          <a:prstGeom prst="line">
            <a:avLst/>
          </a:prstGeom>
          <a:noFill/>
          <a:ln w="34925">
            <a:solidFill>
              <a:schemeClr val="accent4"/>
            </a:solidFill>
            <a:miter lim="800000"/>
          </a:ln>
          <a:effectLst/>
        </p:spPr>
        <p:txBody>
          <a:bodyPr/>
          <a:lstStyle/>
          <a:p>
            <a:pPr>
              <a:buFont typeface="Times New Roman" panose="02020603050405020304" pitchFamily="16" charset="0"/>
              <a:buNone/>
              <a:defRPr/>
            </a:pPr>
            <a:endParaRPr lang="en-GB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9393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">
            <a:extLst>
              <a:ext uri="{FF2B5EF4-FFF2-40B4-BE49-F238E27FC236}">
                <a16:creationId xmlns:a16="http://schemas.microsoft.com/office/drawing/2014/main" id="{2D3A4F20-17E8-F3F2-1E60-388BE38BA355}"/>
              </a:ext>
            </a:extLst>
          </p:cNvPr>
          <p:cNvSpPr>
            <a:spLocks noGrp="1"/>
          </p:cNvSpPr>
          <p:nvPr userDrawn="1"/>
        </p:nvSpPr>
        <p:spPr>
          <a:xfrm>
            <a:off x="-8255" y="2295843"/>
            <a:ext cx="12200255" cy="2142808"/>
          </a:xfrm>
          <a:prstGeom prst="rect">
            <a:avLst/>
          </a:prstGeom>
          <a:solidFill>
            <a:srgbClr val="005D7F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fontAlgn="ctr">
              <a:lnSpc>
                <a:spcPct val="100000"/>
              </a:lnSpc>
            </a:pPr>
            <a:r>
              <a:rPr lang="zh-CN" altLang="en-US" sz="8000" b="1" dirty="0">
                <a:latin typeface="Calibri" panose="020F0502020204030204" pitchFamily="34" charset="0"/>
                <a:ea typeface="黑体" panose="02010609060101010101" pitchFamily="49" charset="-122"/>
              </a:rPr>
              <a:t>谢谢！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74897A91-5FD9-8459-6268-DCCAF1556B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6439" y="4880633"/>
            <a:ext cx="3681858" cy="1545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804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68FE00-DBCC-C9A4-1177-D96E9618DF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RSML</a:t>
            </a:r>
            <a:r>
              <a:rPr lang="zh-CN" altLang="en-US" dirty="0"/>
              <a:t>小组基于</a:t>
            </a:r>
            <a:r>
              <a:rPr lang="en-US" altLang="zh-CN" dirty="0"/>
              <a:t>NKU</a:t>
            </a:r>
            <a:r>
              <a:rPr lang="zh-CN" altLang="en-US" dirty="0"/>
              <a:t>模板改进</a:t>
            </a:r>
          </a:p>
        </p:txBody>
      </p:sp>
    </p:spTree>
    <p:extLst>
      <p:ext uri="{BB962C8B-B14F-4D97-AF65-F5344CB8AC3E}">
        <p14:creationId xmlns:p14="http://schemas.microsoft.com/office/powerpoint/2010/main" val="2852893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 userDrawn="1"/>
        </p:nvSpPr>
        <p:spPr>
          <a:xfrm>
            <a:off x="11293947" y="6580997"/>
            <a:ext cx="898052" cy="306705"/>
          </a:xfrm>
          <a:prstGeom prst="rect">
            <a:avLst/>
          </a:prstGeom>
          <a:solidFill>
            <a:srgbClr val="ED6C00"/>
          </a:solidFill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400" dirty="0">
              <a:ln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90648"/>
          </a:xfrm>
          <a:prstGeom prst="rect">
            <a:avLst/>
          </a:prstGeom>
          <a:solidFill>
            <a:srgbClr val="005D7F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4447" y="991590"/>
            <a:ext cx="11355295" cy="57084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3528060" y="6581140"/>
            <a:ext cx="7370233" cy="306705"/>
          </a:xfrm>
          <a:prstGeom prst="rect">
            <a:avLst/>
          </a:prstGeom>
          <a:solidFill>
            <a:srgbClr val="005D7F"/>
          </a:solidFill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人工智能与计算机学院（软件学院）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0" y="6581140"/>
            <a:ext cx="3528060" cy="306705"/>
          </a:xfrm>
          <a:prstGeom prst="rect">
            <a:avLst/>
          </a:prstGeom>
          <a:solidFill>
            <a:srgbClr val="005D7F">
              <a:alpha val="62000"/>
            </a:srgb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江南大学 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Jiangnan University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0898293" y="6581140"/>
            <a:ext cx="1292860" cy="306705"/>
          </a:xfrm>
          <a:prstGeom prst="rect">
            <a:avLst/>
          </a:prstGeom>
          <a:solidFill>
            <a:srgbClr val="2C4D88"/>
          </a:solidFill>
        </p:spPr>
        <p:txBody>
          <a:bodyPr wrap="square" rtlCol="0">
            <a:spAutoFit/>
          </a:bodyPr>
          <a:lstStyle/>
          <a:p>
            <a:pPr algn="ctr" fontAlgn="ctr"/>
            <a:fld id="{C603BFBC-EF15-48A5-8249-0FEAC4BE5DBB}" type="slidenum">
              <a:rPr lang="en-US" sz="1400" smtClean="0">
                <a:solidFill>
                  <a:schemeClr val="bg1"/>
                </a:solidFill>
              </a:rPr>
              <a:pPr algn="ctr" fontAlgn="ctr"/>
              <a:t>‹#›</a:t>
            </a:fld>
            <a:endParaRPr lang="en-US" sz="1400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6219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-4128" y="0"/>
            <a:ext cx="12200255" cy="3218815"/>
          </a:xfrm>
        </p:spPr>
        <p:txBody>
          <a:bodyPr>
            <a:normAutofit/>
          </a:bodyPr>
          <a:lstStyle/>
          <a:p>
            <a:r>
              <a:rPr lang="zh-CN" altLang="en-US" sz="8000" b="1" dirty="0">
                <a:latin typeface="Calibri" panose="020F0502020204030204" pitchFamily="34" charset="0"/>
                <a:ea typeface="黑体" panose="02010609060101010101" pitchFamily="49" charset="-122"/>
              </a:rPr>
              <a:t>组会汇报</a:t>
            </a:r>
          </a:p>
        </p:txBody>
      </p:sp>
      <p:sp>
        <p:nvSpPr>
          <p:cNvPr id="5" name="Subtitle 2"/>
          <p:cNvSpPr txBox="1"/>
          <p:nvPr/>
        </p:nvSpPr>
        <p:spPr>
          <a:xfrm>
            <a:off x="1794510" y="3879000"/>
            <a:ext cx="8602980" cy="910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350"/>
              </a:spcBef>
            </a:pPr>
            <a:r>
              <a:rPr lang="zh-CN" altLang="en-US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华文楷体" panose="02010600040101010101" pitchFamily="2" charset="-122"/>
              </a:rPr>
              <a:t>王禹棋</a:t>
            </a:r>
            <a:endParaRPr lang="en-US" altLang="zh-CN" sz="1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华文楷体" panose="0201060004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2398250-0BC2-1A39-9C34-76116551D556}"/>
              </a:ext>
            </a:extLst>
          </p:cNvPr>
          <p:cNvSpPr txBox="1"/>
          <p:nvPr/>
        </p:nvSpPr>
        <p:spPr>
          <a:xfrm>
            <a:off x="4016374" y="5589002"/>
            <a:ext cx="4159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5E2B6BFC-3EEF-4B6A-A420-397B5415EFE5}" type="datetime2">
              <a:rPr lang="zh-CN" altLang="en-US" sz="240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2026年9月10日</a:t>
            </a:fld>
            <a:endParaRPr lang="zh-CN" altLang="en-US" sz="24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922A1-C243-7B53-3029-14CB55AE8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Overview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61C044-2992-E67E-4996-56303A0B99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447" y="789711"/>
            <a:ext cx="11355295" cy="484274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一、</a:t>
            </a:r>
            <a:r>
              <a:rPr lang="en-US" altLang="zh-CN" dirty="0">
                <a:solidFill>
                  <a:srgbClr val="C00000"/>
                </a:solidFill>
              </a:rPr>
              <a:t>Academic Papers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fr-FR" altLang="zh-CN" b="0" dirty="0"/>
              <a:t>Mask-CDKD: A source-free and label-free cross-domain knowledge distillation framework from SAM for satellite onboard VHR land-cover mapping</a:t>
            </a:r>
            <a:r>
              <a:rPr lang="en-US" altLang="zh-CN" b="0" dirty="0"/>
              <a:t>.ISPRS,2026.</a:t>
            </a:r>
            <a:endParaRPr lang="fr-FR" altLang="zh-CN" b="0" dirty="0"/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b="0" dirty="0"/>
              <a:t>BAN:A New Learning Paradigm for Foundation Model-Based Remote-Sensing Change Detection</a:t>
            </a:r>
            <a:r>
              <a:rPr lang="fr-FR" altLang="zh-CN" b="0" dirty="0"/>
              <a:t>. TGRS</a:t>
            </a:r>
            <a:r>
              <a:rPr lang="en-US" altLang="zh-CN" b="0" dirty="0"/>
              <a:t>,2024</a:t>
            </a:r>
            <a:r>
              <a:rPr lang="en-US" altLang="zh-CN" dirty="0"/>
              <a:t>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altLang="zh-CN" b="0" dirty="0"/>
          </a:p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二、</a:t>
            </a:r>
            <a:r>
              <a:rPr lang="en-US" altLang="zh-CN" dirty="0">
                <a:solidFill>
                  <a:srgbClr val="C00000"/>
                </a:solidFill>
              </a:rPr>
              <a:t>Our Work</a:t>
            </a:r>
          </a:p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三、</a:t>
            </a:r>
            <a:r>
              <a:rPr lang="en-US" altLang="zh-CN" dirty="0">
                <a:solidFill>
                  <a:srgbClr val="C00000"/>
                </a:solidFill>
              </a:rPr>
              <a:t>Future Work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28667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CEA8553-509C-E52D-F12F-E73AA46F755D}"/>
              </a:ext>
            </a:extLst>
          </p:cNvPr>
          <p:cNvSpPr txBox="1"/>
          <p:nvPr/>
        </p:nvSpPr>
        <p:spPr>
          <a:xfrm>
            <a:off x="30921" y="6129000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fr-FR" altLang="zh-CN" dirty="0"/>
              <a:t>Shu Daoyu, Zhang Zhan, Huang Xiao, Wang Ru, Jia Nan, Fu Xinzhe, Yang Bingnan, Wan Fang, Lu Jianzhong, Gong Jianya. Mask-CDKD: A source-free and label-free cross-domain knowledge distillation framework from SAM for satellite onboard VHR land-cover mapping[J]. ISPRS</a:t>
            </a:r>
            <a:r>
              <a:rPr lang="zh-CN" altLang="en-US" dirty="0"/>
              <a:t>，</a:t>
            </a:r>
            <a:r>
              <a:rPr lang="en-US" altLang="zh-CN" dirty="0"/>
              <a:t>2026</a:t>
            </a:r>
            <a:endParaRPr lang="zh-CN" altLang="en-US" dirty="0"/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BFFA319F-43A0-A52D-5087-3144D104A1B4}"/>
              </a:ext>
            </a:extLst>
          </p:cNvPr>
          <p:cNvSpPr txBox="1">
            <a:spLocks/>
          </p:cNvSpPr>
          <p:nvPr/>
        </p:nvSpPr>
        <p:spPr>
          <a:xfrm>
            <a:off x="394447" y="1"/>
            <a:ext cx="6185135" cy="66912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fr-FR" altLang="zh-CN" dirty="0"/>
              <a:t>Mask-CDKD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8DA0672-2EE5-7F77-F3F0-50FF33FD013F}"/>
              </a:ext>
            </a:extLst>
          </p:cNvPr>
          <p:cNvSpPr txBox="1"/>
          <p:nvPr/>
        </p:nvSpPr>
        <p:spPr>
          <a:xfrm>
            <a:off x="111000" y="864000"/>
            <a:ext cx="612014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任务：</a:t>
            </a:r>
            <a:r>
              <a:rPr lang="en-US" altLang="zh-CN" b="1" dirty="0"/>
              <a:t>VHR </a:t>
            </a:r>
            <a:r>
              <a:rPr lang="zh-CN" altLang="en-US" b="1" dirty="0"/>
              <a:t>遥感土地覆盖语义分割（</a:t>
            </a:r>
            <a:r>
              <a:rPr lang="en-US" altLang="zh-CN" b="1" dirty="0"/>
              <a:t>LULC Mapping</a:t>
            </a:r>
            <a:r>
              <a:rPr lang="zh-CN" altLang="en-US" b="1" dirty="0"/>
              <a:t>）</a:t>
            </a:r>
            <a:r>
              <a:rPr lang="zh-CN" altLang="en-US" dirty="0"/>
              <a:t>，面向卫星星上轻量部署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Motivation</a:t>
            </a:r>
            <a:r>
              <a:rPr lang="zh-CN" altLang="en-US" dirty="0"/>
              <a:t>：</a:t>
            </a:r>
            <a:br>
              <a:rPr lang="en-US" altLang="zh-CN" dirty="0"/>
            </a:br>
            <a:r>
              <a:rPr lang="en-US" altLang="zh-CN" dirty="0"/>
              <a:t>1.</a:t>
            </a:r>
            <a:r>
              <a:rPr lang="fr-FR" altLang="zh-CN" dirty="0"/>
              <a:t> SAM </a:t>
            </a:r>
            <a:r>
              <a:rPr lang="zh-CN" altLang="en-US" dirty="0"/>
              <a:t>很强，但模型太大，不适合星上部署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 </a:t>
            </a:r>
            <a:r>
              <a:rPr lang="en-US" altLang="zh-CN" dirty="0"/>
              <a:t>SAM </a:t>
            </a:r>
            <a:r>
              <a:rPr lang="zh-CN" altLang="en-US" dirty="0"/>
              <a:t>来自自然图像，直接蒸馏到遥感会带来域偏差</a:t>
            </a:r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dirty="0"/>
              <a:t>现有跨域蒸馏依赖源域数据</a:t>
            </a:r>
            <a:r>
              <a:rPr lang="en-US" altLang="zh-CN" dirty="0"/>
              <a:t>/</a:t>
            </a:r>
            <a:r>
              <a:rPr lang="zh-CN" altLang="en-US" dirty="0"/>
              <a:t>标签，且静态域分离不够灵活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创新点：</a:t>
            </a:r>
            <a:br>
              <a:rPr lang="en-US" altLang="zh-CN" dirty="0"/>
            </a:br>
            <a:r>
              <a:rPr lang="en-US" altLang="zh-CN" dirty="0"/>
              <a:t>1.</a:t>
            </a:r>
            <a:r>
              <a:rPr lang="zh-CN" altLang="en-US" b="1" dirty="0"/>
              <a:t> </a:t>
            </a:r>
            <a:r>
              <a:rPr lang="en-US" altLang="zh-CN" b="1" dirty="0"/>
              <a:t>SAM→</a:t>
            </a:r>
            <a:r>
              <a:rPr lang="zh-CN" altLang="en-US" b="1" dirty="0"/>
              <a:t>轻量 </a:t>
            </a:r>
            <a:r>
              <a:rPr lang="en-US" altLang="zh-CN" b="1" dirty="0" err="1"/>
              <a:t>ViT</a:t>
            </a:r>
            <a:r>
              <a:rPr lang="en-US" altLang="zh-CN" b="1" dirty="0"/>
              <a:t>-Small </a:t>
            </a:r>
            <a:r>
              <a:rPr lang="zh-CN" altLang="en-US" b="1" dirty="0"/>
              <a:t>蒸馏</a:t>
            </a:r>
            <a:r>
              <a:rPr lang="zh-CN" altLang="en-US" dirty="0"/>
              <a:t>：训练时利用大模型知识，推理时只保留轻量学生。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b="1" dirty="0"/>
              <a:t> </a:t>
            </a:r>
            <a:r>
              <a:rPr lang="en-US" altLang="zh-CN" b="1" dirty="0" err="1"/>
              <a:t>MMoA</a:t>
            </a:r>
            <a:r>
              <a:rPr lang="en-US" altLang="zh-CN" b="1" dirty="0"/>
              <a:t> </a:t>
            </a:r>
            <a:r>
              <a:rPr lang="zh-CN" altLang="en-US" b="1" dirty="0"/>
              <a:t>多尺度混合适配器</a:t>
            </a:r>
            <a:r>
              <a:rPr lang="zh-CN" altLang="en-US" dirty="0"/>
              <a:t>：在冻结 </a:t>
            </a:r>
            <a:r>
              <a:rPr lang="en-US" altLang="zh-CN" dirty="0"/>
              <a:t>SAM </a:t>
            </a:r>
            <a:r>
              <a:rPr lang="zh-CN" altLang="en-US" dirty="0"/>
              <a:t>主干的基础上，动态校准多尺度遥感特征，抑制自然图像域干扰。</a:t>
            </a:r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b="1" dirty="0"/>
              <a:t>无源无标签 </a:t>
            </a:r>
            <a:r>
              <a:rPr lang="en-US" altLang="zh-CN" b="1" dirty="0"/>
              <a:t>+ MIM + </a:t>
            </a:r>
            <a:r>
              <a:rPr lang="zh-CN" altLang="en-US" b="1" dirty="0"/>
              <a:t>双向协同蒸馏</a:t>
            </a:r>
            <a:r>
              <a:rPr lang="zh-CN" altLang="en-US" dirty="0"/>
              <a:t>：只用无标签 </a:t>
            </a:r>
            <a:r>
              <a:rPr lang="en-US" altLang="zh-CN" dirty="0"/>
              <a:t>VHR </a:t>
            </a:r>
            <a:r>
              <a:rPr lang="zh-CN" altLang="en-US" dirty="0"/>
              <a:t>遥感影像，通过重建自监督和教师</a:t>
            </a:r>
            <a:r>
              <a:rPr lang="en-US" altLang="zh-CN" dirty="0"/>
              <a:t>-</a:t>
            </a:r>
            <a:r>
              <a:rPr lang="zh-CN" altLang="en-US" dirty="0"/>
              <a:t>学生双向反馈完成域适配。</a:t>
            </a:r>
            <a:endParaRPr lang="en-US" altLang="zh-CN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0ACAB75-020B-DE77-33D1-106187515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921" y="1547354"/>
            <a:ext cx="6031006" cy="3763292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73DA9C69-5D79-78E7-9579-6C9D65F3711F}"/>
              </a:ext>
            </a:extLst>
          </p:cNvPr>
          <p:cNvSpPr txBox="1"/>
          <p:nvPr/>
        </p:nvSpPr>
        <p:spPr>
          <a:xfrm>
            <a:off x="6210172" y="954000"/>
            <a:ext cx="61201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数据集：</a:t>
            </a:r>
            <a:endParaRPr lang="fr-FR" altLang="zh-CN" dirty="0"/>
          </a:p>
          <a:p>
            <a:r>
              <a:rPr lang="fr-FR" altLang="zh-CN" dirty="0"/>
              <a:t>LuoJiaCDKD-100K</a:t>
            </a:r>
            <a:r>
              <a:rPr lang="zh-CN" altLang="fr-FR" dirty="0"/>
              <a:t>：</a:t>
            </a:r>
            <a:r>
              <a:rPr lang="fr-FR" altLang="zh-CN" dirty="0"/>
              <a:t>100,801 </a:t>
            </a:r>
            <a:r>
              <a:rPr lang="zh-CN" altLang="en-US" dirty="0"/>
              <a:t>张 </a:t>
            </a:r>
            <a:r>
              <a:rPr lang="en-US" altLang="zh-CN" dirty="0"/>
              <a:t>1024×1024 </a:t>
            </a:r>
            <a:r>
              <a:rPr lang="fr-FR" altLang="zh-CN" dirty="0"/>
              <a:t>VHR </a:t>
            </a:r>
            <a:r>
              <a:rPr lang="zh-CN" altLang="en-US" dirty="0"/>
              <a:t>遥感影像</a:t>
            </a:r>
          </a:p>
        </p:txBody>
      </p:sp>
    </p:spTree>
    <p:extLst>
      <p:ext uri="{BB962C8B-B14F-4D97-AF65-F5344CB8AC3E}">
        <p14:creationId xmlns:p14="http://schemas.microsoft.com/office/powerpoint/2010/main" val="171189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84E104A6-CE2D-16A8-B9FD-15B06F03FA01}"/>
              </a:ext>
            </a:extLst>
          </p:cNvPr>
          <p:cNvSpPr txBox="1"/>
          <p:nvPr/>
        </p:nvSpPr>
        <p:spPr>
          <a:xfrm>
            <a:off x="30921" y="6129000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fr-FR" altLang="zh-CN" dirty="0"/>
              <a:t>Shu Daoyu, Zhang Zhan, Huang Xiao, Wang Ru, Jia Nan, Fu Xinzhe, Yang Bingnan, Wan Fang, Lu Jianzhong, Gong Jianya. Mask-CDKD: A source-free and label-free cross-domain knowledge distillation framework from SAM for satellite onboard VHR land-cover mapping[J]. ISPRS</a:t>
            </a:r>
            <a:r>
              <a:rPr lang="zh-CN" altLang="en-US" dirty="0"/>
              <a:t>，</a:t>
            </a:r>
            <a:r>
              <a:rPr lang="en-US" altLang="zh-CN" dirty="0"/>
              <a:t>2026</a:t>
            </a:r>
            <a:endParaRPr lang="zh-CN" altLang="en-US" dirty="0"/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5AA3DBA4-7B8C-ED3E-3FE6-825B8FCBD345}"/>
              </a:ext>
            </a:extLst>
          </p:cNvPr>
          <p:cNvSpPr txBox="1">
            <a:spLocks/>
          </p:cNvSpPr>
          <p:nvPr/>
        </p:nvSpPr>
        <p:spPr>
          <a:xfrm>
            <a:off x="394447" y="1"/>
            <a:ext cx="6185135" cy="66912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fr-FR" altLang="zh-CN" dirty="0"/>
              <a:t>Mask-CDKD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63BDE045-4BD5-C953-4D38-1DB602A349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2337482"/>
            <a:ext cx="7176000" cy="385134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6F291BF7-2572-5B26-1D58-DF704B9517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6001" y="886981"/>
            <a:ext cx="4955145" cy="525866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740A033-26C6-E91D-72F4-6A6AB371EB28}"/>
              </a:ext>
            </a:extLst>
          </p:cNvPr>
          <p:cNvSpPr txBox="1"/>
          <p:nvPr/>
        </p:nvSpPr>
        <p:spPr>
          <a:xfrm>
            <a:off x="134514" y="919302"/>
            <a:ext cx="6705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CDKD</a:t>
            </a:r>
            <a:r>
              <a:rPr lang="zh-CN" altLang="en-US" dirty="0"/>
              <a:t>：无需源域数据与像素标注。</a:t>
            </a:r>
            <a:endParaRPr lang="en-US" altLang="zh-CN" dirty="0"/>
          </a:p>
          <a:p>
            <a:r>
              <a:rPr lang="fr-FR" altLang="zh-CN" b="1" dirty="0"/>
              <a:t>MMoA</a:t>
            </a:r>
            <a:r>
              <a:rPr lang="zh-CN" altLang="fr-FR" dirty="0"/>
              <a:t>：</a:t>
            </a:r>
            <a:r>
              <a:rPr lang="zh-CN" altLang="en-US" dirty="0"/>
              <a:t>多尺度 </a:t>
            </a:r>
            <a:r>
              <a:rPr lang="fr-FR" altLang="zh-CN" dirty="0"/>
              <a:t>Adapter + </a:t>
            </a:r>
            <a:r>
              <a:rPr lang="zh-CN" altLang="en-US" dirty="0"/>
              <a:t>动态 </a:t>
            </a:r>
            <a:r>
              <a:rPr lang="fr-FR" altLang="zh-CN" dirty="0"/>
              <a:t>Gate</a:t>
            </a:r>
            <a:r>
              <a:rPr lang="zh-CN" altLang="fr-FR" dirty="0"/>
              <a:t>，</a:t>
            </a:r>
            <a:r>
              <a:rPr lang="zh-CN" altLang="en-US" dirty="0"/>
              <a:t>过滤域特定干扰。</a:t>
            </a:r>
            <a:endParaRPr lang="en-US" altLang="zh-CN" dirty="0"/>
          </a:p>
          <a:p>
            <a:r>
              <a:rPr lang="fr-FR" altLang="zh-CN" b="1" dirty="0"/>
              <a:t>Bidirectional KD</a:t>
            </a:r>
            <a:r>
              <a:rPr lang="zh-CN" altLang="fr-FR" dirty="0"/>
              <a:t>：</a:t>
            </a:r>
            <a:r>
              <a:rPr lang="zh-CN" altLang="en-US" dirty="0"/>
              <a:t>教师适配与学生学习协同优化。</a:t>
            </a:r>
            <a:endParaRPr lang="en-US" altLang="zh-CN" dirty="0"/>
          </a:p>
          <a:p>
            <a:r>
              <a:rPr lang="fr-FR" altLang="zh-CN" b="1" dirty="0"/>
              <a:t>MIM Reconstruction</a:t>
            </a:r>
            <a:r>
              <a:rPr lang="zh-CN" altLang="fr-FR" dirty="0"/>
              <a:t>：</a:t>
            </a:r>
            <a:r>
              <a:rPr lang="zh-CN" altLang="en-US" dirty="0"/>
              <a:t>增强目标域结构建模，仅部署轻量学生。</a:t>
            </a:r>
          </a:p>
        </p:txBody>
      </p:sp>
    </p:spTree>
    <p:extLst>
      <p:ext uri="{BB962C8B-B14F-4D97-AF65-F5344CB8AC3E}">
        <p14:creationId xmlns:p14="http://schemas.microsoft.com/office/powerpoint/2010/main" val="3428265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84E104A6-CE2D-16A8-B9FD-15B06F03FA01}"/>
              </a:ext>
            </a:extLst>
          </p:cNvPr>
          <p:cNvSpPr txBox="1"/>
          <p:nvPr/>
        </p:nvSpPr>
        <p:spPr>
          <a:xfrm>
            <a:off x="30921" y="6129000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fr-FR" altLang="zh-CN" dirty="0"/>
              <a:t>Shu Daoyu, Zhang Zhan, Huang Xiao, Wang Ru, Jia Nan, Fu Xinzhe, Yang Bingnan, Wan Fang, Lu Jianzhong, Gong Jianya. Mask-CDKD: A source-free and label-free cross-domain knowledge distillation framework from SAM for satellite onboard VHR land-cover mapping[J]. ISPRS</a:t>
            </a:r>
            <a:r>
              <a:rPr lang="zh-CN" altLang="en-US" dirty="0"/>
              <a:t>，</a:t>
            </a:r>
            <a:r>
              <a:rPr lang="en-US" altLang="zh-CN" dirty="0"/>
              <a:t>2026</a:t>
            </a:r>
            <a:endParaRPr lang="zh-CN" altLang="en-US" dirty="0"/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5AA3DBA4-7B8C-ED3E-3FE6-825B8FCBD345}"/>
              </a:ext>
            </a:extLst>
          </p:cNvPr>
          <p:cNvSpPr txBox="1">
            <a:spLocks/>
          </p:cNvSpPr>
          <p:nvPr/>
        </p:nvSpPr>
        <p:spPr>
          <a:xfrm>
            <a:off x="394447" y="1"/>
            <a:ext cx="6185135" cy="66912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fr-FR" altLang="zh-CN" dirty="0"/>
              <a:t>Mask-CDKD</a:t>
            </a:r>
            <a:r>
              <a:rPr lang="zh-CN" altLang="en-US" dirty="0"/>
              <a:t>定量结果</a:t>
            </a:r>
            <a:endParaRPr lang="fr-FR" altLang="zh-CN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643262E-2923-F025-AB6D-B4B64E6C7E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14975"/>
            <a:ext cx="12192000" cy="542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079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84E104A6-CE2D-16A8-B9FD-15B06F03FA01}"/>
              </a:ext>
            </a:extLst>
          </p:cNvPr>
          <p:cNvSpPr txBox="1"/>
          <p:nvPr/>
        </p:nvSpPr>
        <p:spPr>
          <a:xfrm>
            <a:off x="30921" y="6129000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fr-FR" altLang="zh-CN" dirty="0"/>
              <a:t>Shu Daoyu, Zhang Zhan, Huang Xiao, Wang Ru, Jia Nan, Fu Xinzhe, Yang Bingnan, Wan Fang, Lu Jianzhong, Gong Jianya. Mask-CDKD: A source-free and label-free cross-domain knowledge distillation framework from SAM for satellite onboard VHR land-cover mapping[J]. ISPRS</a:t>
            </a:r>
            <a:r>
              <a:rPr lang="zh-CN" altLang="en-US" dirty="0"/>
              <a:t>，</a:t>
            </a:r>
            <a:r>
              <a:rPr lang="en-US" altLang="zh-CN" dirty="0"/>
              <a:t>2026</a:t>
            </a:r>
            <a:endParaRPr lang="zh-CN" altLang="en-US" dirty="0"/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5AA3DBA4-7B8C-ED3E-3FE6-825B8FCBD345}"/>
              </a:ext>
            </a:extLst>
          </p:cNvPr>
          <p:cNvSpPr txBox="1">
            <a:spLocks/>
          </p:cNvSpPr>
          <p:nvPr/>
        </p:nvSpPr>
        <p:spPr>
          <a:xfrm>
            <a:off x="394447" y="1"/>
            <a:ext cx="6185135" cy="66912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fr-FR" altLang="zh-CN" dirty="0"/>
              <a:t>Mask-CDKD</a:t>
            </a:r>
            <a:r>
              <a:rPr lang="zh-CN" altLang="en-US" dirty="0"/>
              <a:t>定性结果</a:t>
            </a:r>
            <a:endParaRPr lang="fr-FR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F46F77C-9B3E-D6D4-6490-4B7A12AAE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289" y="901450"/>
            <a:ext cx="10391421" cy="5234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623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84E104A6-CE2D-16A8-B9FD-15B06F03FA01}"/>
              </a:ext>
            </a:extLst>
          </p:cNvPr>
          <p:cNvSpPr txBox="1"/>
          <p:nvPr/>
        </p:nvSpPr>
        <p:spPr>
          <a:xfrm>
            <a:off x="0" y="6264000"/>
            <a:ext cx="121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fr-FR" altLang="zh-CN" dirty="0"/>
              <a:t>Kaiyu Li, Xiangyong Cao, Deyu Meng</a:t>
            </a:r>
            <a:r>
              <a:rPr lang="en-US" altLang="zh-CN" dirty="0"/>
              <a:t>.A New Learning Paradigm for Foundation Model-Based Remote-Sensing Change Detection</a:t>
            </a:r>
            <a:r>
              <a:rPr lang="fr-FR" altLang="zh-CN" dirty="0"/>
              <a:t>. TGRS</a:t>
            </a:r>
            <a:r>
              <a:rPr lang="en-US" altLang="zh-CN" dirty="0"/>
              <a:t>,2024</a:t>
            </a:r>
            <a:endParaRPr lang="zh-CN" altLang="en-US" dirty="0"/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5AA3DBA4-7B8C-ED3E-3FE6-825B8FCBD345}"/>
              </a:ext>
            </a:extLst>
          </p:cNvPr>
          <p:cNvSpPr txBox="1">
            <a:spLocks/>
          </p:cNvSpPr>
          <p:nvPr/>
        </p:nvSpPr>
        <p:spPr>
          <a:xfrm>
            <a:off x="394447" y="1"/>
            <a:ext cx="6185135" cy="66912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BAN</a:t>
            </a:r>
            <a:endParaRPr lang="fr-FR" altLang="zh-CN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D76F870-CE5E-81B0-800E-9A34A2F84A4D}"/>
              </a:ext>
            </a:extLst>
          </p:cNvPr>
          <p:cNvSpPr txBox="1"/>
          <p:nvPr/>
        </p:nvSpPr>
        <p:spPr>
          <a:xfrm>
            <a:off x="471000" y="819000"/>
            <a:ext cx="11025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任务：</a:t>
            </a:r>
            <a:r>
              <a:rPr lang="en-US" altLang="zh-CN" b="1" dirty="0"/>
              <a:t>RS_BCD</a:t>
            </a:r>
          </a:p>
          <a:p>
            <a:br>
              <a:rPr lang="en-US" altLang="zh-CN" b="1" dirty="0"/>
            </a:br>
            <a:r>
              <a:rPr lang="fr-FR" altLang="zh-CN" b="1" dirty="0"/>
              <a:t>Motivation</a:t>
            </a:r>
            <a:r>
              <a:rPr lang="zh-CN" altLang="fr-FR" b="1" dirty="0"/>
              <a:t>：</a:t>
            </a:r>
            <a:r>
              <a:rPr lang="fr-FR" altLang="zh-CN" dirty="0"/>
              <a:t> CD </a:t>
            </a:r>
            <a:r>
              <a:rPr lang="zh-CN" altLang="en-US" dirty="0"/>
              <a:t>标注数据有限，且 </a:t>
            </a:r>
            <a:r>
              <a:rPr lang="fr-FR" altLang="zh-CN" dirty="0"/>
              <a:t>Foundation Model </a:t>
            </a:r>
            <a:r>
              <a:rPr lang="zh-CN" altLang="en-US" dirty="0"/>
              <a:t>与遥感二时相 </a:t>
            </a:r>
            <a:r>
              <a:rPr lang="fr-FR" altLang="zh-CN" dirty="0"/>
              <a:t>CD </a:t>
            </a:r>
            <a:r>
              <a:rPr lang="zh-CN" altLang="en-US" dirty="0"/>
              <a:t>存在域、任务和分辨率差异。</a:t>
            </a:r>
            <a:endParaRPr lang="en-US" altLang="zh-CN" dirty="0"/>
          </a:p>
          <a:p>
            <a:br>
              <a:rPr lang="zh-CN" altLang="en-US" dirty="0"/>
            </a:br>
            <a:r>
              <a:rPr lang="zh-CN" altLang="en-US" b="1" dirty="0"/>
              <a:t>创新点</a:t>
            </a:r>
            <a:r>
              <a:rPr lang="zh-CN" altLang="fr-FR" b="1" dirty="0"/>
              <a:t>：</a:t>
            </a:r>
            <a:r>
              <a:rPr lang="fr-FR" altLang="zh-CN" dirty="0"/>
              <a:t> </a:t>
            </a:r>
            <a:r>
              <a:rPr lang="zh-CN" altLang="en-US" dirty="0"/>
              <a:t>提出 </a:t>
            </a:r>
            <a:r>
              <a:rPr lang="fr-FR" altLang="zh-CN" dirty="0"/>
              <a:t>BAN</a:t>
            </a:r>
            <a:r>
              <a:rPr lang="zh-CN" altLang="fr-FR" dirty="0"/>
              <a:t>，</a:t>
            </a:r>
            <a:r>
              <a:rPr lang="zh-CN" altLang="en-US" dirty="0"/>
              <a:t>通过</a:t>
            </a:r>
            <a:r>
              <a:rPr lang="zh-CN" altLang="en-US" u="sng" dirty="0"/>
              <a:t>冻结 </a:t>
            </a:r>
            <a:r>
              <a:rPr lang="fr-FR" altLang="zh-CN" u="sng" dirty="0"/>
              <a:t>Foundation Model </a:t>
            </a:r>
            <a:r>
              <a:rPr lang="fr-FR" altLang="zh-CN" dirty="0"/>
              <a:t>+ Bi-TAB + </a:t>
            </a:r>
            <a:r>
              <a:rPr lang="fr-FR" altLang="zh-CN" dirty="0">
                <a:solidFill>
                  <a:srgbClr val="FF0000"/>
                </a:solidFill>
              </a:rPr>
              <a:t>Bridging Module </a:t>
            </a:r>
            <a:r>
              <a:rPr lang="zh-CN" altLang="en-US" dirty="0"/>
              <a:t>实现通用知识的选择、对齐与注入，并用 </a:t>
            </a:r>
            <a:r>
              <a:rPr lang="fr-FR" altLang="zh-CN" dirty="0"/>
              <a:t>ARIS </a:t>
            </a:r>
            <a:r>
              <a:rPr lang="zh-CN" altLang="en-US" dirty="0"/>
              <a:t>（非对称分辨率输入策略）解决分辨率不匹配。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4820346-43D4-4841-DFB7-347A18147C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000" y="3584149"/>
            <a:ext cx="347210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zh-CN" dirty="0"/>
              <a:t>Foundation Model</a:t>
            </a:r>
            <a:r>
              <a:rPr lang="zh-CN" altLang="en-US" dirty="0"/>
              <a:t>可选：</a:t>
            </a:r>
            <a:endParaRPr lang="zh-CN" altLang="zh-CN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dirty="0">
                <a:latin typeface="Arial" panose="020B0604020202020204" pitchFamily="34" charset="0"/>
              </a:rPr>
              <a:t>CLIP ViT-L/14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dirty="0">
                <a:latin typeface="Arial" panose="020B0604020202020204" pitchFamily="34" charset="0"/>
              </a:rPr>
              <a:t>RemoteCLIP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dirty="0">
                <a:latin typeface="Arial" panose="020B0604020202020204" pitchFamily="34" charset="0"/>
              </a:rPr>
              <a:t>ImageNet-21K pretrained ViT </a:t>
            </a:r>
            <a:r>
              <a:rPr lang="zh-CN" altLang="en-US" dirty="0">
                <a:latin typeface="Arial" panose="020B0604020202020204" pitchFamily="34" charset="0"/>
              </a:rPr>
              <a:t>等</a:t>
            </a:r>
            <a:endParaRPr lang="zh-CN" altLang="zh-CN" dirty="0">
              <a:latin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A918CAB-E72F-3E6D-963A-9E8550935D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1000" y="3005347"/>
            <a:ext cx="6970351" cy="245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371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84E104A6-CE2D-16A8-B9FD-15B06F03FA01}"/>
              </a:ext>
            </a:extLst>
          </p:cNvPr>
          <p:cNvSpPr txBox="1"/>
          <p:nvPr/>
        </p:nvSpPr>
        <p:spPr>
          <a:xfrm>
            <a:off x="0" y="6264000"/>
            <a:ext cx="121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fr-FR" altLang="zh-CN" dirty="0"/>
              <a:t>Kaiyu Li, Xiangyong Cao, Deyu Meng</a:t>
            </a:r>
            <a:r>
              <a:rPr lang="en-US" altLang="zh-CN" dirty="0"/>
              <a:t>.A New Learning Paradigm for Foundation Model-Based Remote-Sensing Change Detection</a:t>
            </a:r>
            <a:r>
              <a:rPr lang="fr-FR" altLang="zh-CN" dirty="0"/>
              <a:t>. TGRS</a:t>
            </a:r>
            <a:r>
              <a:rPr lang="en-US" altLang="zh-CN" dirty="0"/>
              <a:t>,2024</a:t>
            </a:r>
            <a:endParaRPr lang="zh-CN" altLang="en-US" dirty="0"/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5AA3DBA4-7B8C-ED3E-3FE6-825B8FCBD345}"/>
              </a:ext>
            </a:extLst>
          </p:cNvPr>
          <p:cNvSpPr txBox="1">
            <a:spLocks/>
          </p:cNvSpPr>
          <p:nvPr/>
        </p:nvSpPr>
        <p:spPr>
          <a:xfrm>
            <a:off x="394447" y="1"/>
            <a:ext cx="6185135" cy="66912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BAN</a:t>
            </a:r>
            <a:endParaRPr lang="fr-FR" altLang="zh-CN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F43BDB5-7E81-EA0A-3AF8-5AEFDD80E5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62946"/>
            <a:ext cx="8436000" cy="442008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6419A8BD-DDD9-44F8-1455-C3D9FE8605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4279" y="2274730"/>
            <a:ext cx="3576000" cy="321543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F7F71966-2EA5-B270-C2F8-1B1B2717855D}"/>
              </a:ext>
            </a:extLst>
          </p:cNvPr>
          <p:cNvSpPr txBox="1"/>
          <p:nvPr/>
        </p:nvSpPr>
        <p:spPr>
          <a:xfrm>
            <a:off x="201000" y="739616"/>
            <a:ext cx="1179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冻结 </a:t>
            </a:r>
            <a:r>
              <a:rPr lang="fr-FR" altLang="zh-CN" dirty="0"/>
              <a:t>Foundation Model </a:t>
            </a:r>
            <a:r>
              <a:rPr lang="zh-CN" altLang="en-US" dirty="0"/>
              <a:t>提取双时相通用视觉特征，</a:t>
            </a:r>
            <a:r>
              <a:rPr lang="fr-FR" altLang="zh-CN" dirty="0"/>
              <a:t>Bi-TAB </a:t>
            </a:r>
            <a:r>
              <a:rPr lang="zh-CN" altLang="en-US" dirty="0"/>
              <a:t>保留原有变化检测网络</a:t>
            </a:r>
            <a:endParaRPr lang="en-US" altLang="zh-CN" dirty="0"/>
          </a:p>
          <a:p>
            <a:r>
              <a:rPr lang="fr-FR" altLang="zh-CN" dirty="0"/>
              <a:t>2.Bridging Module </a:t>
            </a:r>
            <a:r>
              <a:rPr lang="zh-CN" altLang="en-US" dirty="0"/>
              <a:t>以 </a:t>
            </a:r>
            <a:r>
              <a:rPr lang="fr-FR" altLang="zh-CN" dirty="0"/>
              <a:t>Bi-TAB </a:t>
            </a:r>
            <a:r>
              <a:rPr lang="zh-CN" altLang="en-US" dirty="0"/>
              <a:t>特征为查询，实现 </a:t>
            </a:r>
            <a:r>
              <a:rPr lang="fr-FR" altLang="zh-CN" dirty="0"/>
              <a:t>Foundation </a:t>
            </a:r>
            <a:r>
              <a:rPr lang="zh-CN" altLang="en-US" dirty="0"/>
              <a:t>知识的选择、通道</a:t>
            </a:r>
            <a:r>
              <a:rPr lang="en-US" altLang="zh-CN" dirty="0"/>
              <a:t>/</a:t>
            </a:r>
            <a:r>
              <a:rPr lang="zh-CN" altLang="en-US" dirty="0"/>
              <a:t>尺度对齐与逐层注入。</a:t>
            </a:r>
            <a:br>
              <a:rPr lang="zh-CN" altLang="en-US" dirty="0"/>
            </a:br>
            <a:r>
              <a:rPr lang="en-US" altLang="zh-CN" dirty="0"/>
              <a:t>3.</a:t>
            </a:r>
            <a:r>
              <a:rPr lang="fr-FR" altLang="zh-CN" dirty="0"/>
              <a:t>Bi-TAB </a:t>
            </a:r>
            <a:r>
              <a:rPr lang="zh-CN" altLang="en-US" dirty="0"/>
              <a:t>可兼容 </a:t>
            </a:r>
            <a:r>
              <a:rPr lang="fr-FR" altLang="zh-CN" dirty="0"/>
              <a:t>BiT</a:t>
            </a:r>
            <a:r>
              <a:rPr lang="zh-CN" altLang="fr-FR" dirty="0"/>
              <a:t>、</a:t>
            </a:r>
            <a:r>
              <a:rPr lang="fr-FR" altLang="zh-CN" dirty="0"/>
              <a:t>ChangeFormer </a:t>
            </a:r>
            <a:r>
              <a:rPr lang="zh-CN" altLang="en-US" dirty="0"/>
              <a:t>等不同 </a:t>
            </a:r>
            <a:r>
              <a:rPr lang="fr-FR" altLang="zh-CN" dirty="0"/>
              <a:t>CD </a:t>
            </a:r>
            <a:r>
              <a:rPr lang="zh-CN" altLang="en-US" dirty="0"/>
              <a:t>架构，体现 </a:t>
            </a:r>
            <a:r>
              <a:rPr lang="fr-FR" altLang="zh-CN" dirty="0"/>
              <a:t>BAN </a:t>
            </a:r>
            <a:r>
              <a:rPr lang="zh-CN" altLang="en-US" dirty="0"/>
              <a:t>的模型无关与即插即用能力。</a:t>
            </a:r>
          </a:p>
        </p:txBody>
      </p:sp>
    </p:spTree>
    <p:extLst>
      <p:ext uri="{BB962C8B-B14F-4D97-AF65-F5344CB8AC3E}">
        <p14:creationId xmlns:p14="http://schemas.microsoft.com/office/powerpoint/2010/main" val="344235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84E104A6-CE2D-16A8-B9FD-15B06F03FA01}"/>
              </a:ext>
            </a:extLst>
          </p:cNvPr>
          <p:cNvSpPr txBox="1"/>
          <p:nvPr/>
        </p:nvSpPr>
        <p:spPr>
          <a:xfrm>
            <a:off x="0" y="6264000"/>
            <a:ext cx="121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fr-FR" altLang="zh-CN" dirty="0"/>
              <a:t>Kaiyu Li, Xiangyong Cao, Deyu Meng</a:t>
            </a:r>
            <a:r>
              <a:rPr lang="en-US" altLang="zh-CN" dirty="0"/>
              <a:t>.A New Learning Paradigm for Foundation Model-Based Remote-Sensing Change Detection</a:t>
            </a:r>
            <a:r>
              <a:rPr lang="fr-FR" altLang="zh-CN" dirty="0"/>
              <a:t>. TGRS</a:t>
            </a:r>
            <a:r>
              <a:rPr lang="en-US" altLang="zh-CN" dirty="0"/>
              <a:t>,2024</a:t>
            </a:r>
            <a:endParaRPr lang="zh-CN" altLang="en-US" dirty="0"/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5AA3DBA4-7B8C-ED3E-3FE6-825B8FCBD345}"/>
              </a:ext>
            </a:extLst>
          </p:cNvPr>
          <p:cNvSpPr txBox="1">
            <a:spLocks/>
          </p:cNvSpPr>
          <p:nvPr/>
        </p:nvSpPr>
        <p:spPr>
          <a:xfrm>
            <a:off x="394447" y="1"/>
            <a:ext cx="6185135" cy="66912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BAN</a:t>
            </a:r>
            <a:endParaRPr lang="fr-FR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F127F98-97B7-6DB9-C48F-AD78D50FC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18" y="1922330"/>
            <a:ext cx="5591175" cy="425767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CAAFF91-E6D0-2559-E61B-EF4C78D39E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2175" y="755689"/>
            <a:ext cx="6083283" cy="5521749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D1CFE083-6FEF-9C8C-DFC7-C65B9791E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06" y="999000"/>
            <a:ext cx="550811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这里的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Param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只是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learnable parameters</a:t>
            </a:r>
            <a:r>
              <a:rPr kumimoji="0" lang="zh-CN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，推理的时候大模型参数也要算上</a:t>
            </a:r>
            <a:r>
              <a:rPr kumimoji="0" lang="zh-CN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1466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4447" y="1"/>
            <a:ext cx="10246553" cy="669129"/>
          </a:xfr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Our Work</a:t>
            </a:r>
            <a:r>
              <a:rPr lang="zh-CN" altLang="en-US" dirty="0"/>
              <a:t>整体结构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F2AB5E0-6098-5043-04E9-1B58A9CC596A}"/>
              </a:ext>
            </a:extLst>
          </p:cNvPr>
          <p:cNvSpPr/>
          <p:nvPr/>
        </p:nvSpPr>
        <p:spPr>
          <a:xfrm>
            <a:off x="38910" y="1135480"/>
            <a:ext cx="360000" cy="315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T1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501B54B-A37D-E22A-1143-220D63740786}"/>
              </a:ext>
            </a:extLst>
          </p:cNvPr>
          <p:cNvSpPr/>
          <p:nvPr/>
        </p:nvSpPr>
        <p:spPr>
          <a:xfrm>
            <a:off x="38910" y="2265923"/>
            <a:ext cx="360000" cy="315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T2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36B8C43-6AC5-21FE-F0C7-6621F4065FF6}"/>
              </a:ext>
            </a:extLst>
          </p:cNvPr>
          <p:cNvSpPr/>
          <p:nvPr/>
        </p:nvSpPr>
        <p:spPr>
          <a:xfrm>
            <a:off x="488910" y="1450480"/>
            <a:ext cx="900000" cy="846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SAM2 </a:t>
            </a:r>
            <a:r>
              <a:rPr lang="zh-CN" altLang="en-US" sz="1200" dirty="0">
                <a:solidFill>
                  <a:schemeClr val="tx1"/>
                </a:solidFill>
              </a:rPr>
              <a:t>离线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B513527-A578-00C1-34D6-DFE394911A5C}"/>
              </a:ext>
            </a:extLst>
          </p:cNvPr>
          <p:cNvSpPr/>
          <p:nvPr/>
        </p:nvSpPr>
        <p:spPr>
          <a:xfrm>
            <a:off x="2098250" y="1346379"/>
            <a:ext cx="900000" cy="2361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实例编号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0C61A63-08DD-CC68-0218-048D4FA1E875}"/>
              </a:ext>
            </a:extLst>
          </p:cNvPr>
          <p:cNvSpPr/>
          <p:nvPr/>
        </p:nvSpPr>
        <p:spPr>
          <a:xfrm>
            <a:off x="2098250" y="1759845"/>
            <a:ext cx="900000" cy="2361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边界图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D028609-E39A-8240-C3DD-6475AA956F4B}"/>
              </a:ext>
            </a:extLst>
          </p:cNvPr>
          <p:cNvSpPr/>
          <p:nvPr/>
        </p:nvSpPr>
        <p:spPr>
          <a:xfrm>
            <a:off x="2098250" y="2173311"/>
            <a:ext cx="900000" cy="2361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掩码质量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F11B3CB-15DA-9E9B-C030-2514E6C0FB48}"/>
              </a:ext>
            </a:extLst>
          </p:cNvPr>
          <p:cNvSpPr/>
          <p:nvPr/>
        </p:nvSpPr>
        <p:spPr>
          <a:xfrm>
            <a:off x="2885750" y="2568159"/>
            <a:ext cx="720000" cy="2361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保存 </a:t>
            </a:r>
            <a:r>
              <a:rPr lang="en-US" altLang="zh-CN" sz="1200" dirty="0">
                <a:solidFill>
                  <a:schemeClr val="tx1"/>
                </a:solidFill>
              </a:rPr>
              <a:t>.</a:t>
            </a:r>
            <a:r>
              <a:rPr lang="fr-FR" altLang="zh-CN" sz="1200" dirty="0">
                <a:solidFill>
                  <a:schemeClr val="tx1"/>
                </a:solidFill>
              </a:rPr>
              <a:t>pt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9CEEC11-B492-A288-4C37-AF91F7497014}"/>
              </a:ext>
            </a:extLst>
          </p:cNvPr>
          <p:cNvSpPr/>
          <p:nvPr/>
        </p:nvSpPr>
        <p:spPr>
          <a:xfrm>
            <a:off x="2885750" y="1011816"/>
            <a:ext cx="720000" cy="2361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保存 </a:t>
            </a:r>
            <a:r>
              <a:rPr lang="en-US" altLang="zh-CN" sz="1200" dirty="0">
                <a:solidFill>
                  <a:schemeClr val="tx1"/>
                </a:solidFill>
              </a:rPr>
              <a:t>.</a:t>
            </a:r>
            <a:r>
              <a:rPr lang="fr-FR" altLang="zh-CN" sz="1200" dirty="0">
                <a:solidFill>
                  <a:schemeClr val="tx1"/>
                </a:solidFill>
              </a:rPr>
              <a:t>pt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26" name="连接符: 肘形 25">
            <a:extLst>
              <a:ext uri="{FF2B5EF4-FFF2-40B4-BE49-F238E27FC236}">
                <a16:creationId xmlns:a16="http://schemas.microsoft.com/office/drawing/2014/main" id="{FB4373E5-4100-688D-722C-2E0A40776981}"/>
              </a:ext>
            </a:extLst>
          </p:cNvPr>
          <p:cNvCxnSpPr>
            <a:cxnSpLocks/>
            <a:stCxn id="8" idx="3"/>
            <a:endCxn id="15" idx="0"/>
          </p:cNvCxnSpPr>
          <p:nvPr/>
        </p:nvCxnSpPr>
        <p:spPr>
          <a:xfrm>
            <a:off x="398910" y="1292980"/>
            <a:ext cx="540000" cy="15750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连接符: 肘形 41">
            <a:extLst>
              <a:ext uri="{FF2B5EF4-FFF2-40B4-BE49-F238E27FC236}">
                <a16:creationId xmlns:a16="http://schemas.microsoft.com/office/drawing/2014/main" id="{A2FBAAAD-E82A-46D2-197C-B44B814ED8A5}"/>
              </a:ext>
            </a:extLst>
          </p:cNvPr>
          <p:cNvCxnSpPr>
            <a:cxnSpLocks/>
            <a:stCxn id="13" idx="3"/>
            <a:endCxn id="15" idx="2"/>
          </p:cNvCxnSpPr>
          <p:nvPr/>
        </p:nvCxnSpPr>
        <p:spPr>
          <a:xfrm flipV="1">
            <a:off x="398910" y="2297034"/>
            <a:ext cx="540000" cy="12638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连接符: 肘形 46">
            <a:extLst>
              <a:ext uri="{FF2B5EF4-FFF2-40B4-BE49-F238E27FC236}">
                <a16:creationId xmlns:a16="http://schemas.microsoft.com/office/drawing/2014/main" id="{F5914803-FBB9-6D5E-1474-598EEAEFE9A9}"/>
              </a:ext>
            </a:extLst>
          </p:cNvPr>
          <p:cNvCxnSpPr>
            <a:cxnSpLocks/>
            <a:stCxn id="15" idx="3"/>
            <a:endCxn id="19" idx="1"/>
          </p:cNvCxnSpPr>
          <p:nvPr/>
        </p:nvCxnSpPr>
        <p:spPr>
          <a:xfrm flipV="1">
            <a:off x="1388910" y="1464468"/>
            <a:ext cx="709340" cy="40928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连接符: 肘形 51">
            <a:extLst>
              <a:ext uri="{FF2B5EF4-FFF2-40B4-BE49-F238E27FC236}">
                <a16:creationId xmlns:a16="http://schemas.microsoft.com/office/drawing/2014/main" id="{6DF51550-6B41-28BB-E3F6-D6C8466D1D98}"/>
              </a:ext>
            </a:extLst>
          </p:cNvPr>
          <p:cNvCxnSpPr>
            <a:cxnSpLocks/>
            <a:stCxn id="15" idx="3"/>
            <a:endCxn id="20" idx="1"/>
          </p:cNvCxnSpPr>
          <p:nvPr/>
        </p:nvCxnSpPr>
        <p:spPr>
          <a:xfrm>
            <a:off x="1388910" y="1873757"/>
            <a:ext cx="709340" cy="417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连接符: 肘形 54">
            <a:extLst>
              <a:ext uri="{FF2B5EF4-FFF2-40B4-BE49-F238E27FC236}">
                <a16:creationId xmlns:a16="http://schemas.microsoft.com/office/drawing/2014/main" id="{3A93F6D5-F08D-27D4-8A7D-BBA02D324A51}"/>
              </a:ext>
            </a:extLst>
          </p:cNvPr>
          <p:cNvCxnSpPr>
            <a:cxnSpLocks/>
            <a:stCxn id="15" idx="3"/>
            <a:endCxn id="22" idx="1"/>
          </p:cNvCxnSpPr>
          <p:nvPr/>
        </p:nvCxnSpPr>
        <p:spPr>
          <a:xfrm>
            <a:off x="1388910" y="1873757"/>
            <a:ext cx="709340" cy="41764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F272125F-8836-56F4-C5C1-D9E2C286FDE3}"/>
              </a:ext>
            </a:extLst>
          </p:cNvPr>
          <p:cNvSpPr txBox="1"/>
          <p:nvPr/>
        </p:nvSpPr>
        <p:spPr>
          <a:xfrm>
            <a:off x="1431350" y="1247993"/>
            <a:ext cx="914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dirty="0"/>
              <a:t>获取</a:t>
            </a:r>
          </a:p>
        </p:txBody>
      </p:sp>
      <p:cxnSp>
        <p:nvCxnSpPr>
          <p:cNvPr id="75" name="连接符: 肘形 74">
            <a:extLst>
              <a:ext uri="{FF2B5EF4-FFF2-40B4-BE49-F238E27FC236}">
                <a16:creationId xmlns:a16="http://schemas.microsoft.com/office/drawing/2014/main" id="{6960D45C-786D-91D3-470F-CF23485A0DED}"/>
              </a:ext>
            </a:extLst>
          </p:cNvPr>
          <p:cNvCxnSpPr>
            <a:cxnSpLocks/>
            <a:stCxn id="20" idx="3"/>
            <a:endCxn id="24" idx="2"/>
          </p:cNvCxnSpPr>
          <p:nvPr/>
        </p:nvCxnSpPr>
        <p:spPr>
          <a:xfrm flipV="1">
            <a:off x="2998250" y="1247993"/>
            <a:ext cx="247500" cy="62994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连接符: 肘形 77">
            <a:extLst>
              <a:ext uri="{FF2B5EF4-FFF2-40B4-BE49-F238E27FC236}">
                <a16:creationId xmlns:a16="http://schemas.microsoft.com/office/drawing/2014/main" id="{2114E74E-7F86-AE0D-43DE-2E5D5D807A65}"/>
              </a:ext>
            </a:extLst>
          </p:cNvPr>
          <p:cNvCxnSpPr>
            <a:cxnSpLocks/>
            <a:stCxn id="19" idx="3"/>
            <a:endCxn id="24" idx="2"/>
          </p:cNvCxnSpPr>
          <p:nvPr/>
        </p:nvCxnSpPr>
        <p:spPr>
          <a:xfrm flipV="1">
            <a:off x="2998250" y="1247993"/>
            <a:ext cx="247500" cy="21647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连接符: 肘形 80">
            <a:extLst>
              <a:ext uri="{FF2B5EF4-FFF2-40B4-BE49-F238E27FC236}">
                <a16:creationId xmlns:a16="http://schemas.microsoft.com/office/drawing/2014/main" id="{FDAABD41-3972-2A5A-B395-F1F03511174A}"/>
              </a:ext>
            </a:extLst>
          </p:cNvPr>
          <p:cNvCxnSpPr>
            <a:cxnSpLocks/>
            <a:stCxn id="22" idx="3"/>
            <a:endCxn id="24" idx="2"/>
          </p:cNvCxnSpPr>
          <p:nvPr/>
        </p:nvCxnSpPr>
        <p:spPr>
          <a:xfrm flipV="1">
            <a:off x="2998250" y="1247993"/>
            <a:ext cx="247500" cy="104340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连接符: 肘形 83">
            <a:extLst>
              <a:ext uri="{FF2B5EF4-FFF2-40B4-BE49-F238E27FC236}">
                <a16:creationId xmlns:a16="http://schemas.microsoft.com/office/drawing/2014/main" id="{831E13F2-74BF-2895-B0EF-7A04D4E5DFD6}"/>
              </a:ext>
            </a:extLst>
          </p:cNvPr>
          <p:cNvCxnSpPr>
            <a:cxnSpLocks/>
            <a:stCxn id="19" idx="3"/>
            <a:endCxn id="23" idx="0"/>
          </p:cNvCxnSpPr>
          <p:nvPr/>
        </p:nvCxnSpPr>
        <p:spPr>
          <a:xfrm>
            <a:off x="2998250" y="1464468"/>
            <a:ext cx="247500" cy="110369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连接符: 肘形 86">
            <a:extLst>
              <a:ext uri="{FF2B5EF4-FFF2-40B4-BE49-F238E27FC236}">
                <a16:creationId xmlns:a16="http://schemas.microsoft.com/office/drawing/2014/main" id="{620D89E1-5D05-88BF-B94D-4293D78AABAC}"/>
              </a:ext>
            </a:extLst>
          </p:cNvPr>
          <p:cNvCxnSpPr>
            <a:cxnSpLocks/>
            <a:stCxn id="20" idx="3"/>
            <a:endCxn id="23" idx="0"/>
          </p:cNvCxnSpPr>
          <p:nvPr/>
        </p:nvCxnSpPr>
        <p:spPr>
          <a:xfrm>
            <a:off x="2998250" y="1877934"/>
            <a:ext cx="247500" cy="69022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连接符: 肘形 89">
            <a:extLst>
              <a:ext uri="{FF2B5EF4-FFF2-40B4-BE49-F238E27FC236}">
                <a16:creationId xmlns:a16="http://schemas.microsoft.com/office/drawing/2014/main" id="{B489F027-3731-72A1-AD3C-8A545A856939}"/>
              </a:ext>
            </a:extLst>
          </p:cNvPr>
          <p:cNvCxnSpPr>
            <a:cxnSpLocks/>
            <a:stCxn id="22" idx="3"/>
            <a:endCxn id="23" idx="0"/>
          </p:cNvCxnSpPr>
          <p:nvPr/>
        </p:nvCxnSpPr>
        <p:spPr>
          <a:xfrm>
            <a:off x="2998250" y="2291400"/>
            <a:ext cx="247500" cy="27675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文本框 93">
            <a:extLst>
              <a:ext uri="{FF2B5EF4-FFF2-40B4-BE49-F238E27FC236}">
                <a16:creationId xmlns:a16="http://schemas.microsoft.com/office/drawing/2014/main" id="{AAECC764-70E0-EC06-C2ED-BDA08B5DE86B}"/>
              </a:ext>
            </a:extLst>
          </p:cNvPr>
          <p:cNvSpPr txBox="1"/>
          <p:nvPr/>
        </p:nvSpPr>
        <p:spPr>
          <a:xfrm>
            <a:off x="-13182" y="668239"/>
            <a:ext cx="38034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仅训练：教师与辅助蒸馏分支（推理时删除）</a:t>
            </a:r>
          </a:p>
        </p:txBody>
      </p:sp>
      <p:cxnSp>
        <p:nvCxnSpPr>
          <p:cNvPr id="9" name="连接符: 肘形 8">
            <a:extLst>
              <a:ext uri="{FF2B5EF4-FFF2-40B4-BE49-F238E27FC236}">
                <a16:creationId xmlns:a16="http://schemas.microsoft.com/office/drawing/2014/main" id="{109ABE17-B079-F870-018E-CE0FD0C039AA}"/>
              </a:ext>
            </a:extLst>
          </p:cNvPr>
          <p:cNvCxnSpPr>
            <a:cxnSpLocks/>
            <a:stCxn id="24" idx="3"/>
            <a:endCxn id="12" idx="1"/>
          </p:cNvCxnSpPr>
          <p:nvPr/>
        </p:nvCxnSpPr>
        <p:spPr>
          <a:xfrm>
            <a:off x="3605750" y="1129905"/>
            <a:ext cx="292500" cy="76762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F080744E-3A48-9FAC-BEAB-3B4692837E49}"/>
              </a:ext>
            </a:extLst>
          </p:cNvPr>
          <p:cNvSpPr/>
          <p:nvPr/>
        </p:nvSpPr>
        <p:spPr>
          <a:xfrm>
            <a:off x="3898250" y="1562963"/>
            <a:ext cx="976281" cy="6691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同步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+</a:t>
            </a:r>
          </a:p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分解结构</a:t>
            </a:r>
          </a:p>
        </p:txBody>
      </p:sp>
      <p:cxnSp>
        <p:nvCxnSpPr>
          <p:cNvPr id="16" name="连接符: 肘形 15">
            <a:extLst>
              <a:ext uri="{FF2B5EF4-FFF2-40B4-BE49-F238E27FC236}">
                <a16:creationId xmlns:a16="http://schemas.microsoft.com/office/drawing/2014/main" id="{6086AC84-1E47-FA7F-2D77-C28CDF6C3F07}"/>
              </a:ext>
            </a:extLst>
          </p:cNvPr>
          <p:cNvCxnSpPr>
            <a:cxnSpLocks/>
            <a:stCxn id="23" idx="3"/>
            <a:endCxn id="12" idx="1"/>
          </p:cNvCxnSpPr>
          <p:nvPr/>
        </p:nvCxnSpPr>
        <p:spPr>
          <a:xfrm flipV="1">
            <a:off x="3605750" y="1897528"/>
            <a:ext cx="292500" cy="78872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 43">
            <a:extLst>
              <a:ext uri="{FF2B5EF4-FFF2-40B4-BE49-F238E27FC236}">
                <a16:creationId xmlns:a16="http://schemas.microsoft.com/office/drawing/2014/main" id="{262274EC-7CF8-93AC-4908-145A699CEFE9}"/>
              </a:ext>
            </a:extLst>
          </p:cNvPr>
          <p:cNvSpPr/>
          <p:nvPr/>
        </p:nvSpPr>
        <p:spPr>
          <a:xfrm>
            <a:off x="5421390" y="1074995"/>
            <a:ext cx="1298141" cy="50756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偶结构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（边界、局部等）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35E12830-26F2-7D5E-82DF-13DED972461F}"/>
              </a:ext>
            </a:extLst>
          </p:cNvPr>
          <p:cNvSpPr/>
          <p:nvPr/>
        </p:nvSpPr>
        <p:spPr>
          <a:xfrm>
            <a:off x="5421389" y="2175998"/>
            <a:ext cx="1298141" cy="50756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奇结构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（有向差异）</a:t>
            </a:r>
          </a:p>
        </p:txBody>
      </p:sp>
      <p:cxnSp>
        <p:nvCxnSpPr>
          <p:cNvPr id="46" name="连接符: 肘形 45">
            <a:extLst>
              <a:ext uri="{FF2B5EF4-FFF2-40B4-BE49-F238E27FC236}">
                <a16:creationId xmlns:a16="http://schemas.microsoft.com/office/drawing/2014/main" id="{B01C3838-E231-0255-49A7-C0BDDB3D7309}"/>
              </a:ext>
            </a:extLst>
          </p:cNvPr>
          <p:cNvCxnSpPr>
            <a:cxnSpLocks/>
            <a:stCxn id="12" idx="3"/>
            <a:endCxn id="44" idx="1"/>
          </p:cNvCxnSpPr>
          <p:nvPr/>
        </p:nvCxnSpPr>
        <p:spPr>
          <a:xfrm flipV="1">
            <a:off x="4874531" y="1328776"/>
            <a:ext cx="546859" cy="56875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连接符: 肘形 49">
            <a:extLst>
              <a:ext uri="{FF2B5EF4-FFF2-40B4-BE49-F238E27FC236}">
                <a16:creationId xmlns:a16="http://schemas.microsoft.com/office/drawing/2014/main" id="{C8CB712F-936A-06FC-45D1-5FCC923055DE}"/>
              </a:ext>
            </a:extLst>
          </p:cNvPr>
          <p:cNvCxnSpPr>
            <a:cxnSpLocks/>
            <a:stCxn id="12" idx="3"/>
            <a:endCxn id="45" idx="1"/>
          </p:cNvCxnSpPr>
          <p:nvPr/>
        </p:nvCxnSpPr>
        <p:spPr>
          <a:xfrm>
            <a:off x="4874531" y="1897528"/>
            <a:ext cx="546858" cy="53225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 55">
            <a:extLst>
              <a:ext uri="{FF2B5EF4-FFF2-40B4-BE49-F238E27FC236}">
                <a16:creationId xmlns:a16="http://schemas.microsoft.com/office/drawing/2014/main" id="{C526A018-AED3-4BF6-C341-B12545F3CCC0}"/>
              </a:ext>
            </a:extLst>
          </p:cNvPr>
          <p:cNvSpPr/>
          <p:nvPr/>
        </p:nvSpPr>
        <p:spPr>
          <a:xfrm>
            <a:off x="218910" y="3021079"/>
            <a:ext cx="1357474" cy="2968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学生</a:t>
            </a:r>
            <a:r>
              <a:rPr lang="en-US" altLang="zh-CN" sz="1200" dirty="0">
                <a:solidFill>
                  <a:schemeClr val="tx1"/>
                </a:solidFill>
              </a:rPr>
              <a:t>4</a:t>
            </a:r>
            <a:r>
              <a:rPr lang="zh-CN" altLang="en-US" sz="1200" dirty="0">
                <a:solidFill>
                  <a:schemeClr val="tx1"/>
                </a:solidFill>
              </a:rPr>
              <a:t>层特征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9438978B-F5B0-50E3-829B-9C1BB14CAA1F}"/>
              </a:ext>
            </a:extLst>
          </p:cNvPr>
          <p:cNvSpPr/>
          <p:nvPr/>
        </p:nvSpPr>
        <p:spPr>
          <a:xfrm>
            <a:off x="2040371" y="3021078"/>
            <a:ext cx="1357474" cy="2968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正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逆序共享编码</a:t>
            </a:r>
          </a:p>
        </p:txBody>
      </p:sp>
      <p:cxnSp>
        <p:nvCxnSpPr>
          <p:cNvPr id="58" name="连接符: 肘形 57">
            <a:extLst>
              <a:ext uri="{FF2B5EF4-FFF2-40B4-BE49-F238E27FC236}">
                <a16:creationId xmlns:a16="http://schemas.microsoft.com/office/drawing/2014/main" id="{61389B27-2396-E77F-1432-57218AF3150D}"/>
              </a:ext>
            </a:extLst>
          </p:cNvPr>
          <p:cNvCxnSpPr>
            <a:cxnSpLocks/>
            <a:stCxn id="56" idx="3"/>
            <a:endCxn id="57" idx="1"/>
          </p:cNvCxnSpPr>
          <p:nvPr/>
        </p:nvCxnSpPr>
        <p:spPr>
          <a:xfrm flipV="1">
            <a:off x="1576384" y="3169523"/>
            <a:ext cx="463987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>
            <a:extLst>
              <a:ext uri="{FF2B5EF4-FFF2-40B4-BE49-F238E27FC236}">
                <a16:creationId xmlns:a16="http://schemas.microsoft.com/office/drawing/2014/main" id="{9E08AE4C-EE76-05B7-03CC-0E2504C3AB26}"/>
              </a:ext>
            </a:extLst>
          </p:cNvPr>
          <p:cNvSpPr/>
          <p:nvPr/>
        </p:nvSpPr>
        <p:spPr>
          <a:xfrm>
            <a:off x="3707653" y="3013350"/>
            <a:ext cx="976281" cy="2968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分解结构</a:t>
            </a:r>
          </a:p>
        </p:txBody>
      </p:sp>
      <p:cxnSp>
        <p:nvCxnSpPr>
          <p:cNvPr id="63" name="连接符: 肘形 57">
            <a:extLst>
              <a:ext uri="{FF2B5EF4-FFF2-40B4-BE49-F238E27FC236}">
                <a16:creationId xmlns:a16="http://schemas.microsoft.com/office/drawing/2014/main" id="{12AB5A5A-9EF8-6A04-2531-B218016D6800}"/>
              </a:ext>
            </a:extLst>
          </p:cNvPr>
          <p:cNvCxnSpPr>
            <a:cxnSpLocks/>
            <a:stCxn id="57" idx="3"/>
            <a:endCxn id="62" idx="1"/>
          </p:cNvCxnSpPr>
          <p:nvPr/>
        </p:nvCxnSpPr>
        <p:spPr>
          <a:xfrm flipV="1">
            <a:off x="3397845" y="3161795"/>
            <a:ext cx="309808" cy="77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1" name="矩形 450">
            <a:extLst>
              <a:ext uri="{FF2B5EF4-FFF2-40B4-BE49-F238E27FC236}">
                <a16:creationId xmlns:a16="http://schemas.microsoft.com/office/drawing/2014/main" id="{2CB0843D-D23C-BAEB-9DDC-502E51C331FC}"/>
              </a:ext>
            </a:extLst>
          </p:cNvPr>
          <p:cNvSpPr/>
          <p:nvPr/>
        </p:nvSpPr>
        <p:spPr>
          <a:xfrm>
            <a:off x="5201119" y="2878391"/>
            <a:ext cx="1298141" cy="2643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偶分量</a:t>
            </a:r>
          </a:p>
        </p:txBody>
      </p:sp>
      <p:sp>
        <p:nvSpPr>
          <p:cNvPr id="452" name="矩形 451">
            <a:extLst>
              <a:ext uri="{FF2B5EF4-FFF2-40B4-BE49-F238E27FC236}">
                <a16:creationId xmlns:a16="http://schemas.microsoft.com/office/drawing/2014/main" id="{74D09688-33FE-21DB-1D5C-0FBE501C6BAF}"/>
              </a:ext>
            </a:extLst>
          </p:cNvPr>
          <p:cNvSpPr/>
          <p:nvPr/>
        </p:nvSpPr>
        <p:spPr>
          <a:xfrm>
            <a:off x="5201120" y="3178061"/>
            <a:ext cx="1298141" cy="2643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奇分量</a:t>
            </a:r>
          </a:p>
        </p:txBody>
      </p:sp>
      <p:cxnSp>
        <p:nvCxnSpPr>
          <p:cNvPr id="454" name="连接符: 肘形 453">
            <a:extLst>
              <a:ext uri="{FF2B5EF4-FFF2-40B4-BE49-F238E27FC236}">
                <a16:creationId xmlns:a16="http://schemas.microsoft.com/office/drawing/2014/main" id="{7D113501-DE18-2066-2913-8DB4DD8F339A}"/>
              </a:ext>
            </a:extLst>
          </p:cNvPr>
          <p:cNvCxnSpPr>
            <a:cxnSpLocks/>
            <a:stCxn id="62" idx="3"/>
            <a:endCxn id="451" idx="1"/>
          </p:cNvCxnSpPr>
          <p:nvPr/>
        </p:nvCxnSpPr>
        <p:spPr>
          <a:xfrm flipV="1">
            <a:off x="4683934" y="3010569"/>
            <a:ext cx="517185" cy="15122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5" name="连接符: 肘形 454">
            <a:extLst>
              <a:ext uri="{FF2B5EF4-FFF2-40B4-BE49-F238E27FC236}">
                <a16:creationId xmlns:a16="http://schemas.microsoft.com/office/drawing/2014/main" id="{DC4569E1-CE11-BA1F-9397-519DC892CB7F}"/>
              </a:ext>
            </a:extLst>
          </p:cNvPr>
          <p:cNvCxnSpPr>
            <a:cxnSpLocks/>
            <a:stCxn id="62" idx="3"/>
            <a:endCxn id="452" idx="1"/>
          </p:cNvCxnSpPr>
          <p:nvPr/>
        </p:nvCxnSpPr>
        <p:spPr>
          <a:xfrm>
            <a:off x="4683934" y="3161795"/>
            <a:ext cx="517186" cy="14844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4" name="矩形 463">
            <a:extLst>
              <a:ext uri="{FF2B5EF4-FFF2-40B4-BE49-F238E27FC236}">
                <a16:creationId xmlns:a16="http://schemas.microsoft.com/office/drawing/2014/main" id="{0284E2A7-C134-B9F2-7858-46A3B5CCC27E}"/>
              </a:ext>
            </a:extLst>
          </p:cNvPr>
          <p:cNvSpPr/>
          <p:nvPr/>
        </p:nvSpPr>
        <p:spPr>
          <a:xfrm>
            <a:off x="7349532" y="2657874"/>
            <a:ext cx="900000" cy="2643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辅助损失</a:t>
            </a:r>
          </a:p>
        </p:txBody>
      </p:sp>
      <p:cxnSp>
        <p:nvCxnSpPr>
          <p:cNvPr id="471" name="连接符: 肘形 470">
            <a:extLst>
              <a:ext uri="{FF2B5EF4-FFF2-40B4-BE49-F238E27FC236}">
                <a16:creationId xmlns:a16="http://schemas.microsoft.com/office/drawing/2014/main" id="{8D8EF5BB-6D88-C562-461D-1A0D853344DF}"/>
              </a:ext>
            </a:extLst>
          </p:cNvPr>
          <p:cNvCxnSpPr>
            <a:cxnSpLocks/>
            <a:stCxn id="45" idx="3"/>
            <a:endCxn id="464" idx="0"/>
          </p:cNvCxnSpPr>
          <p:nvPr/>
        </p:nvCxnSpPr>
        <p:spPr>
          <a:xfrm>
            <a:off x="6719530" y="2429779"/>
            <a:ext cx="1080002" cy="228095"/>
          </a:xfrm>
          <a:prstGeom prst="bentConnector2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75" name="连接符: 肘形 474">
            <a:extLst>
              <a:ext uri="{FF2B5EF4-FFF2-40B4-BE49-F238E27FC236}">
                <a16:creationId xmlns:a16="http://schemas.microsoft.com/office/drawing/2014/main" id="{507454AC-7D5E-5A99-EF6A-A61D797B301A}"/>
              </a:ext>
            </a:extLst>
          </p:cNvPr>
          <p:cNvCxnSpPr>
            <a:cxnSpLocks/>
            <a:stCxn id="44" idx="3"/>
            <a:endCxn id="464" idx="0"/>
          </p:cNvCxnSpPr>
          <p:nvPr/>
        </p:nvCxnSpPr>
        <p:spPr>
          <a:xfrm>
            <a:off x="6719531" y="1328776"/>
            <a:ext cx="1080001" cy="1329098"/>
          </a:xfrm>
          <a:prstGeom prst="bentConnector2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78" name="连接符: 肘形 477">
            <a:extLst>
              <a:ext uri="{FF2B5EF4-FFF2-40B4-BE49-F238E27FC236}">
                <a16:creationId xmlns:a16="http://schemas.microsoft.com/office/drawing/2014/main" id="{FC205380-22BE-545C-1101-3BBED7138D99}"/>
              </a:ext>
            </a:extLst>
          </p:cNvPr>
          <p:cNvCxnSpPr>
            <a:cxnSpLocks/>
            <a:stCxn id="451" idx="3"/>
            <a:endCxn id="464" idx="2"/>
          </p:cNvCxnSpPr>
          <p:nvPr/>
        </p:nvCxnSpPr>
        <p:spPr>
          <a:xfrm flipV="1">
            <a:off x="6499260" y="2922229"/>
            <a:ext cx="1300272" cy="88340"/>
          </a:xfrm>
          <a:prstGeom prst="bentConnector2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82" name="连接符: 肘形 481">
            <a:extLst>
              <a:ext uri="{FF2B5EF4-FFF2-40B4-BE49-F238E27FC236}">
                <a16:creationId xmlns:a16="http://schemas.microsoft.com/office/drawing/2014/main" id="{630000A2-127E-0980-3C46-16DEB4F1BC55}"/>
              </a:ext>
            </a:extLst>
          </p:cNvPr>
          <p:cNvCxnSpPr>
            <a:cxnSpLocks/>
            <a:stCxn id="452" idx="3"/>
            <a:endCxn id="464" idx="2"/>
          </p:cNvCxnSpPr>
          <p:nvPr/>
        </p:nvCxnSpPr>
        <p:spPr>
          <a:xfrm flipV="1">
            <a:off x="6499261" y="2922229"/>
            <a:ext cx="1300271" cy="388010"/>
          </a:xfrm>
          <a:prstGeom prst="bentConnector2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95" name="矩形 494">
            <a:extLst>
              <a:ext uri="{FF2B5EF4-FFF2-40B4-BE49-F238E27FC236}">
                <a16:creationId xmlns:a16="http://schemas.microsoft.com/office/drawing/2014/main" id="{8C0E67FC-EB44-7B8C-9DA4-77341FA59829}"/>
              </a:ext>
            </a:extLst>
          </p:cNvPr>
          <p:cNvSpPr/>
          <p:nvPr/>
        </p:nvSpPr>
        <p:spPr>
          <a:xfrm>
            <a:off x="286330" y="4579615"/>
            <a:ext cx="360000" cy="315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T1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496" name="矩形 495">
            <a:extLst>
              <a:ext uri="{FF2B5EF4-FFF2-40B4-BE49-F238E27FC236}">
                <a16:creationId xmlns:a16="http://schemas.microsoft.com/office/drawing/2014/main" id="{2EC73316-1E7A-4BA8-19D9-8EBF70F93909}"/>
              </a:ext>
            </a:extLst>
          </p:cNvPr>
          <p:cNvSpPr/>
          <p:nvPr/>
        </p:nvSpPr>
        <p:spPr>
          <a:xfrm>
            <a:off x="286330" y="5710058"/>
            <a:ext cx="360000" cy="315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T1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497" name="矩形 496">
            <a:extLst>
              <a:ext uri="{FF2B5EF4-FFF2-40B4-BE49-F238E27FC236}">
                <a16:creationId xmlns:a16="http://schemas.microsoft.com/office/drawing/2014/main" id="{35BD6239-731C-3B44-36FE-2A5624DD4EA8}"/>
              </a:ext>
            </a:extLst>
          </p:cNvPr>
          <p:cNvSpPr/>
          <p:nvPr/>
        </p:nvSpPr>
        <p:spPr>
          <a:xfrm>
            <a:off x="899942" y="5071905"/>
            <a:ext cx="2080413" cy="3935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Shared LWGANet_L0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498" name="连接符: 肘形 497">
            <a:extLst>
              <a:ext uri="{FF2B5EF4-FFF2-40B4-BE49-F238E27FC236}">
                <a16:creationId xmlns:a16="http://schemas.microsoft.com/office/drawing/2014/main" id="{8C8D83F4-DE05-FECA-7EA8-24FFB46DFC09}"/>
              </a:ext>
            </a:extLst>
          </p:cNvPr>
          <p:cNvCxnSpPr>
            <a:cxnSpLocks/>
            <a:stCxn id="495" idx="3"/>
            <a:endCxn id="497" idx="1"/>
          </p:cNvCxnSpPr>
          <p:nvPr/>
        </p:nvCxnSpPr>
        <p:spPr>
          <a:xfrm>
            <a:off x="646330" y="4737115"/>
            <a:ext cx="253612" cy="53158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9" name="连接符: 肘形 498">
            <a:extLst>
              <a:ext uri="{FF2B5EF4-FFF2-40B4-BE49-F238E27FC236}">
                <a16:creationId xmlns:a16="http://schemas.microsoft.com/office/drawing/2014/main" id="{DD88EFB2-0E59-B874-7AA7-74AEE34C717A}"/>
              </a:ext>
            </a:extLst>
          </p:cNvPr>
          <p:cNvCxnSpPr>
            <a:cxnSpLocks/>
            <a:stCxn id="496" idx="3"/>
            <a:endCxn id="497" idx="1"/>
          </p:cNvCxnSpPr>
          <p:nvPr/>
        </p:nvCxnSpPr>
        <p:spPr>
          <a:xfrm flipV="1">
            <a:off x="646330" y="5268699"/>
            <a:ext cx="253612" cy="59885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0" name="矩形 499">
            <a:extLst>
              <a:ext uri="{FF2B5EF4-FFF2-40B4-BE49-F238E27FC236}">
                <a16:creationId xmlns:a16="http://schemas.microsoft.com/office/drawing/2014/main" id="{1161E97B-4F1F-40B7-E635-94ED87B2EEA4}"/>
              </a:ext>
            </a:extLst>
          </p:cNvPr>
          <p:cNvSpPr/>
          <p:nvPr/>
        </p:nvSpPr>
        <p:spPr>
          <a:xfrm>
            <a:off x="892397" y="4521515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F1_1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501" name="矩形 500">
            <a:extLst>
              <a:ext uri="{FF2B5EF4-FFF2-40B4-BE49-F238E27FC236}">
                <a16:creationId xmlns:a16="http://schemas.microsoft.com/office/drawing/2014/main" id="{AAB3BD10-DC3A-8E0A-97D4-284DF959CEAD}"/>
              </a:ext>
            </a:extLst>
          </p:cNvPr>
          <p:cNvSpPr/>
          <p:nvPr/>
        </p:nvSpPr>
        <p:spPr>
          <a:xfrm>
            <a:off x="1429911" y="4521515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F1_2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502" name="矩形 501">
            <a:extLst>
              <a:ext uri="{FF2B5EF4-FFF2-40B4-BE49-F238E27FC236}">
                <a16:creationId xmlns:a16="http://schemas.microsoft.com/office/drawing/2014/main" id="{B28C135F-BF4E-0115-222E-CF9D3A120AEB}"/>
              </a:ext>
            </a:extLst>
          </p:cNvPr>
          <p:cNvSpPr/>
          <p:nvPr/>
        </p:nvSpPr>
        <p:spPr>
          <a:xfrm>
            <a:off x="1967425" y="4526217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F1_3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503" name="矩形 502">
            <a:extLst>
              <a:ext uri="{FF2B5EF4-FFF2-40B4-BE49-F238E27FC236}">
                <a16:creationId xmlns:a16="http://schemas.microsoft.com/office/drawing/2014/main" id="{399730B4-7755-ED21-584F-E0B457BA5966}"/>
              </a:ext>
            </a:extLst>
          </p:cNvPr>
          <p:cNvSpPr/>
          <p:nvPr/>
        </p:nvSpPr>
        <p:spPr>
          <a:xfrm>
            <a:off x="2526476" y="4531297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F1_4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504" name="矩形 503">
            <a:extLst>
              <a:ext uri="{FF2B5EF4-FFF2-40B4-BE49-F238E27FC236}">
                <a16:creationId xmlns:a16="http://schemas.microsoft.com/office/drawing/2014/main" id="{7E3AEE83-63F7-85E4-48A5-6DC76991A2DF}"/>
              </a:ext>
            </a:extLst>
          </p:cNvPr>
          <p:cNvSpPr/>
          <p:nvPr/>
        </p:nvSpPr>
        <p:spPr>
          <a:xfrm>
            <a:off x="899942" y="5770245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F2_1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505" name="矩形 504">
            <a:extLst>
              <a:ext uri="{FF2B5EF4-FFF2-40B4-BE49-F238E27FC236}">
                <a16:creationId xmlns:a16="http://schemas.microsoft.com/office/drawing/2014/main" id="{B98EDBE2-62B5-A94C-6119-518E5A04FBA9}"/>
              </a:ext>
            </a:extLst>
          </p:cNvPr>
          <p:cNvSpPr/>
          <p:nvPr/>
        </p:nvSpPr>
        <p:spPr>
          <a:xfrm>
            <a:off x="1437456" y="5770245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F2_2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506" name="矩形 505">
            <a:extLst>
              <a:ext uri="{FF2B5EF4-FFF2-40B4-BE49-F238E27FC236}">
                <a16:creationId xmlns:a16="http://schemas.microsoft.com/office/drawing/2014/main" id="{9E073665-23AB-C1B8-2704-6D1960368658}"/>
              </a:ext>
            </a:extLst>
          </p:cNvPr>
          <p:cNvSpPr/>
          <p:nvPr/>
        </p:nvSpPr>
        <p:spPr>
          <a:xfrm>
            <a:off x="1974970" y="5774947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F2_3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507" name="矩形 506">
            <a:extLst>
              <a:ext uri="{FF2B5EF4-FFF2-40B4-BE49-F238E27FC236}">
                <a16:creationId xmlns:a16="http://schemas.microsoft.com/office/drawing/2014/main" id="{D5187BC3-20FD-DFC7-1C85-69DBCA3F2EFB}"/>
              </a:ext>
            </a:extLst>
          </p:cNvPr>
          <p:cNvSpPr/>
          <p:nvPr/>
        </p:nvSpPr>
        <p:spPr>
          <a:xfrm>
            <a:off x="2534021" y="5780027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F2_4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cxnSp>
        <p:nvCxnSpPr>
          <p:cNvPr id="508" name="连接符: 肘形 507">
            <a:extLst>
              <a:ext uri="{FF2B5EF4-FFF2-40B4-BE49-F238E27FC236}">
                <a16:creationId xmlns:a16="http://schemas.microsoft.com/office/drawing/2014/main" id="{714918C9-4A62-6840-8EF7-05BE30129BF8}"/>
              </a:ext>
            </a:extLst>
          </p:cNvPr>
          <p:cNvCxnSpPr>
            <a:cxnSpLocks/>
            <a:stCxn id="497" idx="0"/>
            <a:endCxn id="500" idx="2"/>
          </p:cNvCxnSpPr>
          <p:nvPr/>
        </p:nvCxnSpPr>
        <p:spPr>
          <a:xfrm rot="16200000" flipV="1">
            <a:off x="1390023" y="4521779"/>
            <a:ext cx="288750" cy="81150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连接符: 肘形 508">
            <a:extLst>
              <a:ext uri="{FF2B5EF4-FFF2-40B4-BE49-F238E27FC236}">
                <a16:creationId xmlns:a16="http://schemas.microsoft.com/office/drawing/2014/main" id="{12E94B60-2A4D-0EAC-E1E0-4B7B86B5B706}"/>
              </a:ext>
            </a:extLst>
          </p:cNvPr>
          <p:cNvCxnSpPr>
            <a:cxnSpLocks/>
            <a:stCxn id="497" idx="0"/>
            <a:endCxn id="501" idx="2"/>
          </p:cNvCxnSpPr>
          <p:nvPr/>
        </p:nvCxnSpPr>
        <p:spPr>
          <a:xfrm rot="16200000" flipV="1">
            <a:off x="1658780" y="4790536"/>
            <a:ext cx="288750" cy="27398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连接符: 肘形 509">
            <a:extLst>
              <a:ext uri="{FF2B5EF4-FFF2-40B4-BE49-F238E27FC236}">
                <a16:creationId xmlns:a16="http://schemas.microsoft.com/office/drawing/2014/main" id="{070354C1-8650-A672-E6F9-132AFE10B3D0}"/>
              </a:ext>
            </a:extLst>
          </p:cNvPr>
          <p:cNvCxnSpPr>
            <a:cxnSpLocks/>
            <a:stCxn id="497" idx="0"/>
            <a:endCxn id="502" idx="2"/>
          </p:cNvCxnSpPr>
          <p:nvPr/>
        </p:nvCxnSpPr>
        <p:spPr>
          <a:xfrm rot="5400000" flipH="1" flipV="1">
            <a:off x="1929888" y="4798118"/>
            <a:ext cx="284048" cy="26352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连接符: 肘形 510">
            <a:extLst>
              <a:ext uri="{FF2B5EF4-FFF2-40B4-BE49-F238E27FC236}">
                <a16:creationId xmlns:a16="http://schemas.microsoft.com/office/drawing/2014/main" id="{503C5D33-6996-1062-3EEB-6D7DB2ED2E2B}"/>
              </a:ext>
            </a:extLst>
          </p:cNvPr>
          <p:cNvCxnSpPr>
            <a:cxnSpLocks/>
            <a:stCxn id="497" idx="0"/>
            <a:endCxn id="503" idx="2"/>
          </p:cNvCxnSpPr>
          <p:nvPr/>
        </p:nvCxnSpPr>
        <p:spPr>
          <a:xfrm rot="5400000" flipH="1" flipV="1">
            <a:off x="2211953" y="4521133"/>
            <a:ext cx="278968" cy="82257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连接符: 肘形 63">
            <a:extLst>
              <a:ext uri="{FF2B5EF4-FFF2-40B4-BE49-F238E27FC236}">
                <a16:creationId xmlns:a16="http://schemas.microsoft.com/office/drawing/2014/main" id="{48E66155-3FD0-3FDA-8B13-5FED7FB1B98A}"/>
              </a:ext>
            </a:extLst>
          </p:cNvPr>
          <p:cNvCxnSpPr>
            <a:cxnSpLocks/>
            <a:stCxn id="497" idx="2"/>
            <a:endCxn id="504" idx="0"/>
          </p:cNvCxnSpPr>
          <p:nvPr/>
        </p:nvCxnSpPr>
        <p:spPr>
          <a:xfrm rot="5400000">
            <a:off x="1385795" y="5215891"/>
            <a:ext cx="304752" cy="80395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连接符: 肘形 64">
            <a:extLst>
              <a:ext uri="{FF2B5EF4-FFF2-40B4-BE49-F238E27FC236}">
                <a16:creationId xmlns:a16="http://schemas.microsoft.com/office/drawing/2014/main" id="{9B6DE6EE-B2D2-9DB2-35E2-6B0E53E2251F}"/>
              </a:ext>
            </a:extLst>
          </p:cNvPr>
          <p:cNvCxnSpPr>
            <a:cxnSpLocks/>
            <a:stCxn id="497" idx="2"/>
            <a:endCxn id="505" idx="0"/>
          </p:cNvCxnSpPr>
          <p:nvPr/>
        </p:nvCxnSpPr>
        <p:spPr>
          <a:xfrm rot="5400000">
            <a:off x="1654552" y="5484648"/>
            <a:ext cx="304752" cy="26644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连接符: 肘形 65">
            <a:extLst>
              <a:ext uri="{FF2B5EF4-FFF2-40B4-BE49-F238E27FC236}">
                <a16:creationId xmlns:a16="http://schemas.microsoft.com/office/drawing/2014/main" id="{51D3A168-D4C1-C525-D8D1-F830CE045B5B}"/>
              </a:ext>
            </a:extLst>
          </p:cNvPr>
          <p:cNvCxnSpPr>
            <a:cxnSpLocks/>
            <a:stCxn id="497" idx="2"/>
            <a:endCxn id="506" idx="0"/>
          </p:cNvCxnSpPr>
          <p:nvPr/>
        </p:nvCxnSpPr>
        <p:spPr>
          <a:xfrm rot="16200000" flipH="1">
            <a:off x="1920957" y="5484684"/>
            <a:ext cx="309454" cy="27107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连接符: 肘形 66">
            <a:extLst>
              <a:ext uri="{FF2B5EF4-FFF2-40B4-BE49-F238E27FC236}">
                <a16:creationId xmlns:a16="http://schemas.microsoft.com/office/drawing/2014/main" id="{832B427F-5A37-C46A-0457-4A10980752A8}"/>
              </a:ext>
            </a:extLst>
          </p:cNvPr>
          <p:cNvCxnSpPr>
            <a:cxnSpLocks/>
            <a:stCxn id="497" idx="2"/>
            <a:endCxn id="507" idx="0"/>
          </p:cNvCxnSpPr>
          <p:nvPr/>
        </p:nvCxnSpPr>
        <p:spPr>
          <a:xfrm rot="16200000" flipH="1">
            <a:off x="2197943" y="5207699"/>
            <a:ext cx="314534" cy="83012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左大括号 67">
            <a:extLst>
              <a:ext uri="{FF2B5EF4-FFF2-40B4-BE49-F238E27FC236}">
                <a16:creationId xmlns:a16="http://schemas.microsoft.com/office/drawing/2014/main" id="{B4B30CE5-7AEA-95A0-E110-44516FEAF19C}"/>
              </a:ext>
            </a:extLst>
          </p:cNvPr>
          <p:cNvSpPr/>
          <p:nvPr/>
        </p:nvSpPr>
        <p:spPr>
          <a:xfrm rot="5400000">
            <a:off x="1836556" y="3248649"/>
            <a:ext cx="200785" cy="2295000"/>
          </a:xfrm>
          <a:prstGeom prst="leftBrace">
            <a:avLst>
              <a:gd name="adj1" fmla="val 83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左大括号 68">
            <a:extLst>
              <a:ext uri="{FF2B5EF4-FFF2-40B4-BE49-F238E27FC236}">
                <a16:creationId xmlns:a16="http://schemas.microsoft.com/office/drawing/2014/main" id="{E7DE6C0E-767B-108C-ABB5-497928A27AF8}"/>
              </a:ext>
            </a:extLst>
          </p:cNvPr>
          <p:cNvSpPr/>
          <p:nvPr/>
        </p:nvSpPr>
        <p:spPr>
          <a:xfrm rot="16200000">
            <a:off x="1867032" y="5019532"/>
            <a:ext cx="200785" cy="2295000"/>
          </a:xfrm>
          <a:prstGeom prst="leftBrace">
            <a:avLst>
              <a:gd name="adj1" fmla="val 83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EE5AE8AB-818C-15A4-DEED-B767D162565C}"/>
              </a:ext>
            </a:extLst>
          </p:cNvPr>
          <p:cNvSpPr/>
          <p:nvPr/>
        </p:nvSpPr>
        <p:spPr>
          <a:xfrm>
            <a:off x="3399449" y="4539439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SWA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cxnSp>
        <p:nvCxnSpPr>
          <p:cNvPr id="71" name="连接符: 肘形 70">
            <a:extLst>
              <a:ext uri="{FF2B5EF4-FFF2-40B4-BE49-F238E27FC236}">
                <a16:creationId xmlns:a16="http://schemas.microsoft.com/office/drawing/2014/main" id="{94E8415D-B213-344D-9CB9-AAD4D8BF72DA}"/>
              </a:ext>
            </a:extLst>
          </p:cNvPr>
          <p:cNvCxnSpPr>
            <a:cxnSpLocks/>
            <a:stCxn id="68" idx="1"/>
            <a:endCxn id="70" idx="0"/>
          </p:cNvCxnSpPr>
          <p:nvPr/>
        </p:nvCxnSpPr>
        <p:spPr>
          <a:xfrm rot="16200000" flipH="1">
            <a:off x="2664483" y="3568223"/>
            <a:ext cx="243682" cy="1698750"/>
          </a:xfrm>
          <a:prstGeom prst="bentConnector3">
            <a:avLst>
              <a:gd name="adj1" fmla="val -3681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连接符: 肘形 71">
            <a:extLst>
              <a:ext uri="{FF2B5EF4-FFF2-40B4-BE49-F238E27FC236}">
                <a16:creationId xmlns:a16="http://schemas.microsoft.com/office/drawing/2014/main" id="{3BFE025B-989D-BFD6-9323-7BEE265F600B}"/>
              </a:ext>
            </a:extLst>
          </p:cNvPr>
          <p:cNvCxnSpPr>
            <a:cxnSpLocks/>
            <a:stCxn id="69" idx="1"/>
            <a:endCxn id="74" idx="2"/>
          </p:cNvCxnSpPr>
          <p:nvPr/>
        </p:nvCxnSpPr>
        <p:spPr>
          <a:xfrm rot="5400000" flipH="1" flipV="1">
            <a:off x="2683792" y="5315518"/>
            <a:ext cx="235540" cy="1668274"/>
          </a:xfrm>
          <a:prstGeom prst="bentConnector3">
            <a:avLst>
              <a:gd name="adj1" fmla="val -4577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矩形 73">
            <a:extLst>
              <a:ext uri="{FF2B5EF4-FFF2-40B4-BE49-F238E27FC236}">
                <a16:creationId xmlns:a16="http://schemas.microsoft.com/office/drawing/2014/main" id="{D085EC04-CE3A-60AA-DFD7-B92FD8FBF1F9}"/>
              </a:ext>
            </a:extLst>
          </p:cNvPr>
          <p:cNvSpPr/>
          <p:nvPr/>
        </p:nvSpPr>
        <p:spPr>
          <a:xfrm>
            <a:off x="3399449" y="5770245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SWA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D628338A-C54E-E735-FCC6-0E12B45F32F0}"/>
              </a:ext>
            </a:extLst>
          </p:cNvPr>
          <p:cNvSpPr/>
          <p:nvPr/>
        </p:nvSpPr>
        <p:spPr>
          <a:xfrm>
            <a:off x="3399449" y="5137879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TFM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F0C82C86-430B-CB8B-0555-03A25923D31C}"/>
              </a:ext>
            </a:extLst>
          </p:cNvPr>
          <p:cNvCxnSpPr>
            <a:cxnSpLocks/>
            <a:stCxn id="70" idx="2"/>
            <a:endCxn id="76" idx="0"/>
          </p:cNvCxnSpPr>
          <p:nvPr/>
        </p:nvCxnSpPr>
        <p:spPr>
          <a:xfrm>
            <a:off x="3635699" y="4801079"/>
            <a:ext cx="0" cy="3368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BE4DC708-C0CC-A494-83A1-1EC7D7C922FB}"/>
              </a:ext>
            </a:extLst>
          </p:cNvPr>
          <p:cNvCxnSpPr>
            <a:cxnSpLocks/>
            <a:stCxn id="74" idx="0"/>
            <a:endCxn id="76" idx="2"/>
          </p:cNvCxnSpPr>
          <p:nvPr/>
        </p:nvCxnSpPr>
        <p:spPr>
          <a:xfrm flipV="1">
            <a:off x="3635699" y="5399519"/>
            <a:ext cx="0" cy="3707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矩形 79">
            <a:extLst>
              <a:ext uri="{FF2B5EF4-FFF2-40B4-BE49-F238E27FC236}">
                <a16:creationId xmlns:a16="http://schemas.microsoft.com/office/drawing/2014/main" id="{A341176F-755B-D4B3-AC7B-C1F36582CB1F}"/>
              </a:ext>
            </a:extLst>
          </p:cNvPr>
          <p:cNvSpPr/>
          <p:nvPr/>
        </p:nvSpPr>
        <p:spPr>
          <a:xfrm>
            <a:off x="4078849" y="5176306"/>
            <a:ext cx="2774316" cy="97294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A2Net_Decoder</a:t>
            </a:r>
            <a:br>
              <a:rPr lang="en-US" altLang="zh-CN" sz="1200" dirty="0">
                <a:solidFill>
                  <a:schemeClr val="tx1"/>
                </a:solidFill>
              </a:rPr>
            </a:br>
            <a:r>
              <a:rPr lang="en-US" altLang="zh-CN" sz="1200" dirty="0">
                <a:solidFill>
                  <a:schemeClr val="tx1"/>
                </a:solidFill>
              </a:rPr>
              <a:t>Stage1~4</a:t>
            </a:r>
            <a:r>
              <a:rPr lang="zh-CN" altLang="en-US" sz="1200" dirty="0">
                <a:solidFill>
                  <a:schemeClr val="tx1"/>
                </a:solidFill>
              </a:rPr>
              <a:t>：</a:t>
            </a:r>
            <a:r>
              <a:rPr lang="fr-FR" altLang="zh-CN" sz="1200" dirty="0">
                <a:solidFill>
                  <a:schemeClr val="tx1"/>
                </a:solidFill>
              </a:rPr>
              <a:t>SupervisedAttentionModul</a:t>
            </a:r>
            <a:r>
              <a:rPr lang="en-US" altLang="zh-CN" sz="1200" dirty="0">
                <a:solidFill>
                  <a:schemeClr val="tx1"/>
                </a:solidFill>
              </a:rPr>
              <a:t>e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712C525D-8712-0752-AF2D-A663E84F7318}"/>
              </a:ext>
            </a:extLst>
          </p:cNvPr>
          <p:cNvSpPr/>
          <p:nvPr/>
        </p:nvSpPr>
        <p:spPr>
          <a:xfrm>
            <a:off x="4112796" y="4696202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d1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0D247315-CC85-6539-2287-E32274992075}"/>
              </a:ext>
            </a:extLst>
          </p:cNvPr>
          <p:cNvSpPr/>
          <p:nvPr/>
        </p:nvSpPr>
        <p:spPr>
          <a:xfrm>
            <a:off x="4855493" y="4695981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d2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365996A3-6087-D963-323C-16BFC0935978}"/>
              </a:ext>
            </a:extLst>
          </p:cNvPr>
          <p:cNvSpPr/>
          <p:nvPr/>
        </p:nvSpPr>
        <p:spPr>
          <a:xfrm>
            <a:off x="5612329" y="4695981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d3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CEB7826E-DB07-FD47-48FD-2B240299450B}"/>
              </a:ext>
            </a:extLst>
          </p:cNvPr>
          <p:cNvSpPr/>
          <p:nvPr/>
        </p:nvSpPr>
        <p:spPr>
          <a:xfrm>
            <a:off x="6338323" y="4689856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d4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88" name="左大括号 87">
            <a:extLst>
              <a:ext uri="{FF2B5EF4-FFF2-40B4-BE49-F238E27FC236}">
                <a16:creationId xmlns:a16="http://schemas.microsoft.com/office/drawing/2014/main" id="{0F21B8BB-4742-30C4-91B0-D873FF36310D}"/>
              </a:ext>
            </a:extLst>
          </p:cNvPr>
          <p:cNvSpPr/>
          <p:nvPr/>
        </p:nvSpPr>
        <p:spPr>
          <a:xfrm rot="5400000">
            <a:off x="5322294" y="3130973"/>
            <a:ext cx="223503" cy="2838243"/>
          </a:xfrm>
          <a:prstGeom prst="leftBrace">
            <a:avLst>
              <a:gd name="adj1" fmla="val 83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9" name="连接符: 肘形 88">
            <a:extLst>
              <a:ext uri="{FF2B5EF4-FFF2-40B4-BE49-F238E27FC236}">
                <a16:creationId xmlns:a16="http://schemas.microsoft.com/office/drawing/2014/main" id="{F51C70BD-D1B5-FD0D-1053-ACE04C5A85C8}"/>
              </a:ext>
            </a:extLst>
          </p:cNvPr>
          <p:cNvCxnSpPr>
            <a:cxnSpLocks/>
            <a:stCxn id="76" idx="3"/>
            <a:endCxn id="88" idx="1"/>
          </p:cNvCxnSpPr>
          <p:nvPr/>
        </p:nvCxnSpPr>
        <p:spPr>
          <a:xfrm flipV="1">
            <a:off x="3871949" y="4438343"/>
            <a:ext cx="1562096" cy="830356"/>
          </a:xfrm>
          <a:prstGeom prst="bentConnector4">
            <a:avLst>
              <a:gd name="adj1" fmla="val 6423"/>
              <a:gd name="adj2" fmla="val 12805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7FF0E923-2DBB-FC4A-22D3-28D90641ED06}"/>
              </a:ext>
            </a:extLst>
          </p:cNvPr>
          <p:cNvCxnSpPr>
            <a:cxnSpLocks/>
            <a:stCxn id="82" idx="2"/>
            <a:endCxn id="97" idx="0"/>
          </p:cNvCxnSpPr>
          <p:nvPr/>
        </p:nvCxnSpPr>
        <p:spPr>
          <a:xfrm>
            <a:off x="4349046" y="4957842"/>
            <a:ext cx="4319" cy="4222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C56ECDE4-843C-C349-3E0F-616BD83263C0}"/>
              </a:ext>
            </a:extLst>
          </p:cNvPr>
          <p:cNvCxnSpPr>
            <a:cxnSpLocks/>
            <a:stCxn id="83" idx="2"/>
            <a:endCxn id="103" idx="0"/>
          </p:cNvCxnSpPr>
          <p:nvPr/>
        </p:nvCxnSpPr>
        <p:spPr>
          <a:xfrm>
            <a:off x="5091743" y="4957621"/>
            <a:ext cx="0" cy="4204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432462A5-D23D-743E-5CDD-EA95B5B9BCBC}"/>
              </a:ext>
            </a:extLst>
          </p:cNvPr>
          <p:cNvCxnSpPr>
            <a:cxnSpLocks/>
            <a:stCxn id="85" idx="2"/>
            <a:endCxn id="104" idx="0"/>
          </p:cNvCxnSpPr>
          <p:nvPr/>
        </p:nvCxnSpPr>
        <p:spPr>
          <a:xfrm>
            <a:off x="5848579" y="4957621"/>
            <a:ext cx="4285" cy="4168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0B98F468-C13C-940B-F360-B67C87FC9AC0}"/>
              </a:ext>
            </a:extLst>
          </p:cNvPr>
          <p:cNvCxnSpPr>
            <a:cxnSpLocks/>
            <a:stCxn id="86" idx="2"/>
            <a:endCxn id="105" idx="0"/>
          </p:cNvCxnSpPr>
          <p:nvPr/>
        </p:nvCxnSpPr>
        <p:spPr>
          <a:xfrm>
            <a:off x="6574573" y="4951496"/>
            <a:ext cx="0" cy="4232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矩形 96">
            <a:extLst>
              <a:ext uri="{FF2B5EF4-FFF2-40B4-BE49-F238E27FC236}">
                <a16:creationId xmlns:a16="http://schemas.microsoft.com/office/drawing/2014/main" id="{BE811F38-D4FD-D181-9A30-69B3364D1032}"/>
              </a:ext>
            </a:extLst>
          </p:cNvPr>
          <p:cNvSpPr/>
          <p:nvPr/>
        </p:nvSpPr>
        <p:spPr>
          <a:xfrm>
            <a:off x="4117115" y="5380052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S1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C5DA141C-EDB8-7385-B0D7-B025C4821E1D}"/>
              </a:ext>
            </a:extLst>
          </p:cNvPr>
          <p:cNvSpPr/>
          <p:nvPr/>
        </p:nvSpPr>
        <p:spPr>
          <a:xfrm>
            <a:off x="4855493" y="5378039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S2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B040F4EB-5A65-95AF-5B17-B068246D20E9}"/>
              </a:ext>
            </a:extLst>
          </p:cNvPr>
          <p:cNvSpPr/>
          <p:nvPr/>
        </p:nvSpPr>
        <p:spPr>
          <a:xfrm>
            <a:off x="5616614" y="5374453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S3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5379FD9B-51C4-BA81-56D7-03BA73D7FBC7}"/>
              </a:ext>
            </a:extLst>
          </p:cNvPr>
          <p:cNvSpPr/>
          <p:nvPr/>
        </p:nvSpPr>
        <p:spPr>
          <a:xfrm>
            <a:off x="6338323" y="5374696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S4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cxnSp>
        <p:nvCxnSpPr>
          <p:cNvPr id="106" name="直接箭头连接符 105">
            <a:extLst>
              <a:ext uri="{FF2B5EF4-FFF2-40B4-BE49-F238E27FC236}">
                <a16:creationId xmlns:a16="http://schemas.microsoft.com/office/drawing/2014/main" id="{BB32F0AC-4790-1649-6117-FFD3B179745F}"/>
              </a:ext>
            </a:extLst>
          </p:cNvPr>
          <p:cNvCxnSpPr>
            <a:cxnSpLocks/>
            <a:stCxn id="97" idx="3"/>
            <a:endCxn id="103" idx="1"/>
          </p:cNvCxnSpPr>
          <p:nvPr/>
        </p:nvCxnSpPr>
        <p:spPr>
          <a:xfrm flipV="1">
            <a:off x="4589615" y="5508859"/>
            <a:ext cx="265878" cy="20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65DE58B8-E9B6-96BD-9B89-9E159826C08D}"/>
              </a:ext>
            </a:extLst>
          </p:cNvPr>
          <p:cNvCxnSpPr>
            <a:cxnSpLocks/>
            <a:stCxn id="103" idx="3"/>
            <a:endCxn id="104" idx="1"/>
          </p:cNvCxnSpPr>
          <p:nvPr/>
        </p:nvCxnSpPr>
        <p:spPr>
          <a:xfrm flipV="1">
            <a:off x="5327993" y="5505273"/>
            <a:ext cx="288621" cy="35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箭头连接符 107">
            <a:extLst>
              <a:ext uri="{FF2B5EF4-FFF2-40B4-BE49-F238E27FC236}">
                <a16:creationId xmlns:a16="http://schemas.microsoft.com/office/drawing/2014/main" id="{B5AA58EB-1F29-9AAF-48C0-FADE635BD921}"/>
              </a:ext>
            </a:extLst>
          </p:cNvPr>
          <p:cNvCxnSpPr>
            <a:cxnSpLocks/>
            <a:endCxn id="105" idx="1"/>
          </p:cNvCxnSpPr>
          <p:nvPr/>
        </p:nvCxnSpPr>
        <p:spPr>
          <a:xfrm>
            <a:off x="6084829" y="5505273"/>
            <a:ext cx="253494" cy="2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矩形 108">
            <a:extLst>
              <a:ext uri="{FF2B5EF4-FFF2-40B4-BE49-F238E27FC236}">
                <a16:creationId xmlns:a16="http://schemas.microsoft.com/office/drawing/2014/main" id="{F6E71CBB-B60A-8352-142F-8CD9809F41B8}"/>
              </a:ext>
            </a:extLst>
          </p:cNvPr>
          <p:cNvSpPr/>
          <p:nvPr/>
        </p:nvSpPr>
        <p:spPr>
          <a:xfrm>
            <a:off x="7119043" y="5393521"/>
            <a:ext cx="821086" cy="2235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solidFill>
                  <a:schemeClr val="tx1"/>
                </a:solidFill>
              </a:rPr>
              <a:t>changemap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cxnSp>
        <p:nvCxnSpPr>
          <p:cNvPr id="110" name="直接箭头连接符 109">
            <a:extLst>
              <a:ext uri="{FF2B5EF4-FFF2-40B4-BE49-F238E27FC236}">
                <a16:creationId xmlns:a16="http://schemas.microsoft.com/office/drawing/2014/main" id="{A21CE425-8F66-3D96-F50B-2E86DADCE5D6}"/>
              </a:ext>
            </a:extLst>
          </p:cNvPr>
          <p:cNvCxnSpPr>
            <a:cxnSpLocks/>
            <a:stCxn id="105" idx="3"/>
            <a:endCxn id="109" idx="1"/>
          </p:cNvCxnSpPr>
          <p:nvPr/>
        </p:nvCxnSpPr>
        <p:spPr>
          <a:xfrm flipV="1">
            <a:off x="6810823" y="5505273"/>
            <a:ext cx="308220" cy="2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箭头连接符 110">
            <a:extLst>
              <a:ext uri="{FF2B5EF4-FFF2-40B4-BE49-F238E27FC236}">
                <a16:creationId xmlns:a16="http://schemas.microsoft.com/office/drawing/2014/main" id="{32879136-0805-4D20-AB75-8AC0AD46C001}"/>
              </a:ext>
            </a:extLst>
          </p:cNvPr>
          <p:cNvCxnSpPr>
            <a:cxnSpLocks/>
            <a:stCxn id="109" idx="0"/>
            <a:endCxn id="112" idx="2"/>
          </p:cNvCxnSpPr>
          <p:nvPr/>
        </p:nvCxnSpPr>
        <p:spPr>
          <a:xfrm flipH="1" flipV="1">
            <a:off x="7529246" y="5071695"/>
            <a:ext cx="340" cy="3218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文本框 111">
            <a:extLst>
              <a:ext uri="{FF2B5EF4-FFF2-40B4-BE49-F238E27FC236}">
                <a16:creationId xmlns:a16="http://schemas.microsoft.com/office/drawing/2014/main" id="{BF206A1A-CDB8-4E34-81B7-12AF57BF6523}"/>
              </a:ext>
            </a:extLst>
          </p:cNvPr>
          <p:cNvSpPr txBox="1"/>
          <p:nvPr/>
        </p:nvSpPr>
        <p:spPr>
          <a:xfrm>
            <a:off x="6929379" y="4494614"/>
            <a:ext cx="1199734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50" dirty="0"/>
              <a:t>GT</a:t>
            </a:r>
          </a:p>
          <a:p>
            <a:pPr algn="ctr"/>
            <a:r>
              <a:rPr lang="zh-CN" altLang="en-US" sz="1050" dirty="0"/>
              <a:t>↓</a:t>
            </a:r>
            <a:endParaRPr lang="en-US" altLang="zh-CN" sz="1050" dirty="0"/>
          </a:p>
          <a:p>
            <a:pPr algn="ctr"/>
            <a:r>
              <a:rPr lang="zh-CN" altLang="en-US" sz="1050" dirty="0"/>
              <a:t>主</a:t>
            </a:r>
            <a:r>
              <a:rPr lang="en-US" altLang="zh-CN" sz="1050" dirty="0"/>
              <a:t>loss</a:t>
            </a:r>
            <a:r>
              <a:rPr lang="zh-CN" altLang="en-US" sz="1050" dirty="0"/>
              <a:t>： </a:t>
            </a:r>
            <a:r>
              <a:rPr lang="fr-FR" altLang="zh-CN" sz="1050" dirty="0"/>
              <a:t>BCE+Dice </a:t>
            </a:r>
            <a:endParaRPr lang="en-US" altLang="zh-CN" sz="1050" dirty="0">
              <a:solidFill>
                <a:schemeClr val="tx1"/>
              </a:solidFill>
            </a:endParaRPr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008000D3-B625-F643-B224-8C9D8C95418A}"/>
              </a:ext>
            </a:extLst>
          </p:cNvPr>
          <p:cNvSpPr/>
          <p:nvPr/>
        </p:nvSpPr>
        <p:spPr>
          <a:xfrm>
            <a:off x="23371" y="4013593"/>
            <a:ext cx="8414902" cy="25439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1D5BC70C-D6BE-0BCE-3D5E-9347DEE7F158}"/>
              </a:ext>
            </a:extLst>
          </p:cNvPr>
          <p:cNvSpPr txBox="1"/>
          <p:nvPr/>
        </p:nvSpPr>
        <p:spPr>
          <a:xfrm>
            <a:off x="3333204" y="4798007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4</a:t>
            </a:r>
            <a:r>
              <a:rPr lang="zh-CN" altLang="en-US" sz="1000" dirty="0"/>
              <a:t>个</a:t>
            </a:r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0CC993B5-3675-4C17-4604-D96C3FC83B59}"/>
              </a:ext>
            </a:extLst>
          </p:cNvPr>
          <p:cNvSpPr txBox="1"/>
          <p:nvPr/>
        </p:nvSpPr>
        <p:spPr>
          <a:xfrm>
            <a:off x="3333204" y="5536432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4</a:t>
            </a:r>
            <a:r>
              <a:rPr lang="zh-CN" altLang="en-US" sz="1000" dirty="0"/>
              <a:t>个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4DAAC4C5-1817-C8CC-1066-A5ECAB138449}"/>
              </a:ext>
            </a:extLst>
          </p:cNvPr>
          <p:cNvSpPr/>
          <p:nvPr/>
        </p:nvSpPr>
        <p:spPr>
          <a:xfrm>
            <a:off x="23371" y="972927"/>
            <a:ext cx="8378349" cy="25439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FE435F7C-7068-68EB-AACA-123C866BF7E5}"/>
              </a:ext>
            </a:extLst>
          </p:cNvPr>
          <p:cNvSpPr txBox="1"/>
          <p:nvPr/>
        </p:nvSpPr>
        <p:spPr>
          <a:xfrm>
            <a:off x="-63492" y="3683226"/>
            <a:ext cx="38034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推理时：仅保留主路径</a:t>
            </a: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6B67F48C-3C29-24D3-B640-9396FE37AF61}"/>
              </a:ext>
            </a:extLst>
          </p:cNvPr>
          <p:cNvSpPr txBox="1"/>
          <p:nvPr/>
        </p:nvSpPr>
        <p:spPr>
          <a:xfrm>
            <a:off x="3075471" y="3590119"/>
            <a:ext cx="19846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作用于编码器</a:t>
            </a:r>
            <a:r>
              <a:rPr lang="en-US" altLang="zh-CN" sz="1400" dirty="0"/>
              <a:t>4</a:t>
            </a:r>
            <a:r>
              <a:rPr lang="zh-CN" altLang="en-US" sz="1400" dirty="0"/>
              <a:t>层输出</a:t>
            </a:r>
          </a:p>
        </p:txBody>
      </p:sp>
      <p:sp>
        <p:nvSpPr>
          <p:cNvPr id="119" name="箭头: 下 118">
            <a:extLst>
              <a:ext uri="{FF2B5EF4-FFF2-40B4-BE49-F238E27FC236}">
                <a16:creationId xmlns:a16="http://schemas.microsoft.com/office/drawing/2014/main" id="{A92D29B7-F270-003A-0794-C86263EE82E8}"/>
              </a:ext>
            </a:extLst>
          </p:cNvPr>
          <p:cNvSpPr/>
          <p:nvPr/>
        </p:nvSpPr>
        <p:spPr>
          <a:xfrm>
            <a:off x="2771800" y="3615244"/>
            <a:ext cx="275790" cy="286690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3F534C2F-8EE4-AC74-588E-18412DF5BB9E}"/>
              </a:ext>
            </a:extLst>
          </p:cNvPr>
          <p:cNvSpPr txBox="1"/>
          <p:nvPr/>
        </p:nvSpPr>
        <p:spPr>
          <a:xfrm>
            <a:off x="8401720" y="698774"/>
            <a:ext cx="32641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tx1"/>
                </a:solidFill>
              </a:rPr>
              <a:t>偶：不随时相交换变号</a:t>
            </a:r>
            <a:br>
              <a:rPr lang="en-US" altLang="zh-CN" sz="1800" dirty="0">
                <a:solidFill>
                  <a:schemeClr val="tx1"/>
                </a:solidFill>
              </a:rPr>
            </a:br>
            <a:r>
              <a:rPr lang="zh-CN" altLang="en-US" sz="1800" dirty="0">
                <a:solidFill>
                  <a:schemeClr val="tx1"/>
                </a:solidFill>
              </a:rPr>
              <a:t>奇：时相交换后反号</a:t>
            </a:r>
            <a:endParaRPr lang="zh-CN" altLang="en-US" dirty="0"/>
          </a:p>
        </p:txBody>
      </p:sp>
      <p:graphicFrame>
        <p:nvGraphicFramePr>
          <p:cNvPr id="135" name="表格 134">
            <a:extLst>
              <a:ext uri="{FF2B5EF4-FFF2-40B4-BE49-F238E27FC236}">
                <a16:creationId xmlns:a16="http://schemas.microsoft.com/office/drawing/2014/main" id="{4147EDED-0838-CD70-6D12-1FBBD36D44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9159588"/>
              </p:ext>
            </p:extLst>
          </p:nvPr>
        </p:nvGraphicFramePr>
        <p:xfrm>
          <a:off x="8465997" y="1292980"/>
          <a:ext cx="3641880" cy="263652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000641">
                  <a:extLst>
                    <a:ext uri="{9D8B030D-6E8A-4147-A177-3AD203B41FA5}">
                      <a16:colId xmlns:a16="http://schemas.microsoft.com/office/drawing/2014/main" val="3621146876"/>
                    </a:ext>
                  </a:extLst>
                </a:gridCol>
                <a:gridCol w="1171414">
                  <a:extLst>
                    <a:ext uri="{9D8B030D-6E8A-4147-A177-3AD203B41FA5}">
                      <a16:colId xmlns:a16="http://schemas.microsoft.com/office/drawing/2014/main" val="442540730"/>
                    </a:ext>
                  </a:extLst>
                </a:gridCol>
                <a:gridCol w="1469825">
                  <a:extLst>
                    <a:ext uri="{9D8B030D-6E8A-4147-A177-3AD203B41FA5}">
                      <a16:colId xmlns:a16="http://schemas.microsoft.com/office/drawing/2014/main" val="26492406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CN" altLang="en-US" sz="1100"/>
                        <a:t>偶知识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100"/>
                        <a:t>它表达什么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100"/>
                        <a:t>为什么交换后不变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36580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 sz="1100" b="1"/>
                        <a:t>边界变化</a:t>
                      </a:r>
                      <a:r>
                        <a:rPr lang="zh-CN" altLang="en-US" sz="1100"/>
                        <a:t> </a:t>
                      </a:r>
                      <a:r>
                        <a:rPr lang="fr-FR" sz="1100"/>
                        <a:t>Boundary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两个时相的物体</a:t>
                      </a:r>
                      <a:endParaRPr lang="en-US" altLang="zh-CN" sz="1100" dirty="0"/>
                    </a:p>
                    <a:p>
                      <a:r>
                        <a:rPr lang="zh-CN" altLang="en-US" sz="1100" dirty="0"/>
                        <a:t>边界有多大差异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只关心“差多少”，</a:t>
                      </a:r>
                      <a:endParaRPr lang="en-US" altLang="zh-CN" sz="1100" dirty="0"/>
                    </a:p>
                    <a:p>
                      <a:r>
                        <a:rPr lang="zh-CN" altLang="en-US" sz="1100" dirty="0"/>
                        <a:t>不关心谁先谁后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6196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 sz="1100" b="1"/>
                        <a:t>局部关系变化</a:t>
                      </a:r>
                      <a:r>
                        <a:rPr lang="zh-CN" altLang="en-US" sz="1100"/>
                        <a:t> </a:t>
                      </a:r>
                      <a:r>
                        <a:rPr lang="fr-FR" sz="1100"/>
                        <a:t>Local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邻近像素</a:t>
                      </a:r>
                      <a:r>
                        <a:rPr lang="en-US" altLang="zh-CN" sz="1100" dirty="0"/>
                        <a:t>/</a:t>
                      </a:r>
                      <a:r>
                        <a:rPr lang="zh-CN" altLang="en-US" sz="1100" dirty="0"/>
                        <a:t>区域是</a:t>
                      </a:r>
                      <a:endParaRPr lang="en-US" altLang="zh-CN" sz="1100" dirty="0"/>
                    </a:p>
                    <a:p>
                      <a:r>
                        <a:rPr lang="zh-CN" altLang="en-US" sz="1100" dirty="0"/>
                        <a:t>否仍属于同一实例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用绝对关系差异，</a:t>
                      </a:r>
                      <a:endParaRPr lang="en-US" altLang="zh-CN" sz="1100" dirty="0"/>
                    </a:p>
                    <a:p>
                      <a:r>
                        <a:rPr lang="zh-CN" altLang="en-US" sz="1100" dirty="0"/>
                        <a:t>交换前后相同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61819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 sz="1100" b="1"/>
                        <a:t>几何变化</a:t>
                      </a:r>
                      <a:r>
                        <a:rPr lang="zh-CN" altLang="en-US" sz="1100"/>
                        <a:t> </a:t>
                      </a:r>
                      <a:r>
                        <a:rPr lang="fr-FR" sz="1100"/>
                        <a:t>Geometry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物体大小、形状、</a:t>
                      </a:r>
                      <a:endParaRPr lang="en-US" altLang="zh-CN" sz="1100" dirty="0"/>
                    </a:p>
                    <a:p>
                      <a:r>
                        <a:rPr lang="zh-CN" altLang="en-US" sz="1100" dirty="0"/>
                        <a:t>内部结构等变化程度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100"/>
                        <a:t>也是绝对差异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78333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 sz="1100" b="1" dirty="0"/>
                        <a:t>稳定结构</a:t>
                      </a:r>
                      <a:r>
                        <a:rPr lang="zh-CN" altLang="en-US" sz="1100" dirty="0"/>
                        <a:t> </a:t>
                      </a:r>
                      <a:r>
                        <a:rPr lang="fr-FR" sz="1100" dirty="0"/>
                        <a:t>Stable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两个时相都存在、</a:t>
                      </a:r>
                      <a:endParaRPr lang="en-US" altLang="zh-CN" sz="1100" dirty="0"/>
                    </a:p>
                    <a:p>
                      <a:r>
                        <a:rPr lang="zh-CN" altLang="en-US" sz="1100" dirty="0"/>
                        <a:t>且结构基本一致的区域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“两边一致”</a:t>
                      </a:r>
                      <a:endParaRPr lang="en-US" altLang="zh-CN" sz="1100" dirty="0"/>
                    </a:p>
                    <a:p>
                      <a:r>
                        <a:rPr lang="zh-CN" altLang="en-US" sz="1100" dirty="0"/>
                        <a:t>本身没有方向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0157379"/>
                  </a:ext>
                </a:extLst>
              </a:tr>
            </a:tbl>
          </a:graphicData>
        </a:graphic>
      </p:graphicFrame>
      <p:graphicFrame>
        <p:nvGraphicFramePr>
          <p:cNvPr id="137" name="表格 136">
            <a:extLst>
              <a:ext uri="{FF2B5EF4-FFF2-40B4-BE49-F238E27FC236}">
                <a16:creationId xmlns:a16="http://schemas.microsoft.com/office/drawing/2014/main" id="{23822491-ACFC-E654-75ED-A5F7B2C87A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09897"/>
              </p:ext>
            </p:extLst>
          </p:nvPr>
        </p:nvGraphicFramePr>
        <p:xfrm>
          <a:off x="8474365" y="3991003"/>
          <a:ext cx="3563424" cy="170688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677225">
                  <a:extLst>
                    <a:ext uri="{9D8B030D-6E8A-4147-A177-3AD203B41FA5}">
                      <a16:colId xmlns:a16="http://schemas.microsoft.com/office/drawing/2014/main" val="58907602"/>
                    </a:ext>
                  </a:extLst>
                </a:gridCol>
                <a:gridCol w="2886199">
                  <a:extLst>
                    <a:ext uri="{9D8B030D-6E8A-4147-A177-3AD203B41FA5}">
                      <a16:colId xmlns:a16="http://schemas.microsoft.com/office/drawing/2014/main" val="23858889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CN" altLang="en-US" sz="1100"/>
                        <a:t>奇知识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表达什么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5800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 sz="1100" b="1"/>
                        <a:t>有向边界变化</a:t>
                      </a:r>
                      <a:endParaRPr lang="zh-CN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边界是 </a:t>
                      </a:r>
                      <a:r>
                        <a:rPr lang="fr-FR" sz="1100" dirty="0"/>
                        <a:t>T2 </a:t>
                      </a:r>
                      <a:r>
                        <a:rPr lang="zh-CN" altLang="en-US" sz="1100" dirty="0"/>
                        <a:t>新增，还是 </a:t>
                      </a:r>
                      <a:r>
                        <a:rPr lang="fr-FR" sz="1100" dirty="0"/>
                        <a:t>T1 </a:t>
                      </a:r>
                      <a:r>
                        <a:rPr lang="zh-CN" altLang="en-US" sz="1100" dirty="0"/>
                        <a:t>原有部分消失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97649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 sz="1100" b="1"/>
                        <a:t>有向局部关系变化</a:t>
                      </a:r>
                      <a:endParaRPr lang="zh-CN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100"/>
                        <a:t>局部实例关系是增强还是减弱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57816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 sz="1100" b="1"/>
                        <a:t>有向几何变化</a:t>
                      </a:r>
                      <a:endParaRPr lang="zh-CN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物体结构是增大</a:t>
                      </a:r>
                      <a:r>
                        <a:rPr lang="en-US" altLang="zh-CN" sz="1100" dirty="0"/>
                        <a:t>/</a:t>
                      </a:r>
                      <a:r>
                        <a:rPr lang="zh-CN" altLang="en-US" sz="1100" dirty="0"/>
                        <a:t>增强还是减小</a:t>
                      </a:r>
                      <a:r>
                        <a:rPr lang="en-US" altLang="zh-CN" sz="1100" dirty="0"/>
                        <a:t>/</a:t>
                      </a:r>
                      <a:r>
                        <a:rPr lang="zh-CN" altLang="en-US" sz="1100" dirty="0"/>
                        <a:t>减弱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6321778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F3628025-D91E-1B92-00CC-25E5FB9543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4502448"/>
              </p:ext>
            </p:extLst>
          </p:nvPr>
        </p:nvGraphicFramePr>
        <p:xfrm>
          <a:off x="8824256" y="5832323"/>
          <a:ext cx="2531252" cy="653805"/>
        </p:xfrm>
        <a:graphic>
          <a:graphicData uri="http://schemas.openxmlformats.org/drawingml/2006/table">
            <a:tbl>
              <a:tblPr/>
              <a:tblGrid>
                <a:gridCol w="806595">
                  <a:extLst>
                    <a:ext uri="{9D8B030D-6E8A-4147-A177-3AD203B41FA5}">
                      <a16:colId xmlns:a16="http://schemas.microsoft.com/office/drawing/2014/main" val="2134520539"/>
                    </a:ext>
                  </a:extLst>
                </a:gridCol>
                <a:gridCol w="1724657">
                  <a:extLst>
                    <a:ext uri="{9D8B030D-6E8A-4147-A177-3AD203B41FA5}">
                      <a16:colId xmlns:a16="http://schemas.microsoft.com/office/drawing/2014/main" val="1337585157"/>
                    </a:ext>
                  </a:extLst>
                </a:gridCol>
              </a:tblGrid>
              <a:tr h="1310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effectLst/>
                        </a:rPr>
                        <a:t>配置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E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E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E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E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>
                          <a:effectLst/>
                        </a:rPr>
                        <a:t>SYSU F1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E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E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E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E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9970266"/>
                  </a:ext>
                </a:extLst>
              </a:tr>
              <a:tr h="24232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effectLst/>
                        </a:rPr>
                        <a:t>只有主路径</a:t>
                      </a:r>
                      <a:endParaRPr lang="fr-FR" sz="1100" dirty="0">
                        <a:effectLst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E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E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E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E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effectLst/>
                        </a:rPr>
                        <a:t>82.10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E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E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E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E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1116901"/>
                  </a:ext>
                </a:extLst>
              </a:tr>
              <a:tr h="1310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effectLst/>
                        </a:rPr>
                        <a:t>加教师</a:t>
                      </a:r>
                      <a:endParaRPr lang="fr-FR" sz="1100" dirty="0">
                        <a:effectLst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E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E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E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E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effectLst/>
                        </a:rPr>
                        <a:t>82.10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E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E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E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E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9440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12494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4447" y="1"/>
            <a:ext cx="10246553" cy="669129"/>
          </a:xfr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Our Work</a:t>
            </a:r>
            <a:r>
              <a:rPr lang="zh-CN" altLang="en-US" dirty="0"/>
              <a:t>整体结构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AED405A-AB9B-6857-1D0D-54E2E99689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3482" y="1351152"/>
            <a:ext cx="66584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10108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4447" y="1"/>
            <a:ext cx="10246553" cy="669129"/>
          </a:xfr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A2Net+LWGANet</a:t>
            </a:r>
            <a:r>
              <a:rPr lang="zh-CN" altLang="en-US" dirty="0"/>
              <a:t>（</a:t>
            </a:r>
            <a:r>
              <a:rPr lang="en-US" altLang="zh-CN" dirty="0"/>
              <a:t>baseline</a:t>
            </a:r>
            <a:r>
              <a:rPr lang="zh-CN" altLang="en-US" dirty="0"/>
              <a:t>记录）</a:t>
            </a:r>
            <a:endParaRPr lang="fr-FR" altLang="zh-CN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7FB5AC2-8BCA-7E96-7B23-FDEADC341A59}"/>
              </a:ext>
            </a:extLst>
          </p:cNvPr>
          <p:cNvSpPr txBox="1"/>
          <p:nvPr/>
        </p:nvSpPr>
        <p:spPr>
          <a:xfrm>
            <a:off x="-1" y="6098465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altLang="zh-CN" dirty="0"/>
              <a:t>Lu W, Yang X, Chen S B. </a:t>
            </a:r>
            <a:r>
              <a:rPr lang="en-US" altLang="zh-CN" dirty="0" err="1"/>
              <a:t>LWGANet</a:t>
            </a:r>
            <a:r>
              <a:rPr lang="en-US" altLang="zh-CN" dirty="0"/>
              <a:t>: Addressing spatial and channel redundancy in remote sensing visual tasks with light-weight grouped attention[C]//Proceedings of the AAAI Conference on Artificial Intelligence. 2026, 40(9): 7574-7582.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18456B3-CE1E-241E-801F-ABBB51A12AED}"/>
              </a:ext>
            </a:extLst>
          </p:cNvPr>
          <p:cNvSpPr/>
          <p:nvPr/>
        </p:nvSpPr>
        <p:spPr>
          <a:xfrm>
            <a:off x="2038959" y="2465022"/>
            <a:ext cx="360000" cy="315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T1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34F98B6-0243-A13C-9511-374B726DE5E8}"/>
              </a:ext>
            </a:extLst>
          </p:cNvPr>
          <p:cNvSpPr/>
          <p:nvPr/>
        </p:nvSpPr>
        <p:spPr>
          <a:xfrm>
            <a:off x="2038959" y="3595465"/>
            <a:ext cx="360000" cy="315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T1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37CE02-E65F-BC7A-D241-F916AB0483AF}"/>
              </a:ext>
            </a:extLst>
          </p:cNvPr>
          <p:cNvSpPr/>
          <p:nvPr/>
        </p:nvSpPr>
        <p:spPr>
          <a:xfrm>
            <a:off x="2652571" y="2957312"/>
            <a:ext cx="2080413" cy="3935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Shared LWGANet_L0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8" name="连接符: 肘形 7">
            <a:extLst>
              <a:ext uri="{FF2B5EF4-FFF2-40B4-BE49-F238E27FC236}">
                <a16:creationId xmlns:a16="http://schemas.microsoft.com/office/drawing/2014/main" id="{7520187C-BF51-EA5D-6B42-821810752A85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2398959" y="2622522"/>
            <a:ext cx="253612" cy="53158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连接符: 肘形 8">
            <a:extLst>
              <a:ext uri="{FF2B5EF4-FFF2-40B4-BE49-F238E27FC236}">
                <a16:creationId xmlns:a16="http://schemas.microsoft.com/office/drawing/2014/main" id="{B2C3223F-4D4A-53F2-F716-C23A98E6D291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V="1">
            <a:off x="2398959" y="3154106"/>
            <a:ext cx="253612" cy="59885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69A773C4-AE15-171F-34E4-CE0D07657693}"/>
              </a:ext>
            </a:extLst>
          </p:cNvPr>
          <p:cNvSpPr/>
          <p:nvPr/>
        </p:nvSpPr>
        <p:spPr>
          <a:xfrm>
            <a:off x="2645026" y="2406922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F1_1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2DF85BF-3BF2-E8BA-852D-E264733B902A}"/>
              </a:ext>
            </a:extLst>
          </p:cNvPr>
          <p:cNvSpPr/>
          <p:nvPr/>
        </p:nvSpPr>
        <p:spPr>
          <a:xfrm>
            <a:off x="3182540" y="2406922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F1_2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0AFAE46-FF3A-4876-070F-1062AF9E86A2}"/>
              </a:ext>
            </a:extLst>
          </p:cNvPr>
          <p:cNvSpPr/>
          <p:nvPr/>
        </p:nvSpPr>
        <p:spPr>
          <a:xfrm>
            <a:off x="3720054" y="2411624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F1_3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43D609F-A8E5-1B89-4374-193435D3E271}"/>
              </a:ext>
            </a:extLst>
          </p:cNvPr>
          <p:cNvSpPr/>
          <p:nvPr/>
        </p:nvSpPr>
        <p:spPr>
          <a:xfrm>
            <a:off x="4279105" y="2416704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F1_4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84DBC98-F9B9-CD00-8A61-371C01490E3D}"/>
              </a:ext>
            </a:extLst>
          </p:cNvPr>
          <p:cNvSpPr/>
          <p:nvPr/>
        </p:nvSpPr>
        <p:spPr>
          <a:xfrm>
            <a:off x="2652571" y="3655652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F2_1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3BE8B7E-9E79-EC32-80A4-3A78EBF19FF5}"/>
              </a:ext>
            </a:extLst>
          </p:cNvPr>
          <p:cNvSpPr/>
          <p:nvPr/>
        </p:nvSpPr>
        <p:spPr>
          <a:xfrm>
            <a:off x="3190085" y="3655652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F2_2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F56AC48-41BD-3B6B-456E-7EA79446E475}"/>
              </a:ext>
            </a:extLst>
          </p:cNvPr>
          <p:cNvSpPr/>
          <p:nvPr/>
        </p:nvSpPr>
        <p:spPr>
          <a:xfrm>
            <a:off x="3727599" y="3660354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F2_3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523D08C-4BA4-1EAE-C12D-C6587671C386}"/>
              </a:ext>
            </a:extLst>
          </p:cNvPr>
          <p:cNvSpPr/>
          <p:nvPr/>
        </p:nvSpPr>
        <p:spPr>
          <a:xfrm>
            <a:off x="4286650" y="3665434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F2_4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cxnSp>
        <p:nvCxnSpPr>
          <p:cNvPr id="18" name="连接符: 肘形 17">
            <a:extLst>
              <a:ext uri="{FF2B5EF4-FFF2-40B4-BE49-F238E27FC236}">
                <a16:creationId xmlns:a16="http://schemas.microsoft.com/office/drawing/2014/main" id="{3CCD5049-5974-71E8-AB0E-9E8025385D24}"/>
              </a:ext>
            </a:extLst>
          </p:cNvPr>
          <p:cNvCxnSpPr>
            <a:cxnSpLocks/>
            <a:stCxn id="7" idx="0"/>
            <a:endCxn id="10" idx="2"/>
          </p:cNvCxnSpPr>
          <p:nvPr/>
        </p:nvCxnSpPr>
        <p:spPr>
          <a:xfrm rot="16200000" flipV="1">
            <a:off x="3142652" y="2407186"/>
            <a:ext cx="288750" cy="81150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连接符: 肘形 18">
            <a:extLst>
              <a:ext uri="{FF2B5EF4-FFF2-40B4-BE49-F238E27FC236}">
                <a16:creationId xmlns:a16="http://schemas.microsoft.com/office/drawing/2014/main" id="{64D9380F-1C18-DBED-3B8F-791CCEE84D33}"/>
              </a:ext>
            </a:extLst>
          </p:cNvPr>
          <p:cNvCxnSpPr>
            <a:cxnSpLocks/>
            <a:stCxn id="7" idx="0"/>
            <a:endCxn id="11" idx="2"/>
          </p:cNvCxnSpPr>
          <p:nvPr/>
        </p:nvCxnSpPr>
        <p:spPr>
          <a:xfrm rot="16200000" flipV="1">
            <a:off x="3411409" y="2675943"/>
            <a:ext cx="288750" cy="27398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连接符: 肘形 19">
            <a:extLst>
              <a:ext uri="{FF2B5EF4-FFF2-40B4-BE49-F238E27FC236}">
                <a16:creationId xmlns:a16="http://schemas.microsoft.com/office/drawing/2014/main" id="{EB309CBD-4F7A-4424-0C1B-C93E94F4DA06}"/>
              </a:ext>
            </a:extLst>
          </p:cNvPr>
          <p:cNvCxnSpPr>
            <a:cxnSpLocks/>
            <a:stCxn id="7" idx="0"/>
            <a:endCxn id="12" idx="2"/>
          </p:cNvCxnSpPr>
          <p:nvPr/>
        </p:nvCxnSpPr>
        <p:spPr>
          <a:xfrm rot="5400000" flipH="1" flipV="1">
            <a:off x="3682517" y="2683525"/>
            <a:ext cx="284048" cy="26352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连接符: 肘形 20">
            <a:extLst>
              <a:ext uri="{FF2B5EF4-FFF2-40B4-BE49-F238E27FC236}">
                <a16:creationId xmlns:a16="http://schemas.microsoft.com/office/drawing/2014/main" id="{21804445-F9D9-07F8-603A-8D696A9B897A}"/>
              </a:ext>
            </a:extLst>
          </p:cNvPr>
          <p:cNvCxnSpPr>
            <a:cxnSpLocks/>
            <a:stCxn id="7" idx="0"/>
            <a:endCxn id="13" idx="2"/>
          </p:cNvCxnSpPr>
          <p:nvPr/>
        </p:nvCxnSpPr>
        <p:spPr>
          <a:xfrm rot="5400000" flipH="1" flipV="1">
            <a:off x="3964582" y="2406540"/>
            <a:ext cx="278968" cy="82257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连接符: 肘形 21">
            <a:extLst>
              <a:ext uri="{FF2B5EF4-FFF2-40B4-BE49-F238E27FC236}">
                <a16:creationId xmlns:a16="http://schemas.microsoft.com/office/drawing/2014/main" id="{0BFE552B-5261-D0C1-0CFF-D5B79152E168}"/>
              </a:ext>
            </a:extLst>
          </p:cNvPr>
          <p:cNvCxnSpPr>
            <a:cxnSpLocks/>
            <a:stCxn id="7" idx="2"/>
            <a:endCxn id="14" idx="0"/>
          </p:cNvCxnSpPr>
          <p:nvPr/>
        </p:nvCxnSpPr>
        <p:spPr>
          <a:xfrm rot="5400000">
            <a:off x="3138424" y="3101298"/>
            <a:ext cx="304752" cy="80395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连接符: 肘形 22">
            <a:extLst>
              <a:ext uri="{FF2B5EF4-FFF2-40B4-BE49-F238E27FC236}">
                <a16:creationId xmlns:a16="http://schemas.microsoft.com/office/drawing/2014/main" id="{912D0E96-70C2-EDE2-89A5-6FCEAA321D6D}"/>
              </a:ext>
            </a:extLst>
          </p:cNvPr>
          <p:cNvCxnSpPr>
            <a:cxnSpLocks/>
            <a:stCxn id="7" idx="2"/>
            <a:endCxn id="15" idx="0"/>
          </p:cNvCxnSpPr>
          <p:nvPr/>
        </p:nvCxnSpPr>
        <p:spPr>
          <a:xfrm rot="5400000">
            <a:off x="3407181" y="3370055"/>
            <a:ext cx="304752" cy="26644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连接符: 肘形 23">
            <a:extLst>
              <a:ext uri="{FF2B5EF4-FFF2-40B4-BE49-F238E27FC236}">
                <a16:creationId xmlns:a16="http://schemas.microsoft.com/office/drawing/2014/main" id="{C4AEFCEF-FF4A-AD73-BE60-51E58E68F213}"/>
              </a:ext>
            </a:extLst>
          </p:cNvPr>
          <p:cNvCxnSpPr>
            <a:cxnSpLocks/>
            <a:stCxn id="7" idx="2"/>
            <a:endCxn id="16" idx="0"/>
          </p:cNvCxnSpPr>
          <p:nvPr/>
        </p:nvCxnSpPr>
        <p:spPr>
          <a:xfrm rot="16200000" flipH="1">
            <a:off x="3673586" y="3370091"/>
            <a:ext cx="309454" cy="27107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连接符: 肘形 24">
            <a:extLst>
              <a:ext uri="{FF2B5EF4-FFF2-40B4-BE49-F238E27FC236}">
                <a16:creationId xmlns:a16="http://schemas.microsoft.com/office/drawing/2014/main" id="{DB9D1604-D9DC-A507-4917-95BE8052CEF2}"/>
              </a:ext>
            </a:extLst>
          </p:cNvPr>
          <p:cNvCxnSpPr>
            <a:cxnSpLocks/>
            <a:stCxn id="7" idx="2"/>
            <a:endCxn id="17" idx="0"/>
          </p:cNvCxnSpPr>
          <p:nvPr/>
        </p:nvCxnSpPr>
        <p:spPr>
          <a:xfrm rot="16200000" flipH="1">
            <a:off x="3950572" y="3093106"/>
            <a:ext cx="314534" cy="83012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左大括号 25">
            <a:extLst>
              <a:ext uri="{FF2B5EF4-FFF2-40B4-BE49-F238E27FC236}">
                <a16:creationId xmlns:a16="http://schemas.microsoft.com/office/drawing/2014/main" id="{DC3F41BF-EE99-B2F5-DFC0-7A9B89A82544}"/>
              </a:ext>
            </a:extLst>
          </p:cNvPr>
          <p:cNvSpPr/>
          <p:nvPr/>
        </p:nvSpPr>
        <p:spPr>
          <a:xfrm rot="5400000">
            <a:off x="3589185" y="1134056"/>
            <a:ext cx="200785" cy="2295000"/>
          </a:xfrm>
          <a:prstGeom prst="leftBrace">
            <a:avLst>
              <a:gd name="adj1" fmla="val 83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左大括号 26">
            <a:extLst>
              <a:ext uri="{FF2B5EF4-FFF2-40B4-BE49-F238E27FC236}">
                <a16:creationId xmlns:a16="http://schemas.microsoft.com/office/drawing/2014/main" id="{91445F5F-6417-C848-9383-A98C7908FAA0}"/>
              </a:ext>
            </a:extLst>
          </p:cNvPr>
          <p:cNvSpPr/>
          <p:nvPr/>
        </p:nvSpPr>
        <p:spPr>
          <a:xfrm rot="16200000">
            <a:off x="3619661" y="2904939"/>
            <a:ext cx="200785" cy="2295000"/>
          </a:xfrm>
          <a:prstGeom prst="leftBrace">
            <a:avLst>
              <a:gd name="adj1" fmla="val 83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F543534-459E-7CD0-5164-F762CF668ECB}"/>
              </a:ext>
            </a:extLst>
          </p:cNvPr>
          <p:cNvSpPr/>
          <p:nvPr/>
        </p:nvSpPr>
        <p:spPr>
          <a:xfrm>
            <a:off x="5152078" y="2424846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SWA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cxnSp>
        <p:nvCxnSpPr>
          <p:cNvPr id="29" name="连接符: 肘形 28">
            <a:extLst>
              <a:ext uri="{FF2B5EF4-FFF2-40B4-BE49-F238E27FC236}">
                <a16:creationId xmlns:a16="http://schemas.microsoft.com/office/drawing/2014/main" id="{3900C4B1-5A71-39B9-B555-75EC53D2A257}"/>
              </a:ext>
            </a:extLst>
          </p:cNvPr>
          <p:cNvCxnSpPr>
            <a:cxnSpLocks/>
            <a:stCxn id="26" idx="1"/>
            <a:endCxn id="28" idx="0"/>
          </p:cNvCxnSpPr>
          <p:nvPr/>
        </p:nvCxnSpPr>
        <p:spPr>
          <a:xfrm rot="16200000" flipH="1">
            <a:off x="4417112" y="1453630"/>
            <a:ext cx="243682" cy="1698750"/>
          </a:xfrm>
          <a:prstGeom prst="bentConnector3">
            <a:avLst>
              <a:gd name="adj1" fmla="val -3681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连接符: 肘形 29">
            <a:extLst>
              <a:ext uri="{FF2B5EF4-FFF2-40B4-BE49-F238E27FC236}">
                <a16:creationId xmlns:a16="http://schemas.microsoft.com/office/drawing/2014/main" id="{0DAD18E6-E5CB-0D54-F0B9-539A379CD2ED}"/>
              </a:ext>
            </a:extLst>
          </p:cNvPr>
          <p:cNvCxnSpPr>
            <a:cxnSpLocks/>
            <a:stCxn id="27" idx="1"/>
            <a:endCxn id="31" idx="2"/>
          </p:cNvCxnSpPr>
          <p:nvPr/>
        </p:nvCxnSpPr>
        <p:spPr>
          <a:xfrm rot="5400000" flipH="1" flipV="1">
            <a:off x="4436421" y="3200925"/>
            <a:ext cx="235540" cy="1668274"/>
          </a:xfrm>
          <a:prstGeom prst="bentConnector3">
            <a:avLst>
              <a:gd name="adj1" fmla="val -4577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EAC29147-7DA2-1EF9-DA76-F12B71818596}"/>
              </a:ext>
            </a:extLst>
          </p:cNvPr>
          <p:cNvSpPr/>
          <p:nvPr/>
        </p:nvSpPr>
        <p:spPr>
          <a:xfrm>
            <a:off x="5152078" y="3655652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SWA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6C3868D-F906-133B-8F96-332E3E746D34}"/>
              </a:ext>
            </a:extLst>
          </p:cNvPr>
          <p:cNvSpPr/>
          <p:nvPr/>
        </p:nvSpPr>
        <p:spPr>
          <a:xfrm>
            <a:off x="5152078" y="3023286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TFM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428CC5BE-C737-AC49-B340-43482B070861}"/>
              </a:ext>
            </a:extLst>
          </p:cNvPr>
          <p:cNvCxnSpPr>
            <a:cxnSpLocks/>
            <a:stCxn id="28" idx="2"/>
            <a:endCxn id="32" idx="0"/>
          </p:cNvCxnSpPr>
          <p:nvPr/>
        </p:nvCxnSpPr>
        <p:spPr>
          <a:xfrm>
            <a:off x="5388328" y="2686486"/>
            <a:ext cx="0" cy="3368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4BC56912-2946-830E-ACE4-64EE9FCBE294}"/>
              </a:ext>
            </a:extLst>
          </p:cNvPr>
          <p:cNvCxnSpPr>
            <a:cxnSpLocks/>
            <a:stCxn id="31" idx="0"/>
            <a:endCxn id="32" idx="2"/>
          </p:cNvCxnSpPr>
          <p:nvPr/>
        </p:nvCxnSpPr>
        <p:spPr>
          <a:xfrm flipV="1">
            <a:off x="5388328" y="3284926"/>
            <a:ext cx="0" cy="3707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252B64A2-7E86-0A72-C635-17767D07AE18}"/>
              </a:ext>
            </a:extLst>
          </p:cNvPr>
          <p:cNvSpPr/>
          <p:nvPr/>
        </p:nvSpPr>
        <p:spPr>
          <a:xfrm>
            <a:off x="5831478" y="3061713"/>
            <a:ext cx="2774316" cy="97294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A2Net_Decoder</a:t>
            </a:r>
            <a:br>
              <a:rPr lang="en-US" altLang="zh-CN" sz="1200" dirty="0">
                <a:solidFill>
                  <a:schemeClr val="tx1"/>
                </a:solidFill>
              </a:rPr>
            </a:br>
            <a:r>
              <a:rPr lang="en-US" altLang="zh-CN" sz="1200" dirty="0">
                <a:solidFill>
                  <a:schemeClr val="tx1"/>
                </a:solidFill>
              </a:rPr>
              <a:t>Stage1~4</a:t>
            </a:r>
            <a:r>
              <a:rPr lang="zh-CN" altLang="en-US" sz="1200" dirty="0">
                <a:solidFill>
                  <a:schemeClr val="tx1"/>
                </a:solidFill>
              </a:rPr>
              <a:t>：</a:t>
            </a:r>
            <a:r>
              <a:rPr lang="fr-FR" altLang="zh-CN" sz="1200" dirty="0">
                <a:solidFill>
                  <a:schemeClr val="tx1"/>
                </a:solidFill>
              </a:rPr>
              <a:t>SupervisedAttentionModul</a:t>
            </a:r>
            <a:r>
              <a:rPr lang="en-US" altLang="zh-CN" sz="1200" dirty="0">
                <a:solidFill>
                  <a:schemeClr val="tx1"/>
                </a:solidFill>
              </a:rPr>
              <a:t>e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7D916DE-6544-82B0-B630-5A97E7B91714}"/>
              </a:ext>
            </a:extLst>
          </p:cNvPr>
          <p:cNvSpPr/>
          <p:nvPr/>
        </p:nvSpPr>
        <p:spPr>
          <a:xfrm>
            <a:off x="5865425" y="2581609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d1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86DF87E-1867-FDE4-DBE3-75091BA42B6A}"/>
              </a:ext>
            </a:extLst>
          </p:cNvPr>
          <p:cNvSpPr/>
          <p:nvPr/>
        </p:nvSpPr>
        <p:spPr>
          <a:xfrm>
            <a:off x="6608122" y="2581388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d2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52B879E-1DBA-26AE-927C-F158C1B33C8D}"/>
              </a:ext>
            </a:extLst>
          </p:cNvPr>
          <p:cNvSpPr/>
          <p:nvPr/>
        </p:nvSpPr>
        <p:spPr>
          <a:xfrm>
            <a:off x="7364958" y="2581388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d3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D4EC551-CA67-5134-FDCA-C208FF9203E5}"/>
              </a:ext>
            </a:extLst>
          </p:cNvPr>
          <p:cNvSpPr/>
          <p:nvPr/>
        </p:nvSpPr>
        <p:spPr>
          <a:xfrm>
            <a:off x="8090952" y="2575263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d4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40" name="左大括号 39">
            <a:extLst>
              <a:ext uri="{FF2B5EF4-FFF2-40B4-BE49-F238E27FC236}">
                <a16:creationId xmlns:a16="http://schemas.microsoft.com/office/drawing/2014/main" id="{FEA55FE6-179C-2C08-3B46-3528089BA253}"/>
              </a:ext>
            </a:extLst>
          </p:cNvPr>
          <p:cNvSpPr/>
          <p:nvPr/>
        </p:nvSpPr>
        <p:spPr>
          <a:xfrm rot="5400000">
            <a:off x="7074923" y="1016380"/>
            <a:ext cx="223503" cy="2838243"/>
          </a:xfrm>
          <a:prstGeom prst="leftBrace">
            <a:avLst>
              <a:gd name="adj1" fmla="val 83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1" name="连接符: 肘形 40">
            <a:extLst>
              <a:ext uri="{FF2B5EF4-FFF2-40B4-BE49-F238E27FC236}">
                <a16:creationId xmlns:a16="http://schemas.microsoft.com/office/drawing/2014/main" id="{077DA8A2-7711-9696-B4DA-9CC0E350BDDD}"/>
              </a:ext>
            </a:extLst>
          </p:cNvPr>
          <p:cNvCxnSpPr>
            <a:cxnSpLocks/>
            <a:stCxn id="32" idx="3"/>
            <a:endCxn id="40" idx="1"/>
          </p:cNvCxnSpPr>
          <p:nvPr/>
        </p:nvCxnSpPr>
        <p:spPr>
          <a:xfrm flipV="1">
            <a:off x="5624578" y="2323750"/>
            <a:ext cx="1562096" cy="830356"/>
          </a:xfrm>
          <a:prstGeom prst="bentConnector4">
            <a:avLst>
              <a:gd name="adj1" fmla="val 6423"/>
              <a:gd name="adj2" fmla="val 12805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62407C86-66A9-C73C-F3DB-D8303137540F}"/>
              </a:ext>
            </a:extLst>
          </p:cNvPr>
          <p:cNvCxnSpPr>
            <a:cxnSpLocks/>
            <a:stCxn id="36" idx="2"/>
            <a:endCxn id="46" idx="0"/>
          </p:cNvCxnSpPr>
          <p:nvPr/>
        </p:nvCxnSpPr>
        <p:spPr>
          <a:xfrm>
            <a:off x="6101675" y="2843249"/>
            <a:ext cx="4319" cy="4222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E15F2C7F-ADD6-E428-6379-49A6D6ECEE8F}"/>
              </a:ext>
            </a:extLst>
          </p:cNvPr>
          <p:cNvCxnSpPr>
            <a:cxnSpLocks/>
            <a:stCxn id="37" idx="2"/>
            <a:endCxn id="47" idx="0"/>
          </p:cNvCxnSpPr>
          <p:nvPr/>
        </p:nvCxnSpPr>
        <p:spPr>
          <a:xfrm>
            <a:off x="6844372" y="2843028"/>
            <a:ext cx="0" cy="4204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1D2B798A-A759-78FD-19D0-CF8CE173C9C2}"/>
              </a:ext>
            </a:extLst>
          </p:cNvPr>
          <p:cNvCxnSpPr>
            <a:cxnSpLocks/>
            <a:stCxn id="38" idx="2"/>
            <a:endCxn id="48" idx="0"/>
          </p:cNvCxnSpPr>
          <p:nvPr/>
        </p:nvCxnSpPr>
        <p:spPr>
          <a:xfrm>
            <a:off x="7601208" y="2843028"/>
            <a:ext cx="4285" cy="4168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FFDD373C-F5CC-88D8-C91D-778958174D81}"/>
              </a:ext>
            </a:extLst>
          </p:cNvPr>
          <p:cNvCxnSpPr>
            <a:cxnSpLocks/>
            <a:stCxn id="39" idx="2"/>
            <a:endCxn id="49" idx="0"/>
          </p:cNvCxnSpPr>
          <p:nvPr/>
        </p:nvCxnSpPr>
        <p:spPr>
          <a:xfrm>
            <a:off x="8327202" y="2836903"/>
            <a:ext cx="0" cy="4232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>
            <a:extLst>
              <a:ext uri="{FF2B5EF4-FFF2-40B4-BE49-F238E27FC236}">
                <a16:creationId xmlns:a16="http://schemas.microsoft.com/office/drawing/2014/main" id="{1B5F8502-4887-DCED-9EFE-A51DDEF2C146}"/>
              </a:ext>
            </a:extLst>
          </p:cNvPr>
          <p:cNvSpPr/>
          <p:nvPr/>
        </p:nvSpPr>
        <p:spPr>
          <a:xfrm>
            <a:off x="5869744" y="3265459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S1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69455D3-CF62-F70A-1DF4-966C22131DAF}"/>
              </a:ext>
            </a:extLst>
          </p:cNvPr>
          <p:cNvSpPr/>
          <p:nvPr/>
        </p:nvSpPr>
        <p:spPr>
          <a:xfrm>
            <a:off x="6608122" y="3263446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S2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8362F27-33DA-4C6C-FED8-4EA8A1146D5D}"/>
              </a:ext>
            </a:extLst>
          </p:cNvPr>
          <p:cNvSpPr/>
          <p:nvPr/>
        </p:nvSpPr>
        <p:spPr>
          <a:xfrm>
            <a:off x="7369243" y="3259860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S3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E0D271E-3373-8434-6924-AF7545E8F091}"/>
              </a:ext>
            </a:extLst>
          </p:cNvPr>
          <p:cNvSpPr/>
          <p:nvPr/>
        </p:nvSpPr>
        <p:spPr>
          <a:xfrm>
            <a:off x="8090952" y="3260103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S4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32F10F90-0567-3A1F-ED66-18814D096FCB}"/>
              </a:ext>
            </a:extLst>
          </p:cNvPr>
          <p:cNvCxnSpPr>
            <a:cxnSpLocks/>
            <a:stCxn id="46" idx="3"/>
            <a:endCxn id="47" idx="1"/>
          </p:cNvCxnSpPr>
          <p:nvPr/>
        </p:nvCxnSpPr>
        <p:spPr>
          <a:xfrm flipV="1">
            <a:off x="6342244" y="3394266"/>
            <a:ext cx="265878" cy="20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C0FB2F08-11F1-3656-A8D3-C5133F64B790}"/>
              </a:ext>
            </a:extLst>
          </p:cNvPr>
          <p:cNvCxnSpPr>
            <a:cxnSpLocks/>
            <a:stCxn id="47" idx="3"/>
            <a:endCxn id="48" idx="1"/>
          </p:cNvCxnSpPr>
          <p:nvPr/>
        </p:nvCxnSpPr>
        <p:spPr>
          <a:xfrm flipV="1">
            <a:off x="7080622" y="3390680"/>
            <a:ext cx="288621" cy="35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C9E58273-B015-A969-C54A-BDD892408D0A}"/>
              </a:ext>
            </a:extLst>
          </p:cNvPr>
          <p:cNvCxnSpPr>
            <a:cxnSpLocks/>
            <a:endCxn id="49" idx="1"/>
          </p:cNvCxnSpPr>
          <p:nvPr/>
        </p:nvCxnSpPr>
        <p:spPr>
          <a:xfrm>
            <a:off x="7837458" y="3390680"/>
            <a:ext cx="253494" cy="2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 52">
            <a:extLst>
              <a:ext uri="{FF2B5EF4-FFF2-40B4-BE49-F238E27FC236}">
                <a16:creationId xmlns:a16="http://schemas.microsoft.com/office/drawing/2014/main" id="{74B262E2-504A-2795-DDC6-DCE3282CCDF2}"/>
              </a:ext>
            </a:extLst>
          </p:cNvPr>
          <p:cNvSpPr/>
          <p:nvPr/>
        </p:nvSpPr>
        <p:spPr>
          <a:xfrm>
            <a:off x="8871672" y="3278928"/>
            <a:ext cx="821086" cy="2235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solidFill>
                  <a:schemeClr val="tx1"/>
                </a:solidFill>
              </a:rPr>
              <a:t>changemap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4F8D5117-E9D8-BDD4-9C3D-B0A58146C3EA}"/>
              </a:ext>
            </a:extLst>
          </p:cNvPr>
          <p:cNvCxnSpPr>
            <a:cxnSpLocks/>
            <a:stCxn id="49" idx="3"/>
            <a:endCxn id="53" idx="1"/>
          </p:cNvCxnSpPr>
          <p:nvPr/>
        </p:nvCxnSpPr>
        <p:spPr>
          <a:xfrm flipV="1">
            <a:off x="8563452" y="3390680"/>
            <a:ext cx="308220" cy="2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F880E22C-07EA-0F71-2156-E6E194717005}"/>
              </a:ext>
            </a:extLst>
          </p:cNvPr>
          <p:cNvCxnSpPr>
            <a:cxnSpLocks/>
            <a:stCxn id="53" idx="0"/>
            <a:endCxn id="56" idx="2"/>
          </p:cNvCxnSpPr>
          <p:nvPr/>
        </p:nvCxnSpPr>
        <p:spPr>
          <a:xfrm flipH="1" flipV="1">
            <a:off x="9281875" y="2957102"/>
            <a:ext cx="340" cy="3218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37CED921-E2D3-920F-95D4-D8BBEC66162C}"/>
              </a:ext>
            </a:extLst>
          </p:cNvPr>
          <p:cNvSpPr txBox="1"/>
          <p:nvPr/>
        </p:nvSpPr>
        <p:spPr>
          <a:xfrm>
            <a:off x="8682008" y="2380021"/>
            <a:ext cx="1199734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50" dirty="0"/>
              <a:t>GT</a:t>
            </a:r>
          </a:p>
          <a:p>
            <a:pPr algn="ctr"/>
            <a:r>
              <a:rPr lang="zh-CN" altLang="en-US" sz="1050" dirty="0"/>
              <a:t>↓</a:t>
            </a:r>
            <a:endParaRPr lang="en-US" altLang="zh-CN" sz="1050" dirty="0"/>
          </a:p>
          <a:p>
            <a:pPr algn="ctr"/>
            <a:r>
              <a:rPr lang="zh-CN" altLang="en-US" sz="1050" dirty="0"/>
              <a:t>主</a:t>
            </a:r>
            <a:r>
              <a:rPr lang="en-US" altLang="zh-CN" sz="1050" dirty="0"/>
              <a:t>loss</a:t>
            </a:r>
            <a:r>
              <a:rPr lang="zh-CN" altLang="en-US" sz="1050" dirty="0"/>
              <a:t>： </a:t>
            </a:r>
            <a:r>
              <a:rPr lang="fr-FR" altLang="zh-CN" sz="1050" dirty="0"/>
              <a:t>BCE+Dice </a:t>
            </a:r>
            <a:endParaRPr lang="en-US" altLang="zh-CN" sz="1050" dirty="0">
              <a:solidFill>
                <a:schemeClr val="tx1"/>
              </a:solidFill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0C4399E1-9C00-ECE4-5414-FD4405CC2423}"/>
              </a:ext>
            </a:extLst>
          </p:cNvPr>
          <p:cNvSpPr/>
          <p:nvPr/>
        </p:nvSpPr>
        <p:spPr>
          <a:xfrm>
            <a:off x="1776000" y="1899000"/>
            <a:ext cx="8105742" cy="25439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DD2B510B-EED9-E1A5-32D1-9FDE9FA3B231}"/>
              </a:ext>
            </a:extLst>
          </p:cNvPr>
          <p:cNvSpPr txBox="1"/>
          <p:nvPr/>
        </p:nvSpPr>
        <p:spPr>
          <a:xfrm>
            <a:off x="5085833" y="2683414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4</a:t>
            </a:r>
            <a:r>
              <a:rPr lang="zh-CN" altLang="en-US" sz="1000" dirty="0"/>
              <a:t>个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AEB7EE21-3EE1-738F-4118-8127D946882B}"/>
              </a:ext>
            </a:extLst>
          </p:cNvPr>
          <p:cNvSpPr txBox="1"/>
          <p:nvPr/>
        </p:nvSpPr>
        <p:spPr>
          <a:xfrm>
            <a:off x="5085833" y="3421839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4</a:t>
            </a:r>
            <a:r>
              <a:rPr lang="zh-CN" altLang="en-US" sz="1000" dirty="0"/>
              <a:t>个</a:t>
            </a:r>
          </a:p>
        </p:txBody>
      </p:sp>
    </p:spTree>
    <p:extLst>
      <p:ext uri="{BB962C8B-B14F-4D97-AF65-F5344CB8AC3E}">
        <p14:creationId xmlns:p14="http://schemas.microsoft.com/office/powerpoint/2010/main" val="13791628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4447" y="1"/>
            <a:ext cx="10246553" cy="669129"/>
          </a:xfr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Future Work</a:t>
            </a:r>
            <a:endParaRPr lang="fr-FR" altLang="zh-CN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7FB5AC2-8BCA-7E96-7B23-FDEADC341A59}"/>
              </a:ext>
            </a:extLst>
          </p:cNvPr>
          <p:cNvSpPr txBox="1"/>
          <p:nvPr/>
        </p:nvSpPr>
        <p:spPr>
          <a:xfrm>
            <a:off x="-1" y="6098465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altLang="zh-CN" dirty="0"/>
              <a:t>Lu W, Yang X, Chen S B. </a:t>
            </a:r>
            <a:r>
              <a:rPr lang="en-US" altLang="zh-CN" dirty="0" err="1"/>
              <a:t>LWGANet</a:t>
            </a:r>
            <a:r>
              <a:rPr lang="en-US" altLang="zh-CN" dirty="0"/>
              <a:t>: Addressing spatial and channel redundancy in remote sensing visual tasks with light-weight grouped attention[C]//Proceedings of the AAAI Conference on Artificial Intelligence. 2026, 40(9): 7574-7582.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1869E41-DEE3-5A58-4EED-4F16D4FC6E86}"/>
              </a:ext>
            </a:extLst>
          </p:cNvPr>
          <p:cNvSpPr txBox="1"/>
          <p:nvPr/>
        </p:nvSpPr>
        <p:spPr>
          <a:xfrm>
            <a:off x="201000" y="1089000"/>
            <a:ext cx="8145000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将大模型的文本信息作为教师，看相关论文，更好的处理奇偶知识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看</a:t>
            </a:r>
            <a:r>
              <a:rPr lang="en-US" altLang="zh-CN" dirty="0"/>
              <a:t>agent</a:t>
            </a:r>
            <a:r>
              <a:rPr lang="zh-CN" altLang="en-US" dirty="0"/>
              <a:t>相关</a:t>
            </a:r>
            <a:r>
              <a:rPr lang="en-US" altLang="zh-CN" dirty="0"/>
              <a:t>BCD</a:t>
            </a:r>
            <a:r>
              <a:rPr lang="zh-CN" altLang="en-US" dirty="0"/>
              <a:t>论文</a:t>
            </a:r>
          </a:p>
        </p:txBody>
      </p:sp>
    </p:spTree>
    <p:extLst>
      <p:ext uri="{BB962C8B-B14F-4D97-AF65-F5344CB8AC3E}">
        <p14:creationId xmlns:p14="http://schemas.microsoft.com/office/powerpoint/2010/main" val="26828496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81726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cover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s:customData xmlns="http://www.wps.cn/officeDocument/2013/wpsCustomData" xmlns:s="http://www.wps.cn/officeDocument/2013/wpsCustomData">
  <extobjs>
    <extobj name="334E55B0-647D-440b-865C-3EC943EB4CBC-1">
      <extobjdata type="334E55B0-647D-440b-865C-3EC943EB4CBC" data="ewogICAiSW1nU2V0dGluZ0pzb24iIDogIntcImRwaVwiOlwiNjAwXCIsXCJmb3JtYXRcIjpcIlBOR1wiLFwidHJhbnNwYXJlbnRcIjp0cnVlLFwiYXV0b1wiOmZhbHNlfSIsCiAgICJMYXRleCIgOiAiWEZzZ1RGOXJJRDFjWm5KaFkzc3hmWHN5ZlNoY2JXRjBhR05oYkh0SGZWOXJMVnh0WVhSb1ltWjdXWDBwWGpJdFhHeGhiV0prWVNBb1hHMWhkR2hqWVd4N1IzMWZheTFjZEdsc1pHVjdYRzFoZEdoallXeDdSMzE5S1Y0eUlGeGQiLAogICAiTGF0ZXhJbWdCYXNlNjQiIDogImlWQk9SdzBLR2dvQUFBQU5TVWhFVWdBQUJHVUFBQUNvQkFNQUFBQzcvVTRVQUFBQU1GQk1WRVgvLy84QUFBQUFBQUFBQUFBQUFBQUFBQUFBQUFBQUFBQUFBQUFBQUFBQUFBQUFBQUFBQUFBQUFBQUFBQUFBQUFBdjNhQjdBQUFBRDNSU1RsTUF6ZS9kdXpKMmlabXJWQkJFWmlMRFdYNWhBQUFBQ1hCSVdYTUFBQTdFQUFBT3hBR1ZLdzRiQUFBYnNrbEVRVlI0QWUxZGU0d2t4MW52dTMzZXp1N3MyZzRra1FOelhpQjJnbURPdmhnVTRtVFdnWDhnU0hNNEVuK1FQMmF4aEF4Q2FKYUFzSWtJY3dsR09QekJYQUpDdGlNeEl4NFNEeW03ZmlBclNHWkdRaUNDakdleEVsNVJOSnV6eE5QUjN1NmVpYytPWGZ5cXU2djZxK3AzVDgzMjlsNlhkRGYxK09wNzFWZjFmVlhWM1d0WnVhUUh2ajhYc2lYUjRtcGdtYjFlWE9aTHp2UFFRS1ZiMmt3ZWVpOHd6Y3FEckxTWkFvOWZEcXgvbzhsS204bEI3NFVsK2FlUE5tQXhwYzBVZGdCellMd0xlN256NjZYTjVLRDZ3cEw4OU1WM2ZNVTZVOXBNWVFjd0w4WkxtOGxMODhXbFc5cE1jY2N1TDg1TG04bEw4OFdsVzlwTWNjY3VMODVMbThsTDg4V2xXOXBNY2NjdUw4NUxtOGxMODhXbFc5cE1jY2N1TDg1TG04bEw4OFdsVzlwTWNjY3VMODVMbThsTDg4V2xXOXBNY2NjdUw4NUxtOGxMODhXbFc5cE1jY2N1TDg1TG04bEw4OFdsVzlwTWNjY3VMODVMbThsTDg4V2xXOXBNY2NjdUw4NUxtOGxMODhXbFc5cE1jY2N1TDg1TG04bEw4OFdsVzlwTWNjY3VMODVMbThsTDg4V2xXOXBNY2NjdUw4NUxtOGxMODhXbFc5cE1jY2N1TDg1TG04bEw4OFdsVzlyTVNSdTdoVnZmMzNkNCt0SkpZODNscDdTWkV6WXd5M1hHanZxY3FTVjI2WVR4NXJKVDJzd0pHNWR0L2ttZ2d5RzQ2cDdVRHgwVzJXYisvbFoyOTYrZHNDR2ZsSjBseG02QjBWei9RdlZCdGh1R0xHZkJDMnd6TC9FWnllN2NDZE5zSWV1MzRaZVdhclprL3hjbVFONkNGOWRtWG1ZLzhPSXJ2OFRZbTJHcUxXTDlNdHNDMjBzTmJqUmh5MHp1Z2hmV1p1Yll2ZHdvMm94ZEthSnhoUEE4NDh3QWJqVDNoWURrTDNoaGJlYnFkZHNwelRGMkkwUzVSYXl1OWgydWwzLzFFMkhzNXk5NFlXMm10dVlvZFJTK2lJZHB2ZGoxK1F0ZVZKdFpZdll5WTFubkdIdWoyRWFRanZzVElIaFJiV2IyTlZmVlZjWkNOeGpwUnFNWTBDZEE4S0xheklEZDZZNXhqUjBWWTdUTmNIa0NCQytxemJRWTIzUUdvY09FbXpJektDY2N5d2tRSERaVHlBTU9oTDV1RUR4bWJPK0VqN05KOWs2QTRET1I0Y0FmRFUyS093bXU2dmVwdmZjWjIzQnF0aGticW0wbVMwdGh4eVFtaVVUaHlrdndDSjVXR1JQUnBCOXE4WERQWDVsVFRXTkRJUXhiN3pzVldHY3VLVTFHQzkzYy80cGVUb0tIYTNHdXlSajdhbGg3NzlXd2x1T3ZmK2JBM1Z3N3BLdk5EN284dEtmcG04NU4weDZUS1RFZndVTjRlKzZSei94SUhTYkQyUHVlZU95VEFVQ3owMXowQStoRlZsWHJId2h1YjdMRDRBWVR0YzF2bWNBeUVZNThCQTloZVdEYmkvdmY5UUNnMnBzQmxjcy9lMXVkM2ZIN1UzUUhBVVI1VmV0SVdXZ2tWSlJ6bFVCUm1RY08zekVNYVQ4VGVGSDRkNSs2aHgyKzgyZEMra3hlcmFrNGllQTF0djVkZDk5eXl5MFg3MWxuUVVNNU9WTU9oc0doVFFhVWJybTRIa0RvbkgzSHFsS3IvclJyWTRlYmFrUDIwbmo5SW1maGZ2eTc3WjY2WjZhclR2MUZVYmNrTmtvcXFYbkczbEpyMHBhK0RwRzJnanYxdnVtdi80K2FxNEozKzl0TTFQaFVuRUJ3M0xwNUtjL2pxbzdmanA2dlNkYU0zUXlPSlVxZUlUWWo2OTI2VGlESnM0eGRubkNvbnNPRGNZRnIyQUxiMEZGWC9rbXlOWjBMOVFBVkp4RDhvYy9jNy9EMXRpZCthM29Mb0s0TVgzblpmNDhENVhxcDcrdVJyV0xzb1VRdXdtWm14Q21lUW1kc0lKenB5TU1lQmJVMThwMFdWZ0FxMHpTZXZReFNjVExCWjhIWGplTVBHUlNOUGUzejVRdmc2dUJISDNNdCtySUNuYjN3MHZyNnVoT0tzOFAxZGU4WUJndUlrdzdmNnlDdnNvQnRISzZiSnQ4TmcxU0FFN0lxeEZPNjhuWEEwdHNlZjdSbWN4WitTSkZaRzRFcVRpWTRMbXY5eTJKbVJySjFyQjFvL1pZYjdNWVhlRjMxeTF4bGExcnpKRVdjdGdTZy9LdVA0OUhORnoydjBRN3cxR2RNbk00Z0ptSUI3Si94eWZnM2pEMjV4eUh0UHhpc0t5Z0FSY3FxRUJVbkVwenJzSitTbm1Id0ZWOW8yV015NnRzR2Y1Y05FblJqT1AyQ2VsODFpTE1Cb1dxWEdkZ05WeURPcmwrY3NYNHBjWTdKMEIvUGVrY2NodnB4SmFzSlVYRWl3UWZnS0JtVnFVRU5kS040bVR3UXR4aXM1T3pNZElBUWFVL0ZVRk1mYzFqeE82ZDVkbWpDaGZlQ2xzMktiaFRWQmdsN3V6VDJVdG5PWEFwVGNTTEJNWS9OTDN6cFJPbHA4UjhtVmw5aTRMUE04eG15T25zbTBEbkJaYXdwS0JzK3BZeFp5RW1mMGkrMk1BcDZjT3VjdmduWVppVHF4UkM5RVlzM0hVQzRpcE1JRGlNT0NzclNzVEFSOUp3K3ljWTAxbHcyelovcm5GU2g5L1dGWjV1WXJTM2RpcUVETEFUQnVsL0VJYUsyMHE0d2V2MEdNOXVhU01QK3p1RXFUaUo0ZzVsdzAzNnVrdGZNYXJNSVRtRFA2NDN3M3ZBazYyRGxRbEljVFkzc3ZHM2FNK3k4eHdQUGpRMk5HK1R4eDlkTmJTbHQwMWxqZFF5dnRKWVZvZUlFZ3ZPWTdKcXFuZU11NlpOc3JNUVNtSmU3WmpuQy9vZW5Dd1FyQm5LREZKR2QxMWFERlZNeml5OXpleW90UzE5cFYxU0xydXNHclhWUFg0eFFjUUxCZWJpd2xwNm95UjVOZGNxREkyb2tiVU0rd2VNWTV5dzhVZWZVOG8xalJUdS9HeC90ZVJnbXlqWDhubVpXbVNXV3RhMFlDV0t0allrbytqcEhxVGlCNEh4YnN1VkRlcHdWRlcydGJwRk5rMlZoSFp6d2pzY3ZTeHN5STEzeVdocktJTm4xUFNXZ21XY2ZzV3YvZGMvcmxERUg2dWUxcmdObDBjT3lRelpObGpYd0diVFdQWFV4VXNYeGd2TmR4REExVVpNZDVwVVpqeE5SOXIwRVBZNGMrNlJvSk90elRuN1haT0V3bnk2L2JmY0NxckUzTVFjSXQvVnpuclk2Ylo5bWh6dUVUSS91b1VoOTVteTBpdU1GaHhIbmZEd3pveTRrdU12WUpkcllWaTJLdEdUUHVzN3BOWW1ocFE2U1hiOUsyWm9YZzJwQVY3QllqN0xEUWtPTmNKcktxZ2RIc2lVNU5aS0pWbkc4NE5qSCtVNGlqRENXR0VsTG1kRFluOUJ0QlliWHNNSTRYMk5NRktTaDRMRVJNSk5ucWJHMjMzUkE1d3pvQ2dHdVpubHo2aEFBNElMZ0RMLzdsQkZTbnowYnJlSjR3VHRxTUppZGtjdzl1NHBWSUg1eHg4ZEdlRVlwWmFhaGRlVDNza2pDQnlLbXU2SkJXTllLc2QxNVlWNExyb3Z5UWFlbzREdlZ2Z0svcUZyRlFGMXBhOHE2cTNUTVZvaFJjYnpnTmI5M3pjWko1bDVrdmdNSDRwZnpCTlhvUFR1a1pDckxodzFKR01Bb3dEVlpXT0V1Q1hwdDl6NjdNdklmeHdtWTVMOU4zVVJYMVFDbnAyelpsZzgvbnh4MUlzZ1lGY2NLenJWM0xSR2xhUUhobkplaWJxbk9xRUxiek9YSEVCdXA3MkNzQjdnbXkycklaMmh3QW9hSEtOYlgwVU9QWHJPd3RLMmZVbzZVSWNDdWlSNERXTVluVFN0R3hYR0NZOFRVY0NLTEVpYnFzNkE2YzB4QzQwcnk4NmM0cDBEWFpGazllU3JTZ1pMY1pHTGZ2NnE2WDh2cUtFTUEzZ3dmZkd2eXg2azRUbkRzTXBWd1FrTi9ETVV6eXF6Q0pCTWVZNXEwc2R2a3lYbWlOTkExOFVEWlhZQzVqa1F5c1NiRE42aVBzdGFVSVdqcHJzdXdJbUpWSENjNE5uNGl2alBNV2xKMHE0cGpnRDVmVDlwekVyaHR4d2gyZ1FQMkUraHhXdUp3Rm9NbzA0VkppTHA5K2RxK1EvRklKMmxYOXRRaUJUU1NqMVZ4bk9CWUo1Vnd3Z2hYcVpDTXhORFl2Y0RQZEJkbWx6Y29qaWRPQzluTGJxM3lzeXEyYks1OTJSMnVLQ0FaQzNVbVF5V09BVFowaVdBQ0hjV2lTSk9SYkt5SzR3UWY1WDQ4MHhFdXdGYklXRDJiTUtLa0lDVEVPVzJUVFRVRm5abWFsK3lxUXNMM0VibzRuYUVIVktURlVEWld4WEdDZDdRZzNSQmZLZEEwbFFPc1dzaWtUNEV3R1NnbUMwKzdvYTRKNjgrMFhwcHNxWGRvczRxUklGclFqNG1UU1pRVXFoYW40ampCZ1NEUW1TZGxZSEs0dXR5ZWNGd1l4djdrT0JOZzRIZXpTRytGdWlZTEVBbndaQUhCNHgxME4zMVdDWW5oT3FZYjBVSHFmaVRYY1lJRHdiVklCRUdOZi9sQ1dIb3hDRHk2VHJGNkhoN3U2ZkQvcTFjWUtkZEJpanZtTU5lRUoyajhyQmloYk1FWjBTVnNWVmxZc0FENk52UlZnd0ZPdklwakJPY0kxdElxd28wRmJKM3IvMjJtUllaVFI5S0hiMnQxREE4YXVPUFJjYUxzT3FlZnJ5c3hPQUhFM2VDUUZBMW1JVE9OZXZlVng3czYvbGs4WDA4OVJ1SGN4cXM0Um5DT1lDc2NmM0FMTjdTd3RCSGNKYndXeUhhOVZweG4wUm5JRy81UW1ZVWU2S1E1MXprZGhDb0E1eGlFczBuSktmMGJ5dUk2RWhzMEc2YXBYcDZnYnFrZXZMRlRVQ1l1eEtzNFJ2Q3c0NW5xUHo5eS84VkxZWHg4THN4aTJORXdyRTlZUGJZSnBBODh2YlpwUUxzVGNFV3pGSVkrb2g0RFp5ZU5vT3lCMVNEMWRKS2Rvek50eFM3R1NraFpWemRWUURRV0t2ckdRNC9lZG04MDV2aldDQlc3bldNRVg0WFdkZ0xvN0hOdGh0cE1RSWZNVlZqcENKMkJma1JxZ2NOck5uTGpMTFc0akVpdmh2RSt2ZlBZcnBnSU51a09aWUZmQUc2b0hLSEdydUF1allLcVVFbExnM0FWQ3hUUmdvOUNqbWVldlVjd0t2Qk02eGN1WXMvRDNmSUp0QzBDTHVNc2NiL00wNlpIWHMwSnltcXRnUkozaStTR3BFdURYamdHeldZUVhqZ1JYZVdINjJJQ1RjQkVLMXpGQW11MDRCMTExeWM2NFhlZ1hoMlNGck5abk1LU2hRNENhUkZ2MHh0VTB5dzFHRThhUFNKZHRPb0lZTnBzOXhCMHZVNDlSbzYrdWMyc2VXM0lJUUFSVDJCZ0VWTGJGTUJraFpaUFpLSmlCMFUwbFpxeVNGS2lBK1VJZ2JhWXphczJNOUxqR2JyRk1NMFN0SWZrMjloSytYeUJoV3laTExQSWJnZmR2a1NpMkF6ZllGeVFUVHl6N3prazJNeVcwcGFoRUtsaUI1L09nVW9GREJJYnAyMGpKVENqTFduenF5RGlTOWNFRnN5aUhaSG5MMmxvK3lhNk00eGk2WlhnRTZPL0piZzlLbTdPdVhPNjRxc1hGWFhsNlM5UnEvOVdneW0vOERFZFVKYTdSenRONm9DYWRBemdpVFN5SGM4aHdhQ0dFbzJlU2FpQ1NCVTdPQ01GNTBhOXB0QitYcFE2R2M3NlJGLzFOOXBtc0hNajRCQ0ltcEJsSWNxWG5qK0NKZmNkYlBUV1V0UWh0Mk16bHdsNU5SdXBPZ25hMENqSzRsQ0NxSmxGTEcyUTA1dXJOYXBxYmpOZUUrOVo5MEpTekNBVkZ5a2xWVUdraWgxOGtZTHpXYnhGNkZwVzg1SmJyR25HcEVDbEtxeEtMWkxNTllGQ3Raa1JRUHFpaWYrMnlmTkpFU3dGMHVEa1JDUkFjWXA4bk0wMDZGaUtUcjVmSXBTYTNmU0JPaFZkckJYZzErTk1zUmsralpXN0E1ekt5bk9pTXhIUlYxSVZqSUN2VDFsckV4VTc5WkdDKzQ1bjVxUWQ2OFpFcWFUTEJ3b1RZak10Q0tRWWNaMEVIRm9UNVdLaGdZNEI2ZkE3S1pTV2o3T1p5T2ttY2VGUERnYW1PL1lraUpKWjVDZDRJTzNGM29yTjhCaVlYa2J4bFZidUxGZlZKZ1Z2VWhXMGdDOVV4UTdHU01INWNPNVF5b3ZDRVVSNlR0cGowcndhend6QTBIbUNrdTlLUmRrNFMvRTJjNEd3WWlyYlpaZnRSMmFrSVZoS1BNUFBaNVNqOEM0cFIwVjBTZm1MVXJHTG82NUY0UXJxa2I1TldSWCtIMTVMTVNhbG04a0NCbzRRNGs1WnNNQ3BnRUd1WWpzWlp5a1htMWwwTHJIclpMSXIreVk4dXE0RXV0eFh2ZVpxd09wb29ZNm9UL01icFdJWFQ2VE5kQWcvTnZ6NHZOdE5mYWJEclp6R2oyb3pmQmpKczdMMmJXaC9XaXpGMll5K1B6QWlmdGVadzlDOFhNUlVtK2xCQlJzZXFhZFJsUEdOK3F5UkI1UW1GNlZpRjArazREWENqdzNmMkhLN3FmZnphWGhLQ2F1ZUErTjJpVVpvUE42U0VaWnhsdUp0WmlPbE1QSGdpOHo1dGs3TE8zU3hsSE5nYXd5UnBaRllWZzNGYXdLdnQraUttdlMvVVNwMnNTbEdxMU1BUDhxK2JrN2UvYlFvMzNxM3VaQWppUmRlU1AvOEREek8wTVBQdmJsOHZSRzdPSlRrc2hQSmtvY2llUzdHWnNETGxlVElFa0oyM1FzamVBamljYWc3SGtCbTd4Vi9oSHZlQ0NJKzdpZWtFdzRXcFdLblY2VGdQRWFYS3lTSG41VjN2RzNWbUJRV2pENC9nL09JUHNIZUEwdnlqdzA4aXdMZlpUZ3BpaVVCaytvM3htWmlybmRUa1JMQVdGWDdkaDQ3YUJucEt0L080MXNxSnIvY1YrR3pSbTYxMFdsSFlNcisyd1BHRUJVN1NDTUY1MXYveTVTNDkycXA2em1YZi9kZ2l3TFllUjZXaGFVTkgzUk1CZXgybDREc2M4UWZjaXJtNnF4REZ1WW9sZ2lHNU5rWW00R1lsTFBrZUNNZ3UyS3p6R2Y3MEFWc2VmTUNOZmJ0OWRHZTAvWUEreVlBWFRqY1BEbHora3VOdDR1cURMOFJLbmF3UlFyT0Y3NCtwZHFRbnNveHBybmEwWWU5Y3dRSmFmTDVHU2lQV2lYZlhMczExUjY3ZDVzWWRTUkxrcmNVbVJpYndRbzRUSUV0Q1Npa3UrTEMxYnlzZG8vVzVScHdqbWorbXgzOUZIRmlia1QzRSt4OWt6eTRGNkZpaDdkSXdWZkIzQTZSZFY0RzdLN25iTDhiWnI5SklLYVFKVllCN0pVRzF4aDc4bU1WZkg3N2h0WHpucTR4ejFLTXpXQVYzak1zYjljN3lSdDdLNmdXM0QvREZjQnUvTW5PWCtNYjdGZkFwSHpBeDRubzVnODNyWDN2RkRrMWkrRXFkbEZGQ3Q3U2ptZEdjdFZ4UE9mc2pSMGNDYXlsNWlwVmg0Wks0S3F0TWZ1L2d5RmVRNURMbkhtV1ltd0c4ekdWSVBIQXdDZytYNEpuVGRqcmJvOFpUMGhlVTYxN0tuZ1h2MldRQStCRWRNM1A0eUYwcVpaNHFqNklVQlc3a0pHQ3Q4bTZCM2pFdGdLLy9ZcExwYlpwWVoyNklDcW44OXVVQjcwMi9tcERhT3lvejZuTEVOZzhTekUySTZJSGMySjN2VldUaDdwaVJ6anJoY00yclplRkJ0Z1AyVGY5dTRLREhsZlZVMWhpUXQrVkVKQ1J2NkVxZG50RkN0NzBiSjJEWDRVemNOTlpubjBaVzBDSXRpRXFwL09yYjRkZzVYYTYzcmNmTjdvbXFKcG5LY1ptem5xN1ljSERaTCtRVEN3dGVEQWNRdTQ0K0p3VmxPQ0diZG5weDFDSE1aSXRkVVJEMWNhUWY3SkMySnRzUzVNSlU3R0xJMUp3TUNhRFhzdkNOa1dlRSt4amZzL1Z3UjNRWDByRFRucllsdWV2bmM3LzJlQUsrdzZ1MEFFSmRzeXpGR016QXpMQzZjVUs2QUZUMlBTcTYzSmJoa2hOMVhIVnZ2YzgrQ3FBc1VXUTV6allVZTFhRC9BeEVxYzhIclowdVJBVnUwaWlCT2Q3NWd1U1dLWGpYUWZpTVBJdGEvUTlhS3MwNzVNUTA4bklOOG9sK3VvL1B2d0xqaExCRWpjZE81bG5LY1ptV3RDQnlZVHBKNGNmZUdGQmF5NTZhVDJTM0N2LzhpdGZzUXM0OHBUVEdpZTRlOHYyMytsNDltZ29RVE5sZ2xYc29vb1NuT3Zzc2lUNUlFcGJvZ1RQdVNMT0NFVGRsSDVuUFkvb28xQW5UNW1ZWnluR1pzWnFvT1ZqTG0wRk1STGV0Y1drVFRibER0eUg4eXhabTNoRU4vNlFEMlN5Q3FwaUYxT0U0SlUyckdUVGhiUC9zSlMzUk5iWjUzc2ZtWXlacEwwWHRBaVE5TVBFT2krTFpsbjZ1UHlMY2Z5elozZEpLaVRUQ3g5SkFwVTRpeFZEbnI3eVRtZkVJUXovenRYNU1EUmpvaDFFZEYrOEx0ZmRzQjdwNmhVVnUxM0RCSC8ra1NkcU1CbjJuc2NlZnZqaFJ6N2I0SG52ZFRSNHpvYnk0RTg2UmxKQncwUHVoWFRBSk5zVlRZWlp3cVFuU2NiK2doci9yWHZFYVhYVy9NaGJWMndVQ0lMRjdjRklyamcrNUhWdjQ0aUh5WTg4VCtDRHpGWkJWU3d3aEFuZUl4cVRXWGxRQk90alArZzRWSUZvZXIvYVdUUWgxQ2JIRUlaWmlyY1pSS1pHNTNTSHNTR1J6WDdPMTQwRjFFOTlVU0JzcWRaa2VZeFovY2xMc21na1ExWHNJZ3dWL05QU1VFam1kc0dHc3htN3l6Qi9BcnYyRzdZVXFsK3hOOHhTMS91RDMvaEwyMEhyekR3eFdJM2pUTVV4V1RGc0JON0NjeTQwcEZPK1ltL2IrZUZ2WnFJZTBnbEhjdktVVVlCa0ZIeUdYYS8rc1JybUM0em1mMGRoM2h3eDZsQ1NPMWFXT05WWmZZd2xLOWt5Qyt1N2FzZTUzN3Y0YlU3TnN2UlNLZ1EvaU9GYmF6YzEyTWIvTk9tMlJUUmsvMVZVN0tMSktQaUE3MWUreUtaOW5PY3dlWmJxaFlvL0VwZkF2UEpZV1hJSXlrMHVaV29xK1RxWkhKUUFZcjB0V2NaUnphWlZtZkE0VDJKek1vcUszYmFCdDd2WG9DT0wyL1k1Vzlmb29WYmwzMjQ5dlB2SkhUL2RCV1ZsZnE3MkxoY0U2K1psRDNvYUxIbllBM0p0U2oyZzNXUlZoMjdSS3IrSWl6WW5QVTFQZEJBMEkxaUFqKzY3clZsL3dsVHM0c3NvZU5kK25IQlZHY3lzSExyOWxyR3FJaDFwQ3pSYU1YODgzTmlSTXRkb25xSUt3eEhZTlVBWlpjbWpHcFJyZUNjUFFjMUc2d2JlNDV0ODU4MWNvNm5VcU4zQ1dqaFJSdTByQ3hlaEtuYVJaUlFjbmhNSW5EZXdQanAwY1UzMFUrMnhnOGZ2aDBIZ0lsOVBQVEp6Yk11NjZ5OEFNdGNnNnpML2t2d0dLazJ5cExPaGxxdUdRMkFWdTFZNlIxYjBXU2lKSGY0Mlg1QS9TcDJ6aFlpT2Q2dnhuZFRjZlJxR0ZNVlFGVHM0TWdwdWUwNCtRSnpKM2pBRlA2R2dEN0FQb20ybGh0dGNyZzBsN1h2N1NUNEhlTHJqOGNjYTdMMEVhZ29zRWV3QjJjV3dLQ3NBZHVJcU9rNGRXd0hzOEoyUC9RWTc3QlBVZGtUSGJXWURWOGZmSWczcHNxRXFkdEZrRk56eG5IaURqOStQMU5PeEZBeTl4TjYwRzNEZXdQZzFscElXdlZ0Syt1eklBVFV1OHl3cExQZ0xBM3RkODlkUHA2YnJPY0tyanMzWS85OU9xVGtSSFk0YUwrTTE5bXUwSlZVK1ZNVXVsb3lDd3hRNWdsVytlMW9PT3J0SXhTUUhidGxYYThpTXNPN3U4UnFTS3VSbWY2VXVWSFkwSkNCNHlzZzBTeFI3UUw3ampXSkFxK2txT2xBdkNRMHcxUUYxbktDSDc1NnMwWlhzSElTcDJNV1lVWERIS2NGbThMakg3S3ZadVpNOUszWDNEeURaajQzNFRwRW9tMHZ1dzhZMytySTN6eGhuU2NIdUwxUk14djkrOUhyTmdyZlVXdGFmdWZQbVNSV3E1cXg4OXI1SmZvcEJCVWxXQ2xHeDB6bXI0UFlDWXlIb2dyMjBMaVJqSkJMcW5IZiswQ01mQnhGOVpwU3R3RTkrdHM3dStJUm9jMytOczZUaDE0c0wyUTRwZERTSnl3MjZuTS85M0szczhPMTlyYk85d1BETndDVnJUcjVUcE1Fa0xBYXEyT21iVlhEM1ZmSUZ2czQwaGduNWlBSnJlUStPRExEeTZpaVg0K05ONHl4RnNZdTJmYk1YbERIVXVNL1dsYUozd2ZtZURkSmhmV3NtZXdpc285WExXUVYzUFdlbGZtRE5Hcm5lYnI0aFdlUDNSbXV5NUdhNjRvWlhiNUJsNHl4SnpNR1oyaVFQYVFlampLeGRETHRBa2IzY2lNNTZHdXByYnNscTA1bXNnb3UvS3ZveWUzLzlzZ21taU8vQnJhbi81bitHbmwwRkVqVE9VaUFWV2JuaXY3cVRiZFBKTkx5bE9KaUErRU9uMWNiUjUrSmdnekVrcWMwcytGTTNYUFJmWHYveEpJVGlZTEJSL25ZSmd3QlBQbk1oS3FzMEJCU1Z5cTlwbGhUay9zSWcxbFg0KzB4V3N4KzNUNnZVM0wzU3lvZS9lemdacllqZXh5OTRDRE9LUDJxU2Q1WWsvTGJ5Q0p1c3ppM1Q5Sm4xdEZsWmt1OW9UNXRTSlA3akZ6eUVIWDRjN3B6cEFhQ0RnZzl1M2gvaitHQ09zV0l4MWxlYVo2Wjl6QkZVb0FSNUNCN0lDQTVYdkJmQThFcEQwQU53SGVFT2d6RWNjMjE3b3RlSHNqRzdRSUsrYkJnTTlNcEQ4R0MydWMzSVdiU053cDRQYmtHNWtQUTFIMi9GVWk3RDF6R3lSWjFJVS9rSUhzZ3lmeWxFcmlQY1ppNzV3ZHJTZWZuYmpydUdIQ2NkSStuNVl6NFNDaEF0SDhFREdIRytVaWxQb2Nhd21SMC8yRktRSWZuQmpxT213bTkwY2tqYkpxNXBKdUU3TDhFRGVlNjY1OTY4c1FPYkNRTDZyNzJnMmp6cUtuK1FCMVY4RU9KMzhxRXJxZVlsdUdTQVp1WisrZGRsRVh2dDJGTmZDVnhtU2cxQUEvWGplcCtoMVBacDBRQy9POERWWjVsS0RTVFdBSCswOEh4aTZCS3cxSUQ5eDNYeTMxT1dBMUVvRGVCNFpzSUhoZ29sYnNtc0FRMDB5SGNvRGFBclVaeCtEZkRQTzJ5ZWZqRkxDUTFxQUg4bVJONGlHRVJib2pyRkd1Z0ZQTmw1aXNVdFJadGNBM2dRK29ROVhUVzVUQ1dHNldvQTMyWC93SFFwbE5oUG13YWFUSG1qOXJTSlY4cGpYZ000Qkw3ZFBOWVM0Mm5Xd0RaNU0vczB5MW5LWmt3RHVKOTAzN2N3aHJKRWRNbzFjRlg1QnM4cEY3WVV6NFFHOElHOFhSTjRTaHczandhZUtSK2N1WGtHMjVDa05mSGhJa1A0U2pTblhnT3pUSHk0Nk5TTFdncG9TQU5kZVd2d0R3SHZxaGdpVXFJNVRScFk4RzROZ3Q1dk9rMmlscklZMHNCWTNocFV5M2RWRE9uMGxLTlo4bTRObHVTNzI2ZGM1bEs4eVRRdzhneGxZWHFmYVpxTXg3TDNpZExBSFBsRTg1bGoveURRaVZKRnlVeENEVndsWDNRWnlQZjlFM1l1d1c1R0RWUWE1SEt5L2NiTnFJSlM1cFFhT0hQNDczOXVwNjk5N2FGUDBUODhreEpQQ1g3emFBQWZneUJwN2VZUnZKUTBxd2FjdjM0dXJZYjRxYXdZeTM2blhRTWRhUzUyWnZPMHkxdktON0VHOEUxcEpRMG54bGdpT08wYTROL3RwR252dEF0Y3lqZXhCbWFvd1NBL01jSVNRUTRhK0gvTW5HdXo4WmlXT2dBQUFBQkpSVTVFcmtKZ2dnPT0iCn0K"/>
    </extobj>
  </extobjs>
</s:customData>
</file>

<file path=customXml/itemProps1.xml><?xml version="1.0" encoding="utf-8"?>
<ds:datastoreItem xmlns:ds="http://schemas.openxmlformats.org/officeDocument/2006/customXml" ds:itemID="{40225495-EC77-418F-882D-8D54027AA670}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23286</TotalTime>
  <Words>1889</Words>
  <Application>Microsoft Office PowerPoint</Application>
  <PresentationFormat>宽屏</PresentationFormat>
  <Paragraphs>209</Paragraphs>
  <Slides>14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ui-sans-serif</vt:lpstr>
      <vt:lpstr>华文楷体</vt:lpstr>
      <vt:lpstr>微软雅黑</vt:lpstr>
      <vt:lpstr>Arial</vt:lpstr>
      <vt:lpstr>Calibri</vt:lpstr>
      <vt:lpstr>Times New Roman</vt:lpstr>
      <vt:lpstr>Office Theme</vt:lpstr>
      <vt:lpstr>自定义设计方案</vt:lpstr>
      <vt:lpstr>组会汇报</vt:lpstr>
      <vt:lpstr>Overview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Our Work整体结构</vt:lpstr>
      <vt:lpstr>Our Work整体结构</vt:lpstr>
      <vt:lpstr>A2Net+LWGANet（baseline记录）</vt:lpstr>
      <vt:lpstr>Future Work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BING: Binarized Normed Gradients for Objectness Estimation at 300fps</dc:title>
  <dc:creator>MingMing Cheng</dc:creator>
  <cp:lastModifiedBy>禹棋 王</cp:lastModifiedBy>
  <cp:revision>933</cp:revision>
  <dcterms:created xsi:type="dcterms:W3CDTF">2019-08-31T02:02:00Z</dcterms:created>
  <dcterms:modified xsi:type="dcterms:W3CDTF">2026-09-10T05:24:41Z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EADER_334E55B0-647D-440b-865C-3EC943EB4CBC">
    <vt:lpwstr>XGRvY3VtZW50Y2xhc3N7YXJ0aWNsZX0KXHVzZXBhY2thZ2VbdXNlbmFtZXNde2NvbG9yfQpcdXNlcGFja2FnZXthbXNtYXRoLGFtc3N5bWJ9Clx1c2VwYWNrYWdlW3V0Zjhde2lucHV0ZW5jfQpccGFnZXN0eWxle2VtcHR5fQpcYmVnaW57ZG9jdW1lbnR9Cg==</vt:lpwstr>
  </property>
  <property fmtid="{D5CDD505-2E9C-101B-9397-08002B2CF9AE}" pid="3" name="FOOTER_334E55B0-647D-440b-865C-3EC943EB4CBC">
    <vt:lpwstr>XGVuZHtkb2N1bWVudH0K</vt:lpwstr>
  </property>
  <property fmtid="{D5CDD505-2E9C-101B-9397-08002B2CF9AE}" pid="4" name="KSOProductBuildVer">
    <vt:lpwstr>2052-11.3.0.9236</vt:lpwstr>
  </property>
</Properties>
</file>