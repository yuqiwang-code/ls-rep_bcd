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47"/>
  </p:notesMasterIdLst>
  <p:handoutMasterIdLst>
    <p:handoutMasterId r:id="rId48"/>
  </p:handoutMasterIdLst>
  <p:sldIdLst>
    <p:sldId id="439" r:id="rId4"/>
    <p:sldId id="1967" r:id="rId5"/>
    <p:sldId id="1978" r:id="rId6"/>
    <p:sldId id="1985" r:id="rId7"/>
    <p:sldId id="1989" r:id="rId8"/>
    <p:sldId id="1990" r:id="rId9"/>
    <p:sldId id="1991" r:id="rId10"/>
    <p:sldId id="1992" r:id="rId11"/>
    <p:sldId id="1993" r:id="rId12"/>
    <p:sldId id="1987" r:id="rId13"/>
    <p:sldId id="1979" r:id="rId14"/>
    <p:sldId id="1980" r:id="rId15"/>
    <p:sldId id="1981" r:id="rId16"/>
    <p:sldId id="1982" r:id="rId17"/>
    <p:sldId id="1983" r:id="rId18"/>
    <p:sldId id="1984" r:id="rId19"/>
    <p:sldId id="1966" r:id="rId20"/>
    <p:sldId id="1968" r:id="rId21"/>
    <p:sldId id="1986" r:id="rId22"/>
    <p:sldId id="1958" r:id="rId23"/>
    <p:sldId id="1960" r:id="rId24"/>
    <p:sldId id="1973" r:id="rId25"/>
    <p:sldId id="1964" r:id="rId26"/>
    <p:sldId id="1977" r:id="rId27"/>
    <p:sldId id="1972" r:id="rId28"/>
    <p:sldId id="1974" r:id="rId29"/>
    <p:sldId id="1975" r:id="rId30"/>
    <p:sldId id="1969" r:id="rId31"/>
    <p:sldId id="1970" r:id="rId32"/>
    <p:sldId id="1976" r:id="rId33"/>
    <p:sldId id="1971" r:id="rId34"/>
    <p:sldId id="1961" r:id="rId35"/>
    <p:sldId id="1962" r:id="rId36"/>
    <p:sldId id="1959" r:id="rId37"/>
    <p:sldId id="1954" r:id="rId38"/>
    <p:sldId id="1926" r:id="rId39"/>
    <p:sldId id="1925" r:id="rId40"/>
    <p:sldId id="1936" r:id="rId41"/>
    <p:sldId id="1952" r:id="rId42"/>
    <p:sldId id="1953" r:id="rId43"/>
    <p:sldId id="1955" r:id="rId44"/>
    <p:sldId id="1956" r:id="rId45"/>
    <p:sldId id="193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8" userDrawn="1">
          <p15:clr>
            <a:srgbClr val="A4A3A4"/>
          </p15:clr>
        </p15:guide>
        <p15:guide id="2" pos="7412" userDrawn="1">
          <p15:clr>
            <a:srgbClr val="A4A3A4"/>
          </p15:clr>
        </p15:guide>
        <p15:guide id="3" pos="2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D7F"/>
    <a:srgbClr val="3483CA"/>
    <a:srgbClr val="5597D3"/>
    <a:srgbClr val="2C4D88"/>
    <a:srgbClr val="76ABDC"/>
    <a:srgbClr val="2F5597"/>
    <a:srgbClr val="984378"/>
    <a:srgbClr val="FFFFFF"/>
    <a:srgbClr val="54C3F4"/>
    <a:srgbClr val="223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6" autoAdjust="0"/>
    <p:restoredTop sz="95192" autoAdjust="0"/>
  </p:normalViewPr>
  <p:slideViewPr>
    <p:cSldViewPr>
      <p:cViewPr varScale="1">
        <p:scale>
          <a:sx n="106" d="100"/>
          <a:sy n="106" d="100"/>
        </p:scale>
        <p:origin x="1080" y="108"/>
      </p:cViewPr>
      <p:guideLst>
        <p:guide orient="horz" pos="488"/>
        <p:guide pos="7412"/>
        <p:guide pos="240"/>
      </p:guideLst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100" b="0" i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7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62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29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51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9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34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65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7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0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4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72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29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68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55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42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94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31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450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123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40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733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600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250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95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688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978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997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702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198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839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559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658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796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861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760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128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616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917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611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1852551"/>
          </a:xfrm>
          <a:solidFill>
            <a:srgbClr val="005D7F"/>
          </a:solidFill>
        </p:spPr>
        <p:txBody>
          <a:bodyPr anchor="ctr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sz="4000" b="1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 algn="just">
              <a:lnSpc>
                <a:spcPct val="120000"/>
              </a:lnSpc>
              <a:defRPr sz="3200" b="1" i="0" baseline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just">
              <a:lnSpc>
                <a:spcPct val="120000"/>
              </a:lnSpc>
              <a:defRPr sz="3000" b="0" i="0" baseline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defRPr>
            </a:lvl2pPr>
            <a:lvl3pPr algn="just">
              <a:lnSpc>
                <a:spcPct val="120000"/>
              </a:lnSpc>
              <a:defRPr sz="2800" b="0" i="0" baseline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1"/>
          <p:cNvSpPr>
            <a:spLocks noChangeShapeType="1"/>
          </p:cNvSpPr>
          <p:nvPr userDrawn="1"/>
        </p:nvSpPr>
        <p:spPr bwMode="auto">
          <a:xfrm>
            <a:off x="0" y="669130"/>
            <a:ext cx="10661650" cy="0"/>
          </a:xfrm>
          <a:prstGeom prst="line">
            <a:avLst/>
          </a:prstGeom>
          <a:noFill/>
          <a:ln w="34925">
            <a:solidFill>
              <a:srgbClr val="005D7F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36C418-9240-1A4C-6765-7F8140BD68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766" y="47207"/>
            <a:ext cx="1480233" cy="621923"/>
          </a:xfrm>
          <a:prstGeom prst="rect">
            <a:avLst/>
          </a:prstGeom>
        </p:spPr>
      </p:pic>
      <p:sp>
        <p:nvSpPr>
          <p:cNvPr id="4" name="Line 1">
            <a:extLst>
              <a:ext uri="{FF2B5EF4-FFF2-40B4-BE49-F238E27FC236}">
                <a16:creationId xmlns:a16="http://schemas.microsoft.com/office/drawing/2014/main" id="{57EFDD6C-8898-6231-26FC-46546BEEF7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1650" y="669130"/>
            <a:ext cx="1530350" cy="0"/>
          </a:xfrm>
          <a:prstGeom prst="line">
            <a:avLst/>
          </a:prstGeom>
          <a:noFill/>
          <a:ln w="34925">
            <a:solidFill>
              <a:schemeClr val="accent4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39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2D3A4F20-17E8-F3F2-1E60-388BE38BA355}"/>
              </a:ext>
            </a:extLst>
          </p:cNvPr>
          <p:cNvSpPr>
            <a:spLocks noGrp="1"/>
          </p:cNvSpPr>
          <p:nvPr userDrawn="1"/>
        </p:nvSpPr>
        <p:spPr>
          <a:xfrm>
            <a:off x="-8255" y="2295843"/>
            <a:ext cx="12200255" cy="2142808"/>
          </a:xfrm>
          <a:prstGeom prst="rect">
            <a:avLst/>
          </a:prstGeom>
          <a:solidFill>
            <a:srgbClr val="005D7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ctr">
              <a:lnSpc>
                <a:spcPct val="100000"/>
              </a:lnSpc>
            </a:pPr>
            <a:r>
              <a:rPr lang="zh-CN" altLang="en-US" sz="8000" b="1" dirty="0">
                <a:latin typeface="Calibri" panose="020F0502020204030204" pitchFamily="34" charset="0"/>
                <a:ea typeface="黑体" panose="02010609060101010101" pitchFamily="49" charset="-122"/>
              </a:rPr>
              <a:t>谢谢！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4897A91-5FD9-8459-6268-DCCAF1556B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439" y="4880633"/>
            <a:ext cx="3681858" cy="154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0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8FE00-DBCC-C9A4-1177-D96E9618D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RSML</a:t>
            </a:r>
            <a:r>
              <a:rPr lang="zh-CN" altLang="en-US" dirty="0"/>
              <a:t>小组基于</a:t>
            </a:r>
            <a:r>
              <a:rPr lang="en-US" altLang="zh-CN" dirty="0"/>
              <a:t>NKU</a:t>
            </a:r>
            <a:r>
              <a:rPr lang="zh-CN" altLang="en-US" dirty="0"/>
              <a:t>模板改进</a:t>
            </a:r>
          </a:p>
        </p:txBody>
      </p:sp>
    </p:spTree>
    <p:extLst>
      <p:ext uri="{BB962C8B-B14F-4D97-AF65-F5344CB8AC3E}">
        <p14:creationId xmlns:p14="http://schemas.microsoft.com/office/powerpoint/2010/main" val="285289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1293947" y="6580997"/>
            <a:ext cx="898052" cy="306705"/>
          </a:xfrm>
          <a:prstGeom prst="rect">
            <a:avLst/>
          </a:prstGeom>
          <a:solidFill>
            <a:srgbClr val="ED6C00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90648"/>
          </a:xfrm>
          <a:prstGeom prst="rect">
            <a:avLst/>
          </a:prstGeom>
          <a:solidFill>
            <a:srgbClr val="005D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8060" y="6581140"/>
            <a:ext cx="7370233" cy="306705"/>
          </a:xfrm>
          <a:prstGeom prst="rect">
            <a:avLst/>
          </a:prstGeom>
          <a:solidFill>
            <a:srgbClr val="005D7F"/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人工智能与计算机学院（软件学院）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81140"/>
            <a:ext cx="3528060" cy="306705"/>
          </a:xfrm>
          <a:prstGeom prst="rect">
            <a:avLst/>
          </a:prstGeom>
          <a:solidFill>
            <a:srgbClr val="005D7F">
              <a:alpha val="62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江南大学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Jiangnan University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8293" y="6581140"/>
            <a:ext cx="1292860" cy="306705"/>
          </a:xfrm>
          <a:prstGeom prst="rect">
            <a:avLst/>
          </a:prstGeom>
          <a:solidFill>
            <a:srgbClr val="2C4D88"/>
          </a:solidFill>
        </p:spPr>
        <p:txBody>
          <a:bodyPr wrap="square" rtlCol="0">
            <a:spAutoFit/>
          </a:bodyPr>
          <a:lstStyle/>
          <a:p>
            <a:pPr algn="ctr" fontAlgn="ctr"/>
            <a:fld id="{C603BFBC-EF15-48A5-8249-0FEAC4BE5DBB}" type="slidenum">
              <a:rPr lang="en-US" sz="1400" smtClean="0">
                <a:solidFill>
                  <a:schemeClr val="bg1"/>
                </a:solidFill>
              </a:rPr>
              <a:pPr algn="ctr" font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21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085479219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author/115342803349890" TargetMode="External"/><Relationship Id="rId5" Type="http://schemas.openxmlformats.org/officeDocument/2006/relationships/hyperlink" Target="https://ieeexplore.ieee.org/author/37085369355" TargetMode="External"/><Relationship Id="rId4" Type="http://schemas.openxmlformats.org/officeDocument/2006/relationships/hyperlink" Target="https://ieeexplore.ieee.org/author/37351131100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4128" y="0"/>
            <a:ext cx="12200255" cy="3218815"/>
          </a:xfrm>
        </p:spPr>
        <p:txBody>
          <a:bodyPr>
            <a:normAutofit/>
          </a:bodyPr>
          <a:lstStyle/>
          <a:p>
            <a:r>
              <a:rPr lang="zh-CN" altLang="en-US" sz="8000" b="1" dirty="0">
                <a:latin typeface="Calibri" panose="020F0502020204030204" pitchFamily="34" charset="0"/>
                <a:ea typeface="黑体" panose="02010609060101010101" pitchFamily="49" charset="-122"/>
              </a:rPr>
              <a:t>组会汇报</a:t>
            </a:r>
          </a:p>
        </p:txBody>
      </p:sp>
      <p:sp>
        <p:nvSpPr>
          <p:cNvPr id="5" name="Subtitle 2"/>
          <p:cNvSpPr txBox="1"/>
          <p:nvPr/>
        </p:nvSpPr>
        <p:spPr>
          <a:xfrm>
            <a:off x="1794510" y="3879000"/>
            <a:ext cx="8602980" cy="910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50"/>
              </a:spcBef>
            </a:pPr>
            <a:r>
              <a:rPr lang="zh-CN" alt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王禹棋</a:t>
            </a: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398250-0BC2-1A39-9C34-76116551D556}"/>
              </a:ext>
            </a:extLst>
          </p:cNvPr>
          <p:cNvSpPr txBox="1"/>
          <p:nvPr/>
        </p:nvSpPr>
        <p:spPr>
          <a:xfrm>
            <a:off x="4016374" y="5589002"/>
            <a:ext cx="415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E2B6BFC-3EEF-4B6A-A420-397B5415EFE5}" type="datetime2">
              <a:rPr lang="zh-CN" altLang="en-US" sz="240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2026年9月24日</a:t>
            </a:fld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22A1-C243-7B53-3029-14CB55AE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1C044-2992-E67E-4996-56303A0B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789711"/>
            <a:ext cx="11355295" cy="4842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一、</a:t>
            </a:r>
            <a:r>
              <a:rPr lang="en-US" altLang="zh-CN" dirty="0">
                <a:solidFill>
                  <a:srgbClr val="C00000"/>
                </a:solidFill>
              </a:rPr>
              <a:t>Academic Papers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二、</a:t>
            </a:r>
            <a:r>
              <a:rPr lang="en-US" altLang="zh-CN" dirty="0">
                <a:solidFill>
                  <a:srgbClr val="C00000"/>
                </a:solidFill>
              </a:rPr>
              <a:t>Our Work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三、</a:t>
            </a:r>
            <a:r>
              <a:rPr lang="en-US" altLang="zh-CN" dirty="0">
                <a:solidFill>
                  <a:srgbClr val="C00000"/>
                </a:solidFill>
              </a:rPr>
              <a:t>Future Work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866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11146553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教师二阶段（单</a:t>
            </a:r>
            <a:r>
              <a:rPr lang="en-US" altLang="zh-CN" dirty="0"/>
              <a:t>DINOv3/DINOv3</a:t>
            </a:r>
            <a:r>
              <a:rPr lang="zh-CN" altLang="en-US" dirty="0"/>
              <a:t>与</a:t>
            </a:r>
            <a:r>
              <a:rPr lang="en-US" altLang="zh-CN" dirty="0"/>
              <a:t>SAM2</a:t>
            </a:r>
            <a:r>
              <a:rPr lang="zh-CN" altLang="en-US" dirty="0"/>
              <a:t>协同）</a:t>
            </a:r>
            <a:endParaRPr lang="fr-FR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5075AD-293C-C474-600B-BE292E2A7819}"/>
              </a:ext>
            </a:extLst>
          </p:cNvPr>
          <p:cNvSpPr/>
          <p:nvPr/>
        </p:nvSpPr>
        <p:spPr>
          <a:xfrm>
            <a:off x="1048959" y="4445022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B249DD-3C4E-FD50-9D2B-9E545902A0C3}"/>
              </a:ext>
            </a:extLst>
          </p:cNvPr>
          <p:cNvSpPr/>
          <p:nvPr/>
        </p:nvSpPr>
        <p:spPr>
          <a:xfrm>
            <a:off x="1048959" y="557546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6EE151-9739-DD30-FC96-D5B206980746}"/>
              </a:ext>
            </a:extLst>
          </p:cNvPr>
          <p:cNvSpPr/>
          <p:nvPr/>
        </p:nvSpPr>
        <p:spPr>
          <a:xfrm>
            <a:off x="1662571" y="4937312"/>
            <a:ext cx="2080413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Shared LWGANet_L0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0F15E47F-6B2E-B4AE-DE89-E3AA11F66959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1408959" y="4602522"/>
            <a:ext cx="253612" cy="5315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01065199-F95B-32F9-E0A7-9A7A88E0B334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408959" y="5134106"/>
            <a:ext cx="253612" cy="5988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A0446C9-3C1E-F4B4-C867-C160AD70CB2B}"/>
              </a:ext>
            </a:extLst>
          </p:cNvPr>
          <p:cNvSpPr/>
          <p:nvPr/>
        </p:nvSpPr>
        <p:spPr>
          <a:xfrm>
            <a:off x="1655026" y="438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19A6DE-7650-45A7-3868-5C23E7077BCB}"/>
              </a:ext>
            </a:extLst>
          </p:cNvPr>
          <p:cNvSpPr/>
          <p:nvPr/>
        </p:nvSpPr>
        <p:spPr>
          <a:xfrm>
            <a:off x="2192540" y="438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2F4713-4AA9-917F-0FDA-C3FAA58A377F}"/>
              </a:ext>
            </a:extLst>
          </p:cNvPr>
          <p:cNvSpPr/>
          <p:nvPr/>
        </p:nvSpPr>
        <p:spPr>
          <a:xfrm>
            <a:off x="2730054" y="439162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82BAFD-B3E4-3FCA-C22D-F41E88B67AF5}"/>
              </a:ext>
            </a:extLst>
          </p:cNvPr>
          <p:cNvSpPr/>
          <p:nvPr/>
        </p:nvSpPr>
        <p:spPr>
          <a:xfrm>
            <a:off x="3289105" y="439670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57A1AD-03C6-A021-B513-37BBD204F495}"/>
              </a:ext>
            </a:extLst>
          </p:cNvPr>
          <p:cNvSpPr/>
          <p:nvPr/>
        </p:nvSpPr>
        <p:spPr>
          <a:xfrm>
            <a:off x="1662571" y="563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ABB5F0-005D-04C0-F4FA-B4D6D25E4752}"/>
              </a:ext>
            </a:extLst>
          </p:cNvPr>
          <p:cNvSpPr/>
          <p:nvPr/>
        </p:nvSpPr>
        <p:spPr>
          <a:xfrm>
            <a:off x="2200085" y="563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64B5A2-223D-F164-7D68-5319CEA03F18}"/>
              </a:ext>
            </a:extLst>
          </p:cNvPr>
          <p:cNvSpPr/>
          <p:nvPr/>
        </p:nvSpPr>
        <p:spPr>
          <a:xfrm>
            <a:off x="2737599" y="564035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AAD7BC-3A12-F240-4CBD-54FE1BDBF034}"/>
              </a:ext>
            </a:extLst>
          </p:cNvPr>
          <p:cNvSpPr/>
          <p:nvPr/>
        </p:nvSpPr>
        <p:spPr>
          <a:xfrm>
            <a:off x="3296650" y="564543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5BD74A09-7655-A025-385D-F2D35FF4C8B3}"/>
              </a:ext>
            </a:extLst>
          </p:cNvPr>
          <p:cNvCxnSpPr>
            <a:cxnSpLocks/>
            <a:stCxn id="4" idx="0"/>
            <a:endCxn id="8" idx="2"/>
          </p:cNvCxnSpPr>
          <p:nvPr/>
        </p:nvCxnSpPr>
        <p:spPr>
          <a:xfrm rot="16200000" flipV="1">
            <a:off x="2152652" y="4387186"/>
            <a:ext cx="288750" cy="811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76DC4708-0212-DD60-F6F0-CEF2AD1A5DF5}"/>
              </a:ext>
            </a:extLst>
          </p:cNvPr>
          <p:cNvCxnSpPr>
            <a:cxnSpLocks/>
            <a:stCxn id="4" idx="0"/>
            <a:endCxn id="9" idx="2"/>
          </p:cNvCxnSpPr>
          <p:nvPr/>
        </p:nvCxnSpPr>
        <p:spPr>
          <a:xfrm rot="16200000" flipV="1">
            <a:off x="2421409" y="4655943"/>
            <a:ext cx="288750" cy="2739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0AF61BCE-16D6-5141-2684-CFB369E6D0C1}"/>
              </a:ext>
            </a:extLst>
          </p:cNvPr>
          <p:cNvCxnSpPr>
            <a:cxnSpLocks/>
            <a:stCxn id="4" idx="0"/>
            <a:endCxn id="10" idx="2"/>
          </p:cNvCxnSpPr>
          <p:nvPr/>
        </p:nvCxnSpPr>
        <p:spPr>
          <a:xfrm rot="5400000" flipH="1" flipV="1">
            <a:off x="2692517" y="4663525"/>
            <a:ext cx="284048" cy="2635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5B774980-6FF8-C1B8-4C01-B177C0F05630}"/>
              </a:ext>
            </a:extLst>
          </p:cNvPr>
          <p:cNvCxnSpPr>
            <a:cxnSpLocks/>
            <a:stCxn id="4" idx="0"/>
            <a:endCxn id="11" idx="2"/>
          </p:cNvCxnSpPr>
          <p:nvPr/>
        </p:nvCxnSpPr>
        <p:spPr>
          <a:xfrm rot="5400000" flipH="1" flipV="1">
            <a:off x="2974582" y="4386540"/>
            <a:ext cx="278968" cy="8225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98FF8BC7-79B3-DAF6-963F-6DF0904B2EE8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2148424" y="5081298"/>
            <a:ext cx="304752" cy="80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A34C2A2F-6056-13CD-C3EF-E1C10E5B8E38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 rot="5400000">
            <a:off x="2417181" y="5350055"/>
            <a:ext cx="304752" cy="2664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07A17AA6-A10C-2479-5FF6-6F3401C9DE4E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rot="16200000" flipH="1">
            <a:off x="2683586" y="5350091"/>
            <a:ext cx="309454" cy="271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33FB067E-CC4A-AF02-2B5D-78425707642C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 rot="16200000" flipH="1">
            <a:off x="2960572" y="5073106"/>
            <a:ext cx="314534" cy="830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左大括号 24">
            <a:extLst>
              <a:ext uri="{FF2B5EF4-FFF2-40B4-BE49-F238E27FC236}">
                <a16:creationId xmlns:a16="http://schemas.microsoft.com/office/drawing/2014/main" id="{D9D28B7D-A9F9-C4F0-F9B3-D0DF4FE02EA9}"/>
              </a:ext>
            </a:extLst>
          </p:cNvPr>
          <p:cNvSpPr/>
          <p:nvPr/>
        </p:nvSpPr>
        <p:spPr>
          <a:xfrm rot="5400000">
            <a:off x="2599185" y="3114056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C0417641-9150-5596-71D6-4A9D873B3CA2}"/>
              </a:ext>
            </a:extLst>
          </p:cNvPr>
          <p:cNvSpPr/>
          <p:nvPr/>
        </p:nvSpPr>
        <p:spPr>
          <a:xfrm rot="16200000">
            <a:off x="2629661" y="4884939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5C00FAF-8FFF-8C72-6A80-E10BA07660DE}"/>
              </a:ext>
            </a:extLst>
          </p:cNvPr>
          <p:cNvSpPr/>
          <p:nvPr/>
        </p:nvSpPr>
        <p:spPr>
          <a:xfrm>
            <a:off x="4162078" y="44048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80109A25-83A3-A957-C065-238114BF3BCC}"/>
              </a:ext>
            </a:extLst>
          </p:cNvPr>
          <p:cNvCxnSpPr>
            <a:cxnSpLocks/>
            <a:stCxn id="25" idx="1"/>
            <a:endCxn id="27" idx="0"/>
          </p:cNvCxnSpPr>
          <p:nvPr/>
        </p:nvCxnSpPr>
        <p:spPr>
          <a:xfrm rot="16200000" flipH="1">
            <a:off x="3427112" y="3433630"/>
            <a:ext cx="243682" cy="1698750"/>
          </a:xfrm>
          <a:prstGeom prst="bentConnector3">
            <a:avLst>
              <a:gd name="adj1" fmla="val -368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5436B8B3-F15B-9C82-2B98-ADBDB973F1FB}"/>
              </a:ext>
            </a:extLst>
          </p:cNvPr>
          <p:cNvCxnSpPr>
            <a:cxnSpLocks/>
            <a:stCxn id="26" idx="1"/>
            <a:endCxn id="30" idx="2"/>
          </p:cNvCxnSpPr>
          <p:nvPr/>
        </p:nvCxnSpPr>
        <p:spPr>
          <a:xfrm rot="5400000" flipH="1" flipV="1">
            <a:off x="3446421" y="5180925"/>
            <a:ext cx="235540" cy="1668274"/>
          </a:xfrm>
          <a:prstGeom prst="bentConnector3">
            <a:avLst>
              <a:gd name="adj1" fmla="val -457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374F5732-02C0-7E04-0AC9-159C5441CD04}"/>
              </a:ext>
            </a:extLst>
          </p:cNvPr>
          <p:cNvSpPr/>
          <p:nvPr/>
        </p:nvSpPr>
        <p:spPr>
          <a:xfrm>
            <a:off x="4162078" y="563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2CDD03-F99B-A7CC-52DE-89924675E1C6}"/>
              </a:ext>
            </a:extLst>
          </p:cNvPr>
          <p:cNvSpPr/>
          <p:nvPr/>
        </p:nvSpPr>
        <p:spPr>
          <a:xfrm>
            <a:off x="4162078" y="500328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D019115-83E4-00B2-2389-605D9DED4DD6}"/>
              </a:ext>
            </a:extLst>
          </p:cNvPr>
          <p:cNvCxnSpPr>
            <a:cxnSpLocks/>
            <a:stCxn id="27" idx="2"/>
            <a:endCxn id="31" idx="0"/>
          </p:cNvCxnSpPr>
          <p:nvPr/>
        </p:nvCxnSpPr>
        <p:spPr>
          <a:xfrm>
            <a:off x="4398328" y="4666486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8AE9052-1586-27BE-CC25-0E95C146BC9D}"/>
              </a:ext>
            </a:extLst>
          </p:cNvPr>
          <p:cNvCxnSpPr>
            <a:cxnSpLocks/>
            <a:stCxn id="30" idx="0"/>
            <a:endCxn id="31" idx="2"/>
          </p:cNvCxnSpPr>
          <p:nvPr/>
        </p:nvCxnSpPr>
        <p:spPr>
          <a:xfrm flipV="1">
            <a:off x="4398328" y="5264926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ECD3C7CC-6A75-DC9B-1859-98BF2396E592}"/>
              </a:ext>
            </a:extLst>
          </p:cNvPr>
          <p:cNvSpPr/>
          <p:nvPr/>
        </p:nvSpPr>
        <p:spPr>
          <a:xfrm>
            <a:off x="4841478" y="5041713"/>
            <a:ext cx="2774316" cy="97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</a:rPr>
              <a:t>Stage1~4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r>
              <a:rPr lang="fr-FR" altLang="zh-CN" sz="1200" dirty="0">
                <a:solidFill>
                  <a:schemeClr val="tx1"/>
                </a:solidFill>
              </a:rPr>
              <a:t>SupervisedAttentionModul</a:t>
            </a:r>
            <a:r>
              <a:rPr lang="en-US" altLang="zh-CN" sz="1200" dirty="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9B391BB-6F9B-3815-9B60-09DBA3428398}"/>
              </a:ext>
            </a:extLst>
          </p:cNvPr>
          <p:cNvSpPr/>
          <p:nvPr/>
        </p:nvSpPr>
        <p:spPr>
          <a:xfrm>
            <a:off x="4875425" y="456160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841FA32-0940-086F-1FA6-BF036BED3015}"/>
              </a:ext>
            </a:extLst>
          </p:cNvPr>
          <p:cNvSpPr/>
          <p:nvPr/>
        </p:nvSpPr>
        <p:spPr>
          <a:xfrm>
            <a:off x="5618122" y="456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65DA6FF-BC5F-6F96-038C-123CE6B18753}"/>
              </a:ext>
            </a:extLst>
          </p:cNvPr>
          <p:cNvSpPr/>
          <p:nvPr/>
        </p:nvSpPr>
        <p:spPr>
          <a:xfrm>
            <a:off x="6374958" y="456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9555D5-CF1F-FE9F-D428-954AF8D9AC5C}"/>
              </a:ext>
            </a:extLst>
          </p:cNvPr>
          <p:cNvSpPr/>
          <p:nvPr/>
        </p:nvSpPr>
        <p:spPr>
          <a:xfrm>
            <a:off x="7100952" y="455526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左大括号 38">
            <a:extLst>
              <a:ext uri="{FF2B5EF4-FFF2-40B4-BE49-F238E27FC236}">
                <a16:creationId xmlns:a16="http://schemas.microsoft.com/office/drawing/2014/main" id="{2F598CC8-035A-4291-4001-29F3382BE4C0}"/>
              </a:ext>
            </a:extLst>
          </p:cNvPr>
          <p:cNvSpPr/>
          <p:nvPr/>
        </p:nvSpPr>
        <p:spPr>
          <a:xfrm rot="5400000">
            <a:off x="6084923" y="2996380"/>
            <a:ext cx="223503" cy="2838243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994B353-6E01-D894-4DF3-2421BC741A1C}"/>
              </a:ext>
            </a:extLst>
          </p:cNvPr>
          <p:cNvCxnSpPr>
            <a:cxnSpLocks/>
            <a:stCxn id="31" idx="3"/>
            <a:endCxn id="39" idx="1"/>
          </p:cNvCxnSpPr>
          <p:nvPr/>
        </p:nvCxnSpPr>
        <p:spPr>
          <a:xfrm flipV="1">
            <a:off x="4634578" y="4303750"/>
            <a:ext cx="1562096" cy="830356"/>
          </a:xfrm>
          <a:prstGeom prst="bentConnector4">
            <a:avLst>
              <a:gd name="adj1" fmla="val 6423"/>
              <a:gd name="adj2" fmla="val 1280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63598C2-781E-AB46-878F-D4C8A39EE160}"/>
              </a:ext>
            </a:extLst>
          </p:cNvPr>
          <p:cNvCxnSpPr>
            <a:cxnSpLocks/>
            <a:stCxn id="35" idx="2"/>
            <a:endCxn id="45" idx="0"/>
          </p:cNvCxnSpPr>
          <p:nvPr/>
        </p:nvCxnSpPr>
        <p:spPr>
          <a:xfrm>
            <a:off x="5111675" y="4823249"/>
            <a:ext cx="4319" cy="422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B266651-1D48-9C4F-9CE5-B59998595989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5854372" y="4823028"/>
            <a:ext cx="0" cy="420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78476F8-FFE6-913D-B39C-55601005E47F}"/>
              </a:ext>
            </a:extLst>
          </p:cNvPr>
          <p:cNvCxnSpPr>
            <a:cxnSpLocks/>
            <a:stCxn id="37" idx="2"/>
            <a:endCxn id="47" idx="0"/>
          </p:cNvCxnSpPr>
          <p:nvPr/>
        </p:nvCxnSpPr>
        <p:spPr>
          <a:xfrm>
            <a:off x="6611208" y="4823028"/>
            <a:ext cx="4285" cy="416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ECB483C-3D8F-C3D3-5296-689F419E2E2F}"/>
              </a:ext>
            </a:extLst>
          </p:cNvPr>
          <p:cNvCxnSpPr>
            <a:cxnSpLocks/>
            <a:stCxn id="38" idx="2"/>
            <a:endCxn id="48" idx="0"/>
          </p:cNvCxnSpPr>
          <p:nvPr/>
        </p:nvCxnSpPr>
        <p:spPr>
          <a:xfrm>
            <a:off x="7337202" y="4816903"/>
            <a:ext cx="0" cy="42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CD5AEA8-62D9-8482-30BC-F37677E54468}"/>
              </a:ext>
            </a:extLst>
          </p:cNvPr>
          <p:cNvSpPr/>
          <p:nvPr/>
        </p:nvSpPr>
        <p:spPr>
          <a:xfrm>
            <a:off x="4879744" y="524545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A86439E-8119-2DED-1015-77B66E15977B}"/>
              </a:ext>
            </a:extLst>
          </p:cNvPr>
          <p:cNvSpPr/>
          <p:nvPr/>
        </p:nvSpPr>
        <p:spPr>
          <a:xfrm>
            <a:off x="5618122" y="52434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F79AFB-536A-3698-C0B3-8136B01BB5E9}"/>
              </a:ext>
            </a:extLst>
          </p:cNvPr>
          <p:cNvSpPr/>
          <p:nvPr/>
        </p:nvSpPr>
        <p:spPr>
          <a:xfrm>
            <a:off x="6379243" y="5239860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2A48A6F-F349-6043-4FFC-D6E25CF92BE0}"/>
              </a:ext>
            </a:extLst>
          </p:cNvPr>
          <p:cNvSpPr/>
          <p:nvPr/>
        </p:nvSpPr>
        <p:spPr>
          <a:xfrm>
            <a:off x="7100952" y="524010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C3C43DA-CB68-76C0-95F9-18D571B3A261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 flipV="1">
            <a:off x="5352244" y="5374266"/>
            <a:ext cx="265878" cy="2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FD300B8-13EE-2FCB-A6AF-BA68C150DFEE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6090622" y="5370680"/>
            <a:ext cx="288621" cy="3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A55DEA8-72F6-1D5E-BBF7-9D0A347CE04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847458" y="5370680"/>
            <a:ext cx="253494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FB88F164-42E0-CC8E-ACB9-0F44A6FEA93A}"/>
              </a:ext>
            </a:extLst>
          </p:cNvPr>
          <p:cNvSpPr/>
          <p:nvPr/>
        </p:nvSpPr>
        <p:spPr>
          <a:xfrm>
            <a:off x="7881672" y="5258928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BE5869C-4492-9F23-FE43-4E72F8B69750}"/>
              </a:ext>
            </a:extLst>
          </p:cNvPr>
          <p:cNvCxnSpPr>
            <a:cxnSpLocks/>
            <a:stCxn id="48" idx="3"/>
            <a:endCxn id="52" idx="1"/>
          </p:cNvCxnSpPr>
          <p:nvPr/>
        </p:nvCxnSpPr>
        <p:spPr>
          <a:xfrm flipV="1">
            <a:off x="7573452" y="5370680"/>
            <a:ext cx="308220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936E5B6-3642-453F-AC4A-8892C3E5A2A2}"/>
              </a:ext>
            </a:extLst>
          </p:cNvPr>
          <p:cNvCxnSpPr>
            <a:cxnSpLocks/>
            <a:stCxn id="52" idx="0"/>
            <a:endCxn id="55" idx="2"/>
          </p:cNvCxnSpPr>
          <p:nvPr/>
        </p:nvCxnSpPr>
        <p:spPr>
          <a:xfrm flipH="1" flipV="1">
            <a:off x="8291875" y="4937102"/>
            <a:ext cx="340" cy="32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2E2FCE3E-62CA-9FFC-1B3D-3B555F710B62}"/>
              </a:ext>
            </a:extLst>
          </p:cNvPr>
          <p:cNvSpPr txBox="1"/>
          <p:nvPr/>
        </p:nvSpPr>
        <p:spPr>
          <a:xfrm>
            <a:off x="7692008" y="4360021"/>
            <a:ext cx="119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GT</a:t>
            </a:r>
          </a:p>
          <a:p>
            <a:pPr algn="ctr"/>
            <a:r>
              <a:rPr lang="zh-CN" altLang="en-US" sz="1050" dirty="0"/>
              <a:t>↓</a:t>
            </a:r>
            <a:endParaRPr lang="en-US" altLang="zh-CN" sz="1050" dirty="0"/>
          </a:p>
          <a:p>
            <a:pPr algn="ctr"/>
            <a:r>
              <a:rPr lang="zh-CN" altLang="en-US" sz="1050" dirty="0"/>
              <a:t>主</a:t>
            </a:r>
            <a:r>
              <a:rPr lang="en-US" altLang="zh-CN" sz="1050" dirty="0"/>
              <a:t>loss</a:t>
            </a:r>
            <a:r>
              <a:rPr lang="zh-CN" altLang="en-US" sz="1050" dirty="0"/>
              <a:t>： </a:t>
            </a:r>
            <a:r>
              <a:rPr lang="fr-FR" altLang="zh-CN" sz="1050" dirty="0"/>
              <a:t>BCE+Dice </a:t>
            </a:r>
            <a:endParaRPr lang="en-US" altLang="zh-CN" sz="1050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F3BBC65-5F95-96FF-D852-4676ABD5473E}"/>
              </a:ext>
            </a:extLst>
          </p:cNvPr>
          <p:cNvSpPr/>
          <p:nvPr/>
        </p:nvSpPr>
        <p:spPr>
          <a:xfrm>
            <a:off x="786000" y="3879000"/>
            <a:ext cx="8105742" cy="2543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46EF6A0-5082-6C70-2EE6-CA1C5DA04733}"/>
              </a:ext>
            </a:extLst>
          </p:cNvPr>
          <p:cNvSpPr txBox="1"/>
          <p:nvPr/>
        </p:nvSpPr>
        <p:spPr>
          <a:xfrm>
            <a:off x="4095833" y="466341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9BB67AF-5A82-A0CB-CCF4-F0C28F654132}"/>
              </a:ext>
            </a:extLst>
          </p:cNvPr>
          <p:cNvSpPr txBox="1"/>
          <p:nvPr/>
        </p:nvSpPr>
        <p:spPr>
          <a:xfrm>
            <a:off x="4095833" y="5401839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566C0E0-95E0-1353-D69B-D4DB91DDD90E}"/>
              </a:ext>
            </a:extLst>
          </p:cNvPr>
          <p:cNvSpPr/>
          <p:nvPr/>
        </p:nvSpPr>
        <p:spPr>
          <a:xfrm>
            <a:off x="1048959" y="1005246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81AA1E4-19F2-2920-F909-3FA550EF382D}"/>
              </a:ext>
            </a:extLst>
          </p:cNvPr>
          <p:cNvSpPr/>
          <p:nvPr/>
        </p:nvSpPr>
        <p:spPr>
          <a:xfrm>
            <a:off x="1897536" y="1000908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8CA73AA-C96E-59D0-0C84-37F2E1F448B0}"/>
              </a:ext>
            </a:extLst>
          </p:cNvPr>
          <p:cNvSpPr/>
          <p:nvPr/>
        </p:nvSpPr>
        <p:spPr>
          <a:xfrm>
            <a:off x="870160" y="1491444"/>
            <a:ext cx="717597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DINOv3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5F415E4-B871-33F9-CE34-D5A980BC2DC8}"/>
              </a:ext>
            </a:extLst>
          </p:cNvPr>
          <p:cNvSpPr/>
          <p:nvPr/>
        </p:nvSpPr>
        <p:spPr>
          <a:xfrm>
            <a:off x="1718738" y="1491444"/>
            <a:ext cx="717597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DINOv3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7FF7EAE-8D67-F46D-73BA-168629C84CD2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>
            <a:off x="1228959" y="1320246"/>
            <a:ext cx="0" cy="1711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C5D46EC3-542B-5434-B9C1-F7516DE0D335}"/>
              </a:ext>
            </a:extLst>
          </p:cNvPr>
          <p:cNvCxnSpPr>
            <a:cxnSpLocks/>
            <a:stCxn id="61" idx="2"/>
            <a:endCxn id="67" idx="0"/>
          </p:cNvCxnSpPr>
          <p:nvPr/>
        </p:nvCxnSpPr>
        <p:spPr>
          <a:xfrm>
            <a:off x="2077536" y="1315908"/>
            <a:ext cx="1" cy="175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54C0A0F9-537F-EB74-E022-93076F08B350}"/>
              </a:ext>
            </a:extLst>
          </p:cNvPr>
          <p:cNvSpPr/>
          <p:nvPr/>
        </p:nvSpPr>
        <p:spPr>
          <a:xfrm>
            <a:off x="319246" y="2196256"/>
            <a:ext cx="595049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f_mid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7B005E8-5F81-005C-5ADB-BE46F8D37D72}"/>
              </a:ext>
            </a:extLst>
          </p:cNvPr>
          <p:cNvSpPr/>
          <p:nvPr/>
        </p:nvSpPr>
        <p:spPr>
          <a:xfrm>
            <a:off x="994754" y="2195571"/>
            <a:ext cx="595049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f_deep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74249B0-52B4-4945-F748-C8FB19FF6BE9}"/>
              </a:ext>
            </a:extLst>
          </p:cNvPr>
          <p:cNvSpPr/>
          <p:nvPr/>
        </p:nvSpPr>
        <p:spPr>
          <a:xfrm>
            <a:off x="1712908" y="2213709"/>
            <a:ext cx="595049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f_mid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F5A2D94-C426-2E86-4D6E-EE56FCB563F8}"/>
              </a:ext>
            </a:extLst>
          </p:cNvPr>
          <p:cNvSpPr/>
          <p:nvPr/>
        </p:nvSpPr>
        <p:spPr>
          <a:xfrm>
            <a:off x="2388416" y="2213024"/>
            <a:ext cx="595049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f_deep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0E029186-BE9E-BF18-A50F-985FA5A8FA11}"/>
              </a:ext>
            </a:extLst>
          </p:cNvPr>
          <p:cNvCxnSpPr>
            <a:cxnSpLocks/>
            <a:stCxn id="62" idx="2"/>
            <a:endCxn id="75" idx="0"/>
          </p:cNvCxnSpPr>
          <p:nvPr/>
        </p:nvCxnSpPr>
        <p:spPr>
          <a:xfrm rot="5400000">
            <a:off x="767253" y="1734550"/>
            <a:ext cx="311224" cy="6121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E02E96A7-34D5-1831-0CB0-DDD877A44BB7}"/>
              </a:ext>
            </a:extLst>
          </p:cNvPr>
          <p:cNvCxnSpPr>
            <a:cxnSpLocks/>
            <a:stCxn id="62" idx="2"/>
            <a:endCxn id="76" idx="0"/>
          </p:cNvCxnSpPr>
          <p:nvPr/>
        </p:nvCxnSpPr>
        <p:spPr>
          <a:xfrm rot="16200000" flipH="1">
            <a:off x="1105350" y="2008641"/>
            <a:ext cx="310539" cy="633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33FEDB1F-4388-C3B6-D12A-18606B1A1037}"/>
              </a:ext>
            </a:extLst>
          </p:cNvPr>
          <p:cNvCxnSpPr>
            <a:cxnSpLocks/>
            <a:stCxn id="67" idx="2"/>
            <a:endCxn id="77" idx="0"/>
          </p:cNvCxnSpPr>
          <p:nvPr/>
        </p:nvCxnSpPr>
        <p:spPr>
          <a:xfrm rot="5400000">
            <a:off x="1879647" y="2015818"/>
            <a:ext cx="328677" cy="671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9826DB0A-85E0-2E2F-064E-7390410571C9}"/>
              </a:ext>
            </a:extLst>
          </p:cNvPr>
          <p:cNvCxnSpPr>
            <a:cxnSpLocks/>
            <a:stCxn id="67" idx="2"/>
            <a:endCxn id="78" idx="0"/>
          </p:cNvCxnSpPr>
          <p:nvPr/>
        </p:nvCxnSpPr>
        <p:spPr>
          <a:xfrm rot="16200000" flipH="1">
            <a:off x="2217743" y="1744826"/>
            <a:ext cx="327992" cy="6084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E7466AAC-C7F5-B5DF-0896-791B355755B7}"/>
              </a:ext>
            </a:extLst>
          </p:cNvPr>
          <p:cNvCxnSpPr>
            <a:cxnSpLocks/>
            <a:stCxn id="75" idx="2"/>
            <a:endCxn id="98" idx="0"/>
          </p:cNvCxnSpPr>
          <p:nvPr/>
        </p:nvCxnSpPr>
        <p:spPr>
          <a:xfrm rot="16200000" flipH="1">
            <a:off x="498507" y="2576160"/>
            <a:ext cx="436381" cy="19985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E852B987-B73F-AD15-FACF-2DC98FB2F6AF}"/>
              </a:ext>
            </a:extLst>
          </p:cNvPr>
          <p:cNvCxnSpPr>
            <a:cxnSpLocks/>
            <a:stCxn id="77" idx="2"/>
            <a:endCxn id="98" idx="0"/>
          </p:cNvCxnSpPr>
          <p:nvPr/>
        </p:nvCxnSpPr>
        <p:spPr>
          <a:xfrm rot="5400000">
            <a:off x="1204064" y="2087908"/>
            <a:ext cx="418928" cy="11938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5A12D314-4C54-4A24-64A3-D14D3C0D7422}"/>
              </a:ext>
            </a:extLst>
          </p:cNvPr>
          <p:cNvSpPr/>
          <p:nvPr/>
        </p:nvSpPr>
        <p:spPr>
          <a:xfrm>
            <a:off x="74482" y="2894277"/>
            <a:ext cx="1484281" cy="3273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F_mid</a:t>
            </a:r>
            <a:r>
              <a:rPr lang="zh-CN" altLang="en-US" sz="1000" dirty="0">
                <a:solidFill>
                  <a:schemeClr val="tx1"/>
                </a:solidFill>
              </a:rPr>
              <a:t>（两个</a:t>
            </a:r>
            <a:r>
              <a:rPr lang="en-US" altLang="zh-CN" sz="1000" dirty="0">
                <a:solidFill>
                  <a:schemeClr val="tx1"/>
                </a:solidFill>
              </a:rPr>
              <a:t>mid</a:t>
            </a:r>
            <a:r>
              <a:rPr lang="zh-CN" altLang="en-US" sz="1000" dirty="0">
                <a:solidFill>
                  <a:schemeClr val="tx1"/>
                </a:solidFill>
              </a:rPr>
              <a:t>相减）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B9DECCE-2C2F-E023-A07E-F2B35AB9B56D}"/>
              </a:ext>
            </a:extLst>
          </p:cNvPr>
          <p:cNvSpPr/>
          <p:nvPr/>
        </p:nvSpPr>
        <p:spPr>
          <a:xfrm>
            <a:off x="1686649" y="2773627"/>
            <a:ext cx="1484281" cy="3273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F_deep</a:t>
            </a:r>
            <a:r>
              <a:rPr lang="zh-CN" altLang="en-US" sz="1000" dirty="0">
                <a:solidFill>
                  <a:schemeClr val="tx1"/>
                </a:solidFill>
              </a:rPr>
              <a:t>（两个</a:t>
            </a:r>
            <a:r>
              <a:rPr lang="en-US" altLang="zh-CN" sz="1000" dirty="0">
                <a:solidFill>
                  <a:schemeClr val="tx1"/>
                </a:solidFill>
              </a:rPr>
              <a:t>deep</a:t>
            </a:r>
            <a:r>
              <a:rPr lang="zh-CN" altLang="en-US" sz="1000" dirty="0">
                <a:solidFill>
                  <a:schemeClr val="tx1"/>
                </a:solidFill>
              </a:rPr>
              <a:t>相减）</a:t>
            </a:r>
          </a:p>
        </p:txBody>
      </p: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8972D9D2-9B82-E5CB-8AC7-4BECA0F7976D}"/>
              </a:ext>
            </a:extLst>
          </p:cNvPr>
          <p:cNvCxnSpPr>
            <a:cxnSpLocks/>
            <a:stCxn id="76" idx="2"/>
            <a:endCxn id="103" idx="0"/>
          </p:cNvCxnSpPr>
          <p:nvPr/>
        </p:nvCxnSpPr>
        <p:spPr>
          <a:xfrm rot="16200000" flipH="1">
            <a:off x="1702326" y="2047163"/>
            <a:ext cx="316416" cy="113651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86413C57-E909-08F7-B004-F01761705140}"/>
              </a:ext>
            </a:extLst>
          </p:cNvPr>
          <p:cNvCxnSpPr>
            <a:cxnSpLocks/>
            <a:stCxn id="78" idx="2"/>
            <a:endCxn id="103" idx="0"/>
          </p:cNvCxnSpPr>
          <p:nvPr/>
        </p:nvCxnSpPr>
        <p:spPr>
          <a:xfrm rot="5400000">
            <a:off x="2407885" y="2495570"/>
            <a:ext cx="298963" cy="2571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CADFA43B-3827-1ED6-1D63-663C870E9B79}"/>
              </a:ext>
            </a:extLst>
          </p:cNvPr>
          <p:cNvSpPr/>
          <p:nvPr/>
        </p:nvSpPr>
        <p:spPr>
          <a:xfrm>
            <a:off x="853006" y="3452529"/>
            <a:ext cx="1484281" cy="3273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KD</a:t>
            </a:r>
            <a:r>
              <a:rPr lang="zh-CN" altLang="en-US" sz="1000" dirty="0">
                <a:solidFill>
                  <a:schemeClr val="tx1"/>
                </a:solidFill>
              </a:rPr>
              <a:t>蒸馏</a:t>
            </a:r>
            <a:r>
              <a:rPr lang="en-US" altLang="zh-CN" sz="1000" dirty="0">
                <a:solidFill>
                  <a:schemeClr val="tx1"/>
                </a:solidFill>
              </a:rPr>
              <a:t>(</a:t>
            </a:r>
            <a:r>
              <a:rPr lang="zh-CN" altLang="en-US" sz="1000" dirty="0">
                <a:solidFill>
                  <a:schemeClr val="tx1"/>
                </a:solidFill>
              </a:rPr>
              <a:t>作用于</a:t>
            </a:r>
            <a:r>
              <a:rPr lang="en-US" altLang="zh-CN" sz="1000" dirty="0">
                <a:solidFill>
                  <a:schemeClr val="tx1"/>
                </a:solidFill>
              </a:rPr>
              <a:t>S4)</a:t>
            </a:r>
          </a:p>
        </p:txBody>
      </p:sp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43ED2EDB-08B6-2DAB-CE3B-02B2DCA0AB3D}"/>
              </a:ext>
            </a:extLst>
          </p:cNvPr>
          <p:cNvCxnSpPr>
            <a:cxnSpLocks/>
            <a:stCxn id="98" idx="2"/>
            <a:endCxn id="111" idx="0"/>
          </p:cNvCxnSpPr>
          <p:nvPr/>
        </p:nvCxnSpPr>
        <p:spPr>
          <a:xfrm rot="16200000" flipH="1">
            <a:off x="1090412" y="2947794"/>
            <a:ext cx="230946" cy="7785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连接符: 肘形 115">
            <a:extLst>
              <a:ext uri="{FF2B5EF4-FFF2-40B4-BE49-F238E27FC236}">
                <a16:creationId xmlns:a16="http://schemas.microsoft.com/office/drawing/2014/main" id="{3220A1CF-DD4A-CECB-D980-1C32906BDA38}"/>
              </a:ext>
            </a:extLst>
          </p:cNvPr>
          <p:cNvCxnSpPr>
            <a:cxnSpLocks/>
            <a:stCxn id="103" idx="2"/>
            <a:endCxn id="111" idx="0"/>
          </p:cNvCxnSpPr>
          <p:nvPr/>
        </p:nvCxnSpPr>
        <p:spPr>
          <a:xfrm rot="5400000">
            <a:off x="1836171" y="2859910"/>
            <a:ext cx="351596" cy="8336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0C4A973D-558D-5247-2B50-E20ACC8E5372}"/>
              </a:ext>
            </a:extLst>
          </p:cNvPr>
          <p:cNvSpPr/>
          <p:nvPr/>
        </p:nvSpPr>
        <p:spPr>
          <a:xfrm>
            <a:off x="5056827" y="1403676"/>
            <a:ext cx="717597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DINOv3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BBA3CCC6-8384-1CC9-D3F8-D1D2ADDA4376}"/>
              </a:ext>
            </a:extLst>
          </p:cNvPr>
          <p:cNvSpPr/>
          <p:nvPr/>
        </p:nvSpPr>
        <p:spPr>
          <a:xfrm>
            <a:off x="6090622" y="1403676"/>
            <a:ext cx="717597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SAM2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0CC8D42-D163-CAB3-B490-D641DB9F823D}"/>
              </a:ext>
            </a:extLst>
          </p:cNvPr>
          <p:cNvSpPr/>
          <p:nvPr/>
        </p:nvSpPr>
        <p:spPr>
          <a:xfrm>
            <a:off x="5242045" y="962194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902B831E-7829-A1DD-79A0-E0B18B89BCCD}"/>
              </a:ext>
            </a:extLst>
          </p:cNvPr>
          <p:cNvSpPr/>
          <p:nvPr/>
        </p:nvSpPr>
        <p:spPr>
          <a:xfrm>
            <a:off x="6269421" y="951387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DAD91BA9-22B2-0035-7747-7776B6F8F535}"/>
              </a:ext>
            </a:extLst>
          </p:cNvPr>
          <p:cNvCxnSpPr>
            <a:cxnSpLocks/>
            <a:stCxn id="125" idx="2"/>
            <a:endCxn id="123" idx="0"/>
          </p:cNvCxnSpPr>
          <p:nvPr/>
        </p:nvCxnSpPr>
        <p:spPr>
          <a:xfrm flipH="1">
            <a:off x="5415626" y="1277194"/>
            <a:ext cx="6419" cy="126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9A70A46-230A-B553-C869-7CB456838292}"/>
              </a:ext>
            </a:extLst>
          </p:cNvPr>
          <p:cNvCxnSpPr>
            <a:cxnSpLocks/>
            <a:stCxn id="126" idx="2"/>
            <a:endCxn id="124" idx="0"/>
          </p:cNvCxnSpPr>
          <p:nvPr/>
        </p:nvCxnSpPr>
        <p:spPr>
          <a:xfrm>
            <a:off x="6449421" y="1266387"/>
            <a:ext cx="0" cy="137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C6DD6040-EB74-808C-ACA0-ED83ECD79636}"/>
              </a:ext>
            </a:extLst>
          </p:cNvPr>
          <p:cNvCxnSpPr>
            <a:cxnSpLocks/>
            <a:stCxn id="123" idx="2"/>
            <a:endCxn id="135" idx="0"/>
          </p:cNvCxnSpPr>
          <p:nvPr/>
        </p:nvCxnSpPr>
        <p:spPr>
          <a:xfrm rot="16200000" flipH="1">
            <a:off x="5474754" y="1738135"/>
            <a:ext cx="428872" cy="54712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77EA0EE1-1D70-3189-9577-58FC531E76FB}"/>
              </a:ext>
            </a:extLst>
          </p:cNvPr>
          <p:cNvSpPr/>
          <p:nvPr/>
        </p:nvSpPr>
        <p:spPr>
          <a:xfrm>
            <a:off x="5322784" y="2226136"/>
            <a:ext cx="1279942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语义</a:t>
            </a:r>
            <a:r>
              <a:rPr lang="en-US" altLang="zh-CN" sz="1200" dirty="0">
                <a:solidFill>
                  <a:schemeClr val="tx1"/>
                </a:solidFill>
              </a:rPr>
              <a:t>+</a:t>
            </a:r>
            <a:r>
              <a:rPr lang="zh-CN" altLang="en-US" sz="1200" dirty="0">
                <a:solidFill>
                  <a:schemeClr val="tx1"/>
                </a:solidFill>
              </a:rPr>
              <a:t>边界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zh-CN" altLang="en-US" sz="1200" dirty="0">
                <a:solidFill>
                  <a:schemeClr val="tx1"/>
                </a:solidFill>
              </a:rPr>
              <a:t>教师特征</a:t>
            </a:r>
          </a:p>
        </p:txBody>
      </p:sp>
      <p:cxnSp>
        <p:nvCxnSpPr>
          <p:cNvPr id="137" name="连接符: 肘形 136">
            <a:extLst>
              <a:ext uri="{FF2B5EF4-FFF2-40B4-BE49-F238E27FC236}">
                <a16:creationId xmlns:a16="http://schemas.microsoft.com/office/drawing/2014/main" id="{4E1A812D-979F-7550-4217-CAE72539EED9}"/>
              </a:ext>
            </a:extLst>
          </p:cNvPr>
          <p:cNvCxnSpPr>
            <a:cxnSpLocks/>
            <a:stCxn id="124" idx="2"/>
            <a:endCxn id="135" idx="0"/>
          </p:cNvCxnSpPr>
          <p:nvPr/>
        </p:nvCxnSpPr>
        <p:spPr>
          <a:xfrm rot="5400000">
            <a:off x="5991652" y="1768367"/>
            <a:ext cx="428872" cy="48666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矩形 139">
            <a:extLst>
              <a:ext uri="{FF2B5EF4-FFF2-40B4-BE49-F238E27FC236}">
                <a16:creationId xmlns:a16="http://schemas.microsoft.com/office/drawing/2014/main" id="{E32C3F33-DD3B-EAA5-1EA8-9FD3CAE47CE3}"/>
              </a:ext>
            </a:extLst>
          </p:cNvPr>
          <p:cNvSpPr/>
          <p:nvPr/>
        </p:nvSpPr>
        <p:spPr>
          <a:xfrm>
            <a:off x="5189805" y="2746958"/>
            <a:ext cx="1545899" cy="2503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RDT(</a:t>
            </a:r>
            <a:r>
              <a:rPr lang="zh-CN" altLang="en-US" sz="1200" dirty="0">
                <a:solidFill>
                  <a:schemeClr val="tx1"/>
                </a:solidFill>
              </a:rPr>
              <a:t>可学习</a:t>
            </a:r>
            <a:r>
              <a:rPr lang="en-US" altLang="zh-CN" sz="1200" dirty="0">
                <a:solidFill>
                  <a:schemeClr val="tx1"/>
                </a:solidFill>
              </a:rPr>
              <a:t>router)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7FC99517-D093-99EC-925C-16FEF3904498}"/>
              </a:ext>
            </a:extLst>
          </p:cNvPr>
          <p:cNvCxnSpPr>
            <a:cxnSpLocks/>
            <a:stCxn id="135" idx="2"/>
            <a:endCxn id="140" idx="0"/>
          </p:cNvCxnSpPr>
          <p:nvPr/>
        </p:nvCxnSpPr>
        <p:spPr>
          <a:xfrm>
            <a:off x="5962755" y="2619724"/>
            <a:ext cx="0" cy="1272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>
            <a:extLst>
              <a:ext uri="{FF2B5EF4-FFF2-40B4-BE49-F238E27FC236}">
                <a16:creationId xmlns:a16="http://schemas.microsoft.com/office/drawing/2014/main" id="{58A51C04-9E4B-E1CD-76EA-B158A81329A5}"/>
              </a:ext>
            </a:extLst>
          </p:cNvPr>
          <p:cNvSpPr/>
          <p:nvPr/>
        </p:nvSpPr>
        <p:spPr>
          <a:xfrm>
            <a:off x="4951714" y="3159176"/>
            <a:ext cx="2022491" cy="5065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可靠性权重（让学生知道拒绝哪些错误，作用于</a:t>
            </a:r>
            <a:r>
              <a:rPr lang="en-US" altLang="zh-CN" sz="1100" dirty="0">
                <a:solidFill>
                  <a:schemeClr val="tx1"/>
                </a:solidFill>
              </a:rPr>
              <a:t>TFM/S1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69095740-CFF6-90F0-8945-96189A9531E3}"/>
              </a:ext>
            </a:extLst>
          </p:cNvPr>
          <p:cNvCxnSpPr>
            <a:cxnSpLocks/>
            <a:stCxn id="140" idx="2"/>
            <a:endCxn id="145" idx="0"/>
          </p:cNvCxnSpPr>
          <p:nvPr/>
        </p:nvCxnSpPr>
        <p:spPr>
          <a:xfrm>
            <a:off x="5962755" y="2997355"/>
            <a:ext cx="205" cy="161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8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SAM2</a:t>
            </a:r>
            <a:r>
              <a:rPr lang="zh-CN" altLang="en-US" dirty="0"/>
              <a:t>教师</a:t>
            </a:r>
            <a:r>
              <a:rPr lang="en-US" altLang="zh-CN" dirty="0"/>
              <a:t>+</a:t>
            </a:r>
            <a:r>
              <a:rPr lang="zh-CN" altLang="en-US" dirty="0"/>
              <a:t>奇偶结构分解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2AB5E0-6098-5043-04E9-1B58A9CC596A}"/>
              </a:ext>
            </a:extLst>
          </p:cNvPr>
          <p:cNvSpPr/>
          <p:nvPr/>
        </p:nvSpPr>
        <p:spPr>
          <a:xfrm>
            <a:off x="38910" y="1135480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01B54B-A37D-E22A-1143-220D63740786}"/>
              </a:ext>
            </a:extLst>
          </p:cNvPr>
          <p:cNvSpPr/>
          <p:nvPr/>
        </p:nvSpPr>
        <p:spPr>
          <a:xfrm>
            <a:off x="38910" y="2265923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8C43-6AC5-21FE-F0C7-6621F4065FF6}"/>
              </a:ext>
            </a:extLst>
          </p:cNvPr>
          <p:cNvSpPr/>
          <p:nvPr/>
        </p:nvSpPr>
        <p:spPr>
          <a:xfrm>
            <a:off x="488910" y="1450480"/>
            <a:ext cx="900000" cy="846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SAM2 </a:t>
            </a:r>
            <a:r>
              <a:rPr lang="zh-CN" altLang="en-US" sz="1200" dirty="0">
                <a:solidFill>
                  <a:schemeClr val="tx1"/>
                </a:solidFill>
              </a:rPr>
              <a:t>离线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513527-A578-00C1-34D6-DFE394911A5C}"/>
              </a:ext>
            </a:extLst>
          </p:cNvPr>
          <p:cNvSpPr/>
          <p:nvPr/>
        </p:nvSpPr>
        <p:spPr>
          <a:xfrm>
            <a:off x="2098250" y="1346379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实例编号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C61A63-08DD-CC68-0218-048D4FA1E875}"/>
              </a:ext>
            </a:extLst>
          </p:cNvPr>
          <p:cNvSpPr/>
          <p:nvPr/>
        </p:nvSpPr>
        <p:spPr>
          <a:xfrm>
            <a:off x="2098250" y="1759845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边界图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028609-E39A-8240-C3DD-6475AA956F4B}"/>
              </a:ext>
            </a:extLst>
          </p:cNvPr>
          <p:cNvSpPr/>
          <p:nvPr/>
        </p:nvSpPr>
        <p:spPr>
          <a:xfrm>
            <a:off x="2098250" y="2173311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掩码质量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11B3CB-15DA-9E9B-C030-2514E6C0FB48}"/>
              </a:ext>
            </a:extLst>
          </p:cNvPr>
          <p:cNvSpPr/>
          <p:nvPr/>
        </p:nvSpPr>
        <p:spPr>
          <a:xfrm>
            <a:off x="2885750" y="2568159"/>
            <a:ext cx="72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保存 </a:t>
            </a:r>
            <a:r>
              <a:rPr lang="en-US" altLang="zh-CN" sz="1200" dirty="0">
                <a:solidFill>
                  <a:schemeClr val="tx1"/>
                </a:solidFill>
              </a:rPr>
              <a:t>.</a:t>
            </a:r>
            <a:r>
              <a:rPr lang="fr-FR" altLang="zh-CN" sz="1200" dirty="0">
                <a:solidFill>
                  <a:schemeClr val="tx1"/>
                </a:solidFill>
              </a:rPr>
              <a:t>pt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CEEC11-B492-A288-4C37-AF91F7497014}"/>
              </a:ext>
            </a:extLst>
          </p:cNvPr>
          <p:cNvSpPr/>
          <p:nvPr/>
        </p:nvSpPr>
        <p:spPr>
          <a:xfrm>
            <a:off x="2885750" y="1011816"/>
            <a:ext cx="72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保存 </a:t>
            </a:r>
            <a:r>
              <a:rPr lang="en-US" altLang="zh-CN" sz="1200" dirty="0">
                <a:solidFill>
                  <a:schemeClr val="tx1"/>
                </a:solidFill>
              </a:rPr>
              <a:t>.</a:t>
            </a:r>
            <a:r>
              <a:rPr lang="fr-FR" altLang="zh-CN" sz="1200" dirty="0">
                <a:solidFill>
                  <a:schemeClr val="tx1"/>
                </a:solidFill>
              </a:rPr>
              <a:t>pt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FB4373E5-4100-688D-722C-2E0A40776981}"/>
              </a:ext>
            </a:extLst>
          </p:cNvPr>
          <p:cNvCxnSpPr>
            <a:cxnSpLocks/>
            <a:stCxn id="8" idx="3"/>
            <a:endCxn id="15" idx="0"/>
          </p:cNvCxnSpPr>
          <p:nvPr/>
        </p:nvCxnSpPr>
        <p:spPr>
          <a:xfrm>
            <a:off x="398910" y="1292980"/>
            <a:ext cx="540000" cy="1575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A2FBAAAD-E82A-46D2-197C-B44B814ED8A5}"/>
              </a:ext>
            </a:extLst>
          </p:cNvPr>
          <p:cNvCxnSpPr>
            <a:cxnSpLocks/>
            <a:stCxn id="13" idx="3"/>
            <a:endCxn id="15" idx="2"/>
          </p:cNvCxnSpPr>
          <p:nvPr/>
        </p:nvCxnSpPr>
        <p:spPr>
          <a:xfrm flipV="1">
            <a:off x="398910" y="2297034"/>
            <a:ext cx="540000" cy="1263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F5914803-FBB9-6D5E-1474-598EEAEFE9A9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1388910" y="1464468"/>
            <a:ext cx="709340" cy="4092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6DF51550-6B41-28BB-E3F6-D6C8466D1D98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1388910" y="1873757"/>
            <a:ext cx="709340" cy="41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3A93F6D5-F08D-27D4-8A7D-BBA02D324A51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1388910" y="1873757"/>
            <a:ext cx="709340" cy="4176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F272125F-8836-56F4-C5C1-D9E2C286FDE3}"/>
              </a:ext>
            </a:extLst>
          </p:cNvPr>
          <p:cNvSpPr txBox="1"/>
          <p:nvPr/>
        </p:nvSpPr>
        <p:spPr>
          <a:xfrm>
            <a:off x="1431350" y="1247993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获取</a:t>
            </a:r>
          </a:p>
        </p:txBody>
      </p: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6960D45C-786D-91D3-470F-CF23485A0DED}"/>
              </a:ext>
            </a:extLst>
          </p:cNvPr>
          <p:cNvCxnSpPr>
            <a:cxnSpLocks/>
            <a:stCxn id="20" idx="3"/>
            <a:endCxn id="24" idx="2"/>
          </p:cNvCxnSpPr>
          <p:nvPr/>
        </p:nvCxnSpPr>
        <p:spPr>
          <a:xfrm flipV="1">
            <a:off x="2998250" y="1247993"/>
            <a:ext cx="247500" cy="6299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2114E74E-7F86-AE0D-43DE-2E5D5D807A65}"/>
              </a:ext>
            </a:extLst>
          </p:cNvPr>
          <p:cNvCxnSpPr>
            <a:cxnSpLocks/>
            <a:stCxn id="19" idx="3"/>
            <a:endCxn id="24" idx="2"/>
          </p:cNvCxnSpPr>
          <p:nvPr/>
        </p:nvCxnSpPr>
        <p:spPr>
          <a:xfrm flipV="1">
            <a:off x="2998250" y="1247993"/>
            <a:ext cx="247500" cy="2164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FDAABD41-3972-2A5A-B395-F1F03511174A}"/>
              </a:ext>
            </a:extLst>
          </p:cNvPr>
          <p:cNvCxnSpPr>
            <a:cxnSpLocks/>
            <a:stCxn id="22" idx="3"/>
            <a:endCxn id="24" idx="2"/>
          </p:cNvCxnSpPr>
          <p:nvPr/>
        </p:nvCxnSpPr>
        <p:spPr>
          <a:xfrm flipV="1">
            <a:off x="2998250" y="1247993"/>
            <a:ext cx="247500" cy="104340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831E13F2-74BF-2895-B0EF-7A04D4E5DFD6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>
            <a:off x="2998250" y="1464468"/>
            <a:ext cx="247500" cy="11036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620D89E1-5D05-88BF-B94D-4293D78AABAC}"/>
              </a:ext>
            </a:extLst>
          </p:cNvPr>
          <p:cNvCxnSpPr>
            <a:cxnSpLocks/>
            <a:stCxn id="20" idx="3"/>
            <a:endCxn id="23" idx="0"/>
          </p:cNvCxnSpPr>
          <p:nvPr/>
        </p:nvCxnSpPr>
        <p:spPr>
          <a:xfrm>
            <a:off x="2998250" y="1877934"/>
            <a:ext cx="247500" cy="6902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B489F027-3731-72A1-AD3C-8A545A856939}"/>
              </a:ext>
            </a:extLst>
          </p:cNvPr>
          <p:cNvCxnSpPr>
            <a:cxnSpLocks/>
            <a:stCxn id="22" idx="3"/>
            <a:endCxn id="23" idx="0"/>
          </p:cNvCxnSpPr>
          <p:nvPr/>
        </p:nvCxnSpPr>
        <p:spPr>
          <a:xfrm>
            <a:off x="2998250" y="2291400"/>
            <a:ext cx="247500" cy="2767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AAECC764-70E0-EC06-C2ED-BDA08B5DE86B}"/>
              </a:ext>
            </a:extLst>
          </p:cNvPr>
          <p:cNvSpPr txBox="1"/>
          <p:nvPr/>
        </p:nvSpPr>
        <p:spPr>
          <a:xfrm>
            <a:off x="-13182" y="668239"/>
            <a:ext cx="3803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仅训练：教师与辅助蒸馏分支（推理时删除）</a:t>
            </a: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109ABE17-B079-F870-018E-CE0FD0C039AA}"/>
              </a:ext>
            </a:extLst>
          </p:cNvPr>
          <p:cNvCxnSpPr>
            <a:cxnSpLocks/>
            <a:stCxn id="24" idx="3"/>
            <a:endCxn id="12" idx="1"/>
          </p:cNvCxnSpPr>
          <p:nvPr/>
        </p:nvCxnSpPr>
        <p:spPr>
          <a:xfrm>
            <a:off x="3605750" y="1129905"/>
            <a:ext cx="292500" cy="76762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080744E-3A48-9FAC-BEAB-3B4692837E49}"/>
              </a:ext>
            </a:extLst>
          </p:cNvPr>
          <p:cNvSpPr/>
          <p:nvPr/>
        </p:nvSpPr>
        <p:spPr>
          <a:xfrm>
            <a:off x="3898250" y="1562963"/>
            <a:ext cx="976281" cy="6691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同步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分解结构</a:t>
            </a: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086AC84-1E47-FA7F-2D77-C28CDF6C3F07}"/>
              </a:ext>
            </a:extLst>
          </p:cNvPr>
          <p:cNvCxnSpPr>
            <a:cxnSpLocks/>
            <a:stCxn id="23" idx="3"/>
            <a:endCxn id="12" idx="1"/>
          </p:cNvCxnSpPr>
          <p:nvPr/>
        </p:nvCxnSpPr>
        <p:spPr>
          <a:xfrm flipV="1">
            <a:off x="3605750" y="1897528"/>
            <a:ext cx="292500" cy="7887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262274EC-7CF8-93AC-4908-145A699CEFE9}"/>
              </a:ext>
            </a:extLst>
          </p:cNvPr>
          <p:cNvSpPr/>
          <p:nvPr/>
        </p:nvSpPr>
        <p:spPr>
          <a:xfrm>
            <a:off x="5421390" y="1074995"/>
            <a:ext cx="1298141" cy="507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偶结构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（边界、局部等）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5E12830-26F2-7D5E-82DF-13DED972461F}"/>
              </a:ext>
            </a:extLst>
          </p:cNvPr>
          <p:cNvSpPr/>
          <p:nvPr/>
        </p:nvSpPr>
        <p:spPr>
          <a:xfrm>
            <a:off x="5421389" y="2175998"/>
            <a:ext cx="1298141" cy="507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奇结构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（有向差异）</a:t>
            </a: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B01C3838-E231-0255-49A7-C0BDDB3D7309}"/>
              </a:ext>
            </a:extLst>
          </p:cNvPr>
          <p:cNvCxnSpPr>
            <a:cxnSpLocks/>
            <a:stCxn id="12" idx="3"/>
            <a:endCxn id="44" idx="1"/>
          </p:cNvCxnSpPr>
          <p:nvPr/>
        </p:nvCxnSpPr>
        <p:spPr>
          <a:xfrm flipV="1">
            <a:off x="4874531" y="1328776"/>
            <a:ext cx="546859" cy="56875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C8CB712F-936A-06FC-45D1-5FCC923055DE}"/>
              </a:ext>
            </a:extLst>
          </p:cNvPr>
          <p:cNvCxnSpPr>
            <a:cxnSpLocks/>
            <a:stCxn id="12" idx="3"/>
            <a:endCxn id="45" idx="1"/>
          </p:cNvCxnSpPr>
          <p:nvPr/>
        </p:nvCxnSpPr>
        <p:spPr>
          <a:xfrm>
            <a:off x="4874531" y="1897528"/>
            <a:ext cx="546858" cy="5322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C526A018-AED3-4BF6-C341-B12545F3CCC0}"/>
              </a:ext>
            </a:extLst>
          </p:cNvPr>
          <p:cNvSpPr/>
          <p:nvPr/>
        </p:nvSpPr>
        <p:spPr>
          <a:xfrm>
            <a:off x="218910" y="3021079"/>
            <a:ext cx="1357474" cy="296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学生</a:t>
            </a:r>
            <a:r>
              <a:rPr lang="en-US" altLang="zh-CN" sz="1200" dirty="0">
                <a:solidFill>
                  <a:schemeClr val="tx1"/>
                </a:solidFill>
              </a:rPr>
              <a:t>4</a:t>
            </a:r>
            <a:r>
              <a:rPr lang="zh-CN" altLang="en-US" sz="1200" dirty="0">
                <a:solidFill>
                  <a:schemeClr val="tx1"/>
                </a:solidFill>
              </a:rPr>
              <a:t>层特征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438978B-F5B0-50E3-829B-9C1BB14CAA1F}"/>
              </a:ext>
            </a:extLst>
          </p:cNvPr>
          <p:cNvSpPr/>
          <p:nvPr/>
        </p:nvSpPr>
        <p:spPr>
          <a:xfrm>
            <a:off x="2040371" y="3021078"/>
            <a:ext cx="1357474" cy="296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正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逆序共享编码</a:t>
            </a:r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61389B27-2396-E77F-1432-57218AF3150D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 flipV="1">
            <a:off x="1576384" y="3169523"/>
            <a:ext cx="46398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9E08AE4C-EE76-05B7-03CC-0E2504C3AB26}"/>
              </a:ext>
            </a:extLst>
          </p:cNvPr>
          <p:cNvSpPr/>
          <p:nvPr/>
        </p:nvSpPr>
        <p:spPr>
          <a:xfrm>
            <a:off x="3707653" y="3013350"/>
            <a:ext cx="976281" cy="296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分解结构</a:t>
            </a:r>
          </a:p>
        </p:txBody>
      </p:sp>
      <p:cxnSp>
        <p:nvCxnSpPr>
          <p:cNvPr id="63" name="连接符: 肘形 57">
            <a:extLst>
              <a:ext uri="{FF2B5EF4-FFF2-40B4-BE49-F238E27FC236}">
                <a16:creationId xmlns:a16="http://schemas.microsoft.com/office/drawing/2014/main" id="{12AB5A5A-9EF8-6A04-2531-B218016D6800}"/>
              </a:ext>
            </a:extLst>
          </p:cNvPr>
          <p:cNvCxnSpPr>
            <a:cxnSpLocks/>
            <a:stCxn id="57" idx="3"/>
            <a:endCxn id="62" idx="1"/>
          </p:cNvCxnSpPr>
          <p:nvPr/>
        </p:nvCxnSpPr>
        <p:spPr>
          <a:xfrm flipV="1">
            <a:off x="3397845" y="3161795"/>
            <a:ext cx="309808" cy="77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矩形 450">
            <a:extLst>
              <a:ext uri="{FF2B5EF4-FFF2-40B4-BE49-F238E27FC236}">
                <a16:creationId xmlns:a16="http://schemas.microsoft.com/office/drawing/2014/main" id="{2CB0843D-D23C-BAEB-9DDC-502E51C331FC}"/>
              </a:ext>
            </a:extLst>
          </p:cNvPr>
          <p:cNvSpPr/>
          <p:nvPr/>
        </p:nvSpPr>
        <p:spPr>
          <a:xfrm>
            <a:off x="5201119" y="2878391"/>
            <a:ext cx="1298141" cy="2643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偶分量</a:t>
            </a:r>
          </a:p>
        </p:txBody>
      </p:sp>
      <p:sp>
        <p:nvSpPr>
          <p:cNvPr id="452" name="矩形 451">
            <a:extLst>
              <a:ext uri="{FF2B5EF4-FFF2-40B4-BE49-F238E27FC236}">
                <a16:creationId xmlns:a16="http://schemas.microsoft.com/office/drawing/2014/main" id="{74D09688-33FE-21DB-1D5C-0FBE501C6BAF}"/>
              </a:ext>
            </a:extLst>
          </p:cNvPr>
          <p:cNvSpPr/>
          <p:nvPr/>
        </p:nvSpPr>
        <p:spPr>
          <a:xfrm>
            <a:off x="5201120" y="3178061"/>
            <a:ext cx="1298141" cy="2643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奇分量</a:t>
            </a:r>
          </a:p>
        </p:txBody>
      </p:sp>
      <p:cxnSp>
        <p:nvCxnSpPr>
          <p:cNvPr id="454" name="连接符: 肘形 453">
            <a:extLst>
              <a:ext uri="{FF2B5EF4-FFF2-40B4-BE49-F238E27FC236}">
                <a16:creationId xmlns:a16="http://schemas.microsoft.com/office/drawing/2014/main" id="{7D113501-DE18-2066-2913-8DB4DD8F339A}"/>
              </a:ext>
            </a:extLst>
          </p:cNvPr>
          <p:cNvCxnSpPr>
            <a:cxnSpLocks/>
            <a:stCxn id="62" idx="3"/>
            <a:endCxn id="451" idx="1"/>
          </p:cNvCxnSpPr>
          <p:nvPr/>
        </p:nvCxnSpPr>
        <p:spPr>
          <a:xfrm flipV="1">
            <a:off x="4683934" y="3010569"/>
            <a:ext cx="517185" cy="1512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连接符: 肘形 454">
            <a:extLst>
              <a:ext uri="{FF2B5EF4-FFF2-40B4-BE49-F238E27FC236}">
                <a16:creationId xmlns:a16="http://schemas.microsoft.com/office/drawing/2014/main" id="{DC4569E1-CE11-BA1F-9397-519DC892CB7F}"/>
              </a:ext>
            </a:extLst>
          </p:cNvPr>
          <p:cNvCxnSpPr>
            <a:cxnSpLocks/>
            <a:stCxn id="62" idx="3"/>
            <a:endCxn id="452" idx="1"/>
          </p:cNvCxnSpPr>
          <p:nvPr/>
        </p:nvCxnSpPr>
        <p:spPr>
          <a:xfrm>
            <a:off x="4683934" y="3161795"/>
            <a:ext cx="517186" cy="1484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矩形 463">
            <a:extLst>
              <a:ext uri="{FF2B5EF4-FFF2-40B4-BE49-F238E27FC236}">
                <a16:creationId xmlns:a16="http://schemas.microsoft.com/office/drawing/2014/main" id="{0284E2A7-C134-B9F2-7858-46A3B5CCC27E}"/>
              </a:ext>
            </a:extLst>
          </p:cNvPr>
          <p:cNvSpPr/>
          <p:nvPr/>
        </p:nvSpPr>
        <p:spPr>
          <a:xfrm>
            <a:off x="7349532" y="2657874"/>
            <a:ext cx="900000" cy="2643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辅助损失</a:t>
            </a:r>
          </a:p>
        </p:txBody>
      </p:sp>
      <p:cxnSp>
        <p:nvCxnSpPr>
          <p:cNvPr id="471" name="连接符: 肘形 470">
            <a:extLst>
              <a:ext uri="{FF2B5EF4-FFF2-40B4-BE49-F238E27FC236}">
                <a16:creationId xmlns:a16="http://schemas.microsoft.com/office/drawing/2014/main" id="{8D8EF5BB-6D88-C562-461D-1A0D853344DF}"/>
              </a:ext>
            </a:extLst>
          </p:cNvPr>
          <p:cNvCxnSpPr>
            <a:cxnSpLocks/>
            <a:stCxn id="45" idx="3"/>
            <a:endCxn id="464" idx="0"/>
          </p:cNvCxnSpPr>
          <p:nvPr/>
        </p:nvCxnSpPr>
        <p:spPr>
          <a:xfrm>
            <a:off x="6719530" y="2429779"/>
            <a:ext cx="1080002" cy="228095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5" name="连接符: 肘形 474">
            <a:extLst>
              <a:ext uri="{FF2B5EF4-FFF2-40B4-BE49-F238E27FC236}">
                <a16:creationId xmlns:a16="http://schemas.microsoft.com/office/drawing/2014/main" id="{507454AC-7D5E-5A99-EF6A-A61D797B301A}"/>
              </a:ext>
            </a:extLst>
          </p:cNvPr>
          <p:cNvCxnSpPr>
            <a:cxnSpLocks/>
            <a:stCxn id="44" idx="3"/>
            <a:endCxn id="464" idx="0"/>
          </p:cNvCxnSpPr>
          <p:nvPr/>
        </p:nvCxnSpPr>
        <p:spPr>
          <a:xfrm>
            <a:off x="6719531" y="1328776"/>
            <a:ext cx="1080001" cy="1329098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8" name="连接符: 肘形 477">
            <a:extLst>
              <a:ext uri="{FF2B5EF4-FFF2-40B4-BE49-F238E27FC236}">
                <a16:creationId xmlns:a16="http://schemas.microsoft.com/office/drawing/2014/main" id="{FC205380-22BE-545C-1101-3BBED7138D99}"/>
              </a:ext>
            </a:extLst>
          </p:cNvPr>
          <p:cNvCxnSpPr>
            <a:cxnSpLocks/>
            <a:stCxn id="451" idx="3"/>
            <a:endCxn id="464" idx="2"/>
          </p:cNvCxnSpPr>
          <p:nvPr/>
        </p:nvCxnSpPr>
        <p:spPr>
          <a:xfrm flipV="1">
            <a:off x="6499260" y="2922229"/>
            <a:ext cx="1300272" cy="8834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2" name="连接符: 肘形 481">
            <a:extLst>
              <a:ext uri="{FF2B5EF4-FFF2-40B4-BE49-F238E27FC236}">
                <a16:creationId xmlns:a16="http://schemas.microsoft.com/office/drawing/2014/main" id="{630000A2-127E-0980-3C46-16DEB4F1BC55}"/>
              </a:ext>
            </a:extLst>
          </p:cNvPr>
          <p:cNvCxnSpPr>
            <a:cxnSpLocks/>
            <a:stCxn id="452" idx="3"/>
            <a:endCxn id="464" idx="2"/>
          </p:cNvCxnSpPr>
          <p:nvPr/>
        </p:nvCxnSpPr>
        <p:spPr>
          <a:xfrm flipV="1">
            <a:off x="6499261" y="2922229"/>
            <a:ext cx="1300271" cy="38801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5" name="矩形 494">
            <a:extLst>
              <a:ext uri="{FF2B5EF4-FFF2-40B4-BE49-F238E27FC236}">
                <a16:creationId xmlns:a16="http://schemas.microsoft.com/office/drawing/2014/main" id="{8C0E67FC-EB44-7B8C-9DA4-77341FA59829}"/>
              </a:ext>
            </a:extLst>
          </p:cNvPr>
          <p:cNvSpPr/>
          <p:nvPr/>
        </p:nvSpPr>
        <p:spPr>
          <a:xfrm>
            <a:off x="286330" y="457961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96" name="矩形 495">
            <a:extLst>
              <a:ext uri="{FF2B5EF4-FFF2-40B4-BE49-F238E27FC236}">
                <a16:creationId xmlns:a16="http://schemas.microsoft.com/office/drawing/2014/main" id="{2EC73316-1E7A-4BA8-19D9-8EBF70F93909}"/>
              </a:ext>
            </a:extLst>
          </p:cNvPr>
          <p:cNvSpPr/>
          <p:nvPr/>
        </p:nvSpPr>
        <p:spPr>
          <a:xfrm>
            <a:off x="286330" y="5710058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97" name="矩形 496">
            <a:extLst>
              <a:ext uri="{FF2B5EF4-FFF2-40B4-BE49-F238E27FC236}">
                <a16:creationId xmlns:a16="http://schemas.microsoft.com/office/drawing/2014/main" id="{35BD6239-731C-3B44-36FE-2A5624DD4EA8}"/>
              </a:ext>
            </a:extLst>
          </p:cNvPr>
          <p:cNvSpPr/>
          <p:nvPr/>
        </p:nvSpPr>
        <p:spPr>
          <a:xfrm>
            <a:off x="899942" y="5071905"/>
            <a:ext cx="2080413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Shared LWGANet_L0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98" name="连接符: 肘形 497">
            <a:extLst>
              <a:ext uri="{FF2B5EF4-FFF2-40B4-BE49-F238E27FC236}">
                <a16:creationId xmlns:a16="http://schemas.microsoft.com/office/drawing/2014/main" id="{8C8D83F4-DE05-FECA-7EA8-24FFB46DFC09}"/>
              </a:ext>
            </a:extLst>
          </p:cNvPr>
          <p:cNvCxnSpPr>
            <a:cxnSpLocks/>
            <a:stCxn id="495" idx="3"/>
            <a:endCxn id="497" idx="1"/>
          </p:cNvCxnSpPr>
          <p:nvPr/>
        </p:nvCxnSpPr>
        <p:spPr>
          <a:xfrm>
            <a:off x="646330" y="4737115"/>
            <a:ext cx="253612" cy="5315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连接符: 肘形 498">
            <a:extLst>
              <a:ext uri="{FF2B5EF4-FFF2-40B4-BE49-F238E27FC236}">
                <a16:creationId xmlns:a16="http://schemas.microsoft.com/office/drawing/2014/main" id="{DD88EFB2-0E59-B874-7AA7-74AEE34C717A}"/>
              </a:ext>
            </a:extLst>
          </p:cNvPr>
          <p:cNvCxnSpPr>
            <a:cxnSpLocks/>
            <a:stCxn id="496" idx="3"/>
            <a:endCxn id="497" idx="1"/>
          </p:cNvCxnSpPr>
          <p:nvPr/>
        </p:nvCxnSpPr>
        <p:spPr>
          <a:xfrm flipV="1">
            <a:off x="646330" y="5268699"/>
            <a:ext cx="253612" cy="5988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矩形 499">
            <a:extLst>
              <a:ext uri="{FF2B5EF4-FFF2-40B4-BE49-F238E27FC236}">
                <a16:creationId xmlns:a16="http://schemas.microsoft.com/office/drawing/2014/main" id="{1161E97B-4F1F-40B7-E635-94ED87B2EEA4}"/>
              </a:ext>
            </a:extLst>
          </p:cNvPr>
          <p:cNvSpPr/>
          <p:nvPr/>
        </p:nvSpPr>
        <p:spPr>
          <a:xfrm>
            <a:off x="892397" y="452151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1" name="矩形 500">
            <a:extLst>
              <a:ext uri="{FF2B5EF4-FFF2-40B4-BE49-F238E27FC236}">
                <a16:creationId xmlns:a16="http://schemas.microsoft.com/office/drawing/2014/main" id="{AAB3BD10-DC3A-8E0A-97D4-284DF959CEAD}"/>
              </a:ext>
            </a:extLst>
          </p:cNvPr>
          <p:cNvSpPr/>
          <p:nvPr/>
        </p:nvSpPr>
        <p:spPr>
          <a:xfrm>
            <a:off x="1429911" y="452151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2" name="矩形 501">
            <a:extLst>
              <a:ext uri="{FF2B5EF4-FFF2-40B4-BE49-F238E27FC236}">
                <a16:creationId xmlns:a16="http://schemas.microsoft.com/office/drawing/2014/main" id="{B28C135F-BF4E-0115-222E-CF9D3A120AEB}"/>
              </a:ext>
            </a:extLst>
          </p:cNvPr>
          <p:cNvSpPr/>
          <p:nvPr/>
        </p:nvSpPr>
        <p:spPr>
          <a:xfrm>
            <a:off x="1967425" y="4526217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3" name="矩形 502">
            <a:extLst>
              <a:ext uri="{FF2B5EF4-FFF2-40B4-BE49-F238E27FC236}">
                <a16:creationId xmlns:a16="http://schemas.microsoft.com/office/drawing/2014/main" id="{399730B4-7755-ED21-584F-E0B457BA5966}"/>
              </a:ext>
            </a:extLst>
          </p:cNvPr>
          <p:cNvSpPr/>
          <p:nvPr/>
        </p:nvSpPr>
        <p:spPr>
          <a:xfrm>
            <a:off x="2526476" y="4531297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4" name="矩形 503">
            <a:extLst>
              <a:ext uri="{FF2B5EF4-FFF2-40B4-BE49-F238E27FC236}">
                <a16:creationId xmlns:a16="http://schemas.microsoft.com/office/drawing/2014/main" id="{7E3AEE83-63F7-85E4-48A5-6DC76991A2DF}"/>
              </a:ext>
            </a:extLst>
          </p:cNvPr>
          <p:cNvSpPr/>
          <p:nvPr/>
        </p:nvSpPr>
        <p:spPr>
          <a:xfrm>
            <a:off x="899942" y="577024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5" name="矩形 504">
            <a:extLst>
              <a:ext uri="{FF2B5EF4-FFF2-40B4-BE49-F238E27FC236}">
                <a16:creationId xmlns:a16="http://schemas.microsoft.com/office/drawing/2014/main" id="{B98EDBE2-62B5-A94C-6119-518E5A04FBA9}"/>
              </a:ext>
            </a:extLst>
          </p:cNvPr>
          <p:cNvSpPr/>
          <p:nvPr/>
        </p:nvSpPr>
        <p:spPr>
          <a:xfrm>
            <a:off x="1437456" y="577024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6" name="矩形 505">
            <a:extLst>
              <a:ext uri="{FF2B5EF4-FFF2-40B4-BE49-F238E27FC236}">
                <a16:creationId xmlns:a16="http://schemas.microsoft.com/office/drawing/2014/main" id="{9E073665-23AB-C1B8-2704-6D1960368658}"/>
              </a:ext>
            </a:extLst>
          </p:cNvPr>
          <p:cNvSpPr/>
          <p:nvPr/>
        </p:nvSpPr>
        <p:spPr>
          <a:xfrm>
            <a:off x="1974970" y="5774947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D5187BC3-20FD-DFC7-1C85-69DBCA3F2EFB}"/>
              </a:ext>
            </a:extLst>
          </p:cNvPr>
          <p:cNvSpPr/>
          <p:nvPr/>
        </p:nvSpPr>
        <p:spPr>
          <a:xfrm>
            <a:off x="2534021" y="5780027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508" name="连接符: 肘形 507">
            <a:extLst>
              <a:ext uri="{FF2B5EF4-FFF2-40B4-BE49-F238E27FC236}">
                <a16:creationId xmlns:a16="http://schemas.microsoft.com/office/drawing/2014/main" id="{714918C9-4A62-6840-8EF7-05BE30129BF8}"/>
              </a:ext>
            </a:extLst>
          </p:cNvPr>
          <p:cNvCxnSpPr>
            <a:cxnSpLocks/>
            <a:stCxn id="497" idx="0"/>
            <a:endCxn id="500" idx="2"/>
          </p:cNvCxnSpPr>
          <p:nvPr/>
        </p:nvCxnSpPr>
        <p:spPr>
          <a:xfrm rot="16200000" flipV="1">
            <a:off x="1390023" y="4521779"/>
            <a:ext cx="288750" cy="811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连接符: 肘形 508">
            <a:extLst>
              <a:ext uri="{FF2B5EF4-FFF2-40B4-BE49-F238E27FC236}">
                <a16:creationId xmlns:a16="http://schemas.microsoft.com/office/drawing/2014/main" id="{12E94B60-2A4D-0EAC-E1E0-4B7B86B5B706}"/>
              </a:ext>
            </a:extLst>
          </p:cNvPr>
          <p:cNvCxnSpPr>
            <a:cxnSpLocks/>
            <a:stCxn id="497" idx="0"/>
            <a:endCxn id="501" idx="2"/>
          </p:cNvCxnSpPr>
          <p:nvPr/>
        </p:nvCxnSpPr>
        <p:spPr>
          <a:xfrm rot="16200000" flipV="1">
            <a:off x="1658780" y="4790536"/>
            <a:ext cx="288750" cy="2739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连接符: 肘形 509">
            <a:extLst>
              <a:ext uri="{FF2B5EF4-FFF2-40B4-BE49-F238E27FC236}">
                <a16:creationId xmlns:a16="http://schemas.microsoft.com/office/drawing/2014/main" id="{070354C1-8650-A672-E6F9-132AFE10B3D0}"/>
              </a:ext>
            </a:extLst>
          </p:cNvPr>
          <p:cNvCxnSpPr>
            <a:cxnSpLocks/>
            <a:stCxn id="497" idx="0"/>
            <a:endCxn id="502" idx="2"/>
          </p:cNvCxnSpPr>
          <p:nvPr/>
        </p:nvCxnSpPr>
        <p:spPr>
          <a:xfrm rot="5400000" flipH="1" flipV="1">
            <a:off x="1929888" y="4798118"/>
            <a:ext cx="284048" cy="2635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连接符: 肘形 510">
            <a:extLst>
              <a:ext uri="{FF2B5EF4-FFF2-40B4-BE49-F238E27FC236}">
                <a16:creationId xmlns:a16="http://schemas.microsoft.com/office/drawing/2014/main" id="{503C5D33-6996-1062-3EEB-6D7DB2ED2E2B}"/>
              </a:ext>
            </a:extLst>
          </p:cNvPr>
          <p:cNvCxnSpPr>
            <a:cxnSpLocks/>
            <a:stCxn id="497" idx="0"/>
            <a:endCxn id="503" idx="2"/>
          </p:cNvCxnSpPr>
          <p:nvPr/>
        </p:nvCxnSpPr>
        <p:spPr>
          <a:xfrm rot="5400000" flipH="1" flipV="1">
            <a:off x="2211953" y="4521133"/>
            <a:ext cx="278968" cy="8225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48E66155-3FD0-3FDA-8B13-5FED7FB1B98A}"/>
              </a:ext>
            </a:extLst>
          </p:cNvPr>
          <p:cNvCxnSpPr>
            <a:cxnSpLocks/>
            <a:stCxn id="497" idx="2"/>
            <a:endCxn id="504" idx="0"/>
          </p:cNvCxnSpPr>
          <p:nvPr/>
        </p:nvCxnSpPr>
        <p:spPr>
          <a:xfrm rot="5400000">
            <a:off x="1385795" y="5215891"/>
            <a:ext cx="304752" cy="80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9B6DE6EE-B2D2-9DB2-35E2-6B0E53E2251F}"/>
              </a:ext>
            </a:extLst>
          </p:cNvPr>
          <p:cNvCxnSpPr>
            <a:cxnSpLocks/>
            <a:stCxn id="497" idx="2"/>
            <a:endCxn id="505" idx="0"/>
          </p:cNvCxnSpPr>
          <p:nvPr/>
        </p:nvCxnSpPr>
        <p:spPr>
          <a:xfrm rot="5400000">
            <a:off x="1654552" y="5484648"/>
            <a:ext cx="304752" cy="2664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51D3A168-D4C1-C525-D8D1-F830CE045B5B}"/>
              </a:ext>
            </a:extLst>
          </p:cNvPr>
          <p:cNvCxnSpPr>
            <a:cxnSpLocks/>
            <a:stCxn id="497" idx="2"/>
            <a:endCxn id="506" idx="0"/>
          </p:cNvCxnSpPr>
          <p:nvPr/>
        </p:nvCxnSpPr>
        <p:spPr>
          <a:xfrm rot="16200000" flipH="1">
            <a:off x="1920957" y="5484684"/>
            <a:ext cx="309454" cy="271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832B427F-5A37-C46A-0457-4A10980752A8}"/>
              </a:ext>
            </a:extLst>
          </p:cNvPr>
          <p:cNvCxnSpPr>
            <a:cxnSpLocks/>
            <a:stCxn id="497" idx="2"/>
            <a:endCxn id="507" idx="0"/>
          </p:cNvCxnSpPr>
          <p:nvPr/>
        </p:nvCxnSpPr>
        <p:spPr>
          <a:xfrm rot="16200000" flipH="1">
            <a:off x="2197943" y="5207699"/>
            <a:ext cx="314534" cy="830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左大括号 67">
            <a:extLst>
              <a:ext uri="{FF2B5EF4-FFF2-40B4-BE49-F238E27FC236}">
                <a16:creationId xmlns:a16="http://schemas.microsoft.com/office/drawing/2014/main" id="{B4B30CE5-7AEA-95A0-E110-44516FEAF19C}"/>
              </a:ext>
            </a:extLst>
          </p:cNvPr>
          <p:cNvSpPr/>
          <p:nvPr/>
        </p:nvSpPr>
        <p:spPr>
          <a:xfrm rot="5400000">
            <a:off x="1836556" y="3248649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左大括号 68">
            <a:extLst>
              <a:ext uri="{FF2B5EF4-FFF2-40B4-BE49-F238E27FC236}">
                <a16:creationId xmlns:a16="http://schemas.microsoft.com/office/drawing/2014/main" id="{E7DE6C0E-767B-108C-ABB5-497928A27AF8}"/>
              </a:ext>
            </a:extLst>
          </p:cNvPr>
          <p:cNvSpPr/>
          <p:nvPr/>
        </p:nvSpPr>
        <p:spPr>
          <a:xfrm rot="16200000">
            <a:off x="1867032" y="5019532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E5AE8AB-818C-15A4-DEED-B767D162565C}"/>
              </a:ext>
            </a:extLst>
          </p:cNvPr>
          <p:cNvSpPr/>
          <p:nvPr/>
        </p:nvSpPr>
        <p:spPr>
          <a:xfrm>
            <a:off x="3399449" y="453943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94E8415D-B213-344D-9CB9-AAD4D8BF72DA}"/>
              </a:ext>
            </a:extLst>
          </p:cNvPr>
          <p:cNvCxnSpPr>
            <a:cxnSpLocks/>
            <a:stCxn id="68" idx="1"/>
            <a:endCxn id="70" idx="0"/>
          </p:cNvCxnSpPr>
          <p:nvPr/>
        </p:nvCxnSpPr>
        <p:spPr>
          <a:xfrm rot="16200000" flipH="1">
            <a:off x="2664483" y="3568223"/>
            <a:ext cx="243682" cy="1698750"/>
          </a:xfrm>
          <a:prstGeom prst="bentConnector3">
            <a:avLst>
              <a:gd name="adj1" fmla="val -368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3BFE025B-989D-BFD6-9323-7BEE265F600B}"/>
              </a:ext>
            </a:extLst>
          </p:cNvPr>
          <p:cNvCxnSpPr>
            <a:cxnSpLocks/>
            <a:stCxn id="69" idx="1"/>
            <a:endCxn id="74" idx="2"/>
          </p:cNvCxnSpPr>
          <p:nvPr/>
        </p:nvCxnSpPr>
        <p:spPr>
          <a:xfrm rot="5400000" flipH="1" flipV="1">
            <a:off x="2683792" y="5315518"/>
            <a:ext cx="235540" cy="1668274"/>
          </a:xfrm>
          <a:prstGeom prst="bentConnector3">
            <a:avLst>
              <a:gd name="adj1" fmla="val -457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D085EC04-CE3A-60AA-DFD7-B92FD8FBF1F9}"/>
              </a:ext>
            </a:extLst>
          </p:cNvPr>
          <p:cNvSpPr/>
          <p:nvPr/>
        </p:nvSpPr>
        <p:spPr>
          <a:xfrm>
            <a:off x="3399449" y="577024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628338A-C54E-E735-FCC6-0E12B45F32F0}"/>
              </a:ext>
            </a:extLst>
          </p:cNvPr>
          <p:cNvSpPr/>
          <p:nvPr/>
        </p:nvSpPr>
        <p:spPr>
          <a:xfrm>
            <a:off x="3399449" y="513787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F0C82C86-430B-CB8B-0555-03A25923D31C}"/>
              </a:ext>
            </a:extLst>
          </p:cNvPr>
          <p:cNvCxnSpPr>
            <a:cxnSpLocks/>
            <a:stCxn id="70" idx="2"/>
            <a:endCxn id="76" idx="0"/>
          </p:cNvCxnSpPr>
          <p:nvPr/>
        </p:nvCxnSpPr>
        <p:spPr>
          <a:xfrm>
            <a:off x="3635699" y="4801079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BE4DC708-C0CC-A494-83A1-1EC7D7C922FB}"/>
              </a:ext>
            </a:extLst>
          </p:cNvPr>
          <p:cNvCxnSpPr>
            <a:cxnSpLocks/>
            <a:stCxn id="74" idx="0"/>
            <a:endCxn id="76" idx="2"/>
          </p:cNvCxnSpPr>
          <p:nvPr/>
        </p:nvCxnSpPr>
        <p:spPr>
          <a:xfrm flipV="1">
            <a:off x="3635699" y="5399519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A341176F-755B-D4B3-AC7B-C1F36582CB1F}"/>
              </a:ext>
            </a:extLst>
          </p:cNvPr>
          <p:cNvSpPr/>
          <p:nvPr/>
        </p:nvSpPr>
        <p:spPr>
          <a:xfrm>
            <a:off x="4078849" y="5176306"/>
            <a:ext cx="2774316" cy="97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</a:rPr>
              <a:t>Stage1~4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r>
              <a:rPr lang="fr-FR" altLang="zh-CN" sz="1200" dirty="0">
                <a:solidFill>
                  <a:schemeClr val="tx1"/>
                </a:solidFill>
              </a:rPr>
              <a:t>SupervisedAttentionModul</a:t>
            </a:r>
            <a:r>
              <a:rPr lang="en-US" altLang="zh-CN" sz="1200" dirty="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12C525D-8712-0752-AF2D-A663E84F7318}"/>
              </a:ext>
            </a:extLst>
          </p:cNvPr>
          <p:cNvSpPr/>
          <p:nvPr/>
        </p:nvSpPr>
        <p:spPr>
          <a:xfrm>
            <a:off x="4112796" y="469620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D247315-CC85-6539-2287-E32274992075}"/>
              </a:ext>
            </a:extLst>
          </p:cNvPr>
          <p:cNvSpPr/>
          <p:nvPr/>
        </p:nvSpPr>
        <p:spPr>
          <a:xfrm>
            <a:off x="4855493" y="4695981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65996A3-6087-D963-323C-16BFC0935978}"/>
              </a:ext>
            </a:extLst>
          </p:cNvPr>
          <p:cNvSpPr/>
          <p:nvPr/>
        </p:nvSpPr>
        <p:spPr>
          <a:xfrm>
            <a:off x="5612329" y="4695981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EB7826E-DB07-FD47-48FD-2B240299450B}"/>
              </a:ext>
            </a:extLst>
          </p:cNvPr>
          <p:cNvSpPr/>
          <p:nvPr/>
        </p:nvSpPr>
        <p:spPr>
          <a:xfrm>
            <a:off x="6338323" y="468985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左大括号 87">
            <a:extLst>
              <a:ext uri="{FF2B5EF4-FFF2-40B4-BE49-F238E27FC236}">
                <a16:creationId xmlns:a16="http://schemas.microsoft.com/office/drawing/2014/main" id="{0F21B8BB-4742-30C4-91B0-D873FF36310D}"/>
              </a:ext>
            </a:extLst>
          </p:cNvPr>
          <p:cNvSpPr/>
          <p:nvPr/>
        </p:nvSpPr>
        <p:spPr>
          <a:xfrm rot="5400000">
            <a:off x="5322294" y="3130973"/>
            <a:ext cx="223503" cy="2838243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F51C70BD-D1B5-FD0D-1053-ACE04C5A85C8}"/>
              </a:ext>
            </a:extLst>
          </p:cNvPr>
          <p:cNvCxnSpPr>
            <a:cxnSpLocks/>
            <a:stCxn id="76" idx="3"/>
            <a:endCxn id="88" idx="1"/>
          </p:cNvCxnSpPr>
          <p:nvPr/>
        </p:nvCxnSpPr>
        <p:spPr>
          <a:xfrm flipV="1">
            <a:off x="3871949" y="4438343"/>
            <a:ext cx="1562096" cy="830356"/>
          </a:xfrm>
          <a:prstGeom prst="bentConnector4">
            <a:avLst>
              <a:gd name="adj1" fmla="val 6423"/>
              <a:gd name="adj2" fmla="val 1280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FF0E923-2DBB-FC4A-22D3-28D90641ED06}"/>
              </a:ext>
            </a:extLst>
          </p:cNvPr>
          <p:cNvCxnSpPr>
            <a:cxnSpLocks/>
            <a:stCxn id="82" idx="2"/>
            <a:endCxn id="97" idx="0"/>
          </p:cNvCxnSpPr>
          <p:nvPr/>
        </p:nvCxnSpPr>
        <p:spPr>
          <a:xfrm>
            <a:off x="4349046" y="4957842"/>
            <a:ext cx="4319" cy="422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C56ECDE4-843C-C349-3E0F-616BD83263C0}"/>
              </a:ext>
            </a:extLst>
          </p:cNvPr>
          <p:cNvCxnSpPr>
            <a:cxnSpLocks/>
            <a:stCxn id="83" idx="2"/>
            <a:endCxn id="103" idx="0"/>
          </p:cNvCxnSpPr>
          <p:nvPr/>
        </p:nvCxnSpPr>
        <p:spPr>
          <a:xfrm>
            <a:off x="5091743" y="4957621"/>
            <a:ext cx="0" cy="420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432462A5-D23D-743E-5CDD-EA95B5B9BCBC}"/>
              </a:ext>
            </a:extLst>
          </p:cNvPr>
          <p:cNvCxnSpPr>
            <a:cxnSpLocks/>
            <a:stCxn id="85" idx="2"/>
            <a:endCxn id="104" idx="0"/>
          </p:cNvCxnSpPr>
          <p:nvPr/>
        </p:nvCxnSpPr>
        <p:spPr>
          <a:xfrm>
            <a:off x="5848579" y="4957621"/>
            <a:ext cx="4285" cy="416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B98F468-C13C-940B-F360-B67C87FC9AC0}"/>
              </a:ext>
            </a:extLst>
          </p:cNvPr>
          <p:cNvCxnSpPr>
            <a:cxnSpLocks/>
            <a:stCxn id="86" idx="2"/>
            <a:endCxn id="105" idx="0"/>
          </p:cNvCxnSpPr>
          <p:nvPr/>
        </p:nvCxnSpPr>
        <p:spPr>
          <a:xfrm>
            <a:off x="6574573" y="4951496"/>
            <a:ext cx="0" cy="42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BE811F38-D4FD-D181-9A30-69B3364D1032}"/>
              </a:ext>
            </a:extLst>
          </p:cNvPr>
          <p:cNvSpPr/>
          <p:nvPr/>
        </p:nvSpPr>
        <p:spPr>
          <a:xfrm>
            <a:off x="4117115" y="53800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5DA141C-EDB8-7385-B0D7-B025C4821E1D}"/>
              </a:ext>
            </a:extLst>
          </p:cNvPr>
          <p:cNvSpPr/>
          <p:nvPr/>
        </p:nvSpPr>
        <p:spPr>
          <a:xfrm>
            <a:off x="4855493" y="537803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B040F4EB-5A65-95AF-5B17-B068246D20E9}"/>
              </a:ext>
            </a:extLst>
          </p:cNvPr>
          <p:cNvSpPr/>
          <p:nvPr/>
        </p:nvSpPr>
        <p:spPr>
          <a:xfrm>
            <a:off x="5616614" y="537445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379FD9B-51C4-BA81-56D7-03BA73D7FBC7}"/>
              </a:ext>
            </a:extLst>
          </p:cNvPr>
          <p:cNvSpPr/>
          <p:nvPr/>
        </p:nvSpPr>
        <p:spPr>
          <a:xfrm>
            <a:off x="6338323" y="537469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BB32F0AC-4790-1649-6117-FFD3B179745F}"/>
              </a:ext>
            </a:extLst>
          </p:cNvPr>
          <p:cNvCxnSpPr>
            <a:cxnSpLocks/>
            <a:stCxn id="97" idx="3"/>
            <a:endCxn id="103" idx="1"/>
          </p:cNvCxnSpPr>
          <p:nvPr/>
        </p:nvCxnSpPr>
        <p:spPr>
          <a:xfrm flipV="1">
            <a:off x="4589615" y="5508859"/>
            <a:ext cx="265878" cy="2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65DE58B8-E9B6-96BD-9B89-9E159826C08D}"/>
              </a:ext>
            </a:extLst>
          </p:cNvPr>
          <p:cNvCxnSpPr>
            <a:cxnSpLocks/>
            <a:stCxn id="103" idx="3"/>
            <a:endCxn id="104" idx="1"/>
          </p:cNvCxnSpPr>
          <p:nvPr/>
        </p:nvCxnSpPr>
        <p:spPr>
          <a:xfrm flipV="1">
            <a:off x="5327993" y="5505273"/>
            <a:ext cx="288621" cy="3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5AA58EB-1F29-9AAF-48C0-FADE635BD921}"/>
              </a:ext>
            </a:extLst>
          </p:cNvPr>
          <p:cNvCxnSpPr>
            <a:cxnSpLocks/>
            <a:endCxn id="105" idx="1"/>
          </p:cNvCxnSpPr>
          <p:nvPr/>
        </p:nvCxnSpPr>
        <p:spPr>
          <a:xfrm>
            <a:off x="6084829" y="5505273"/>
            <a:ext cx="253494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F6E71CBB-B60A-8352-142F-8CD9809F41B8}"/>
              </a:ext>
            </a:extLst>
          </p:cNvPr>
          <p:cNvSpPr/>
          <p:nvPr/>
        </p:nvSpPr>
        <p:spPr>
          <a:xfrm>
            <a:off x="7119043" y="5393521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A21CE425-8F66-3D96-F50B-2E86DADCE5D6}"/>
              </a:ext>
            </a:extLst>
          </p:cNvPr>
          <p:cNvCxnSpPr>
            <a:cxnSpLocks/>
            <a:stCxn id="105" idx="3"/>
            <a:endCxn id="109" idx="1"/>
          </p:cNvCxnSpPr>
          <p:nvPr/>
        </p:nvCxnSpPr>
        <p:spPr>
          <a:xfrm flipV="1">
            <a:off x="6810823" y="5505273"/>
            <a:ext cx="308220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32879136-0805-4D20-AB75-8AC0AD46C001}"/>
              </a:ext>
            </a:extLst>
          </p:cNvPr>
          <p:cNvCxnSpPr>
            <a:cxnSpLocks/>
            <a:stCxn id="109" idx="0"/>
            <a:endCxn id="112" idx="2"/>
          </p:cNvCxnSpPr>
          <p:nvPr/>
        </p:nvCxnSpPr>
        <p:spPr>
          <a:xfrm flipH="1" flipV="1">
            <a:off x="7529246" y="5071695"/>
            <a:ext cx="340" cy="32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BF206A1A-CDB8-4E34-81B7-12AF57BF6523}"/>
              </a:ext>
            </a:extLst>
          </p:cNvPr>
          <p:cNvSpPr txBox="1"/>
          <p:nvPr/>
        </p:nvSpPr>
        <p:spPr>
          <a:xfrm>
            <a:off x="6929379" y="4494614"/>
            <a:ext cx="119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GT</a:t>
            </a:r>
          </a:p>
          <a:p>
            <a:pPr algn="ctr"/>
            <a:r>
              <a:rPr lang="zh-CN" altLang="en-US" sz="1050" dirty="0"/>
              <a:t>↓</a:t>
            </a:r>
            <a:endParaRPr lang="en-US" altLang="zh-CN" sz="1050" dirty="0"/>
          </a:p>
          <a:p>
            <a:pPr algn="ctr"/>
            <a:r>
              <a:rPr lang="zh-CN" altLang="en-US" sz="1050" dirty="0"/>
              <a:t>主</a:t>
            </a:r>
            <a:r>
              <a:rPr lang="en-US" altLang="zh-CN" sz="1050" dirty="0"/>
              <a:t>loss</a:t>
            </a:r>
            <a:r>
              <a:rPr lang="zh-CN" altLang="en-US" sz="1050" dirty="0"/>
              <a:t>： </a:t>
            </a:r>
            <a:r>
              <a:rPr lang="fr-FR" altLang="zh-CN" sz="1050" dirty="0"/>
              <a:t>BCE+Dice </a:t>
            </a:r>
            <a:endParaRPr lang="en-US" altLang="zh-CN" sz="1050" dirty="0">
              <a:solidFill>
                <a:schemeClr val="tx1"/>
              </a:solidFill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08000D3-B625-F643-B224-8C9D8C95418A}"/>
              </a:ext>
            </a:extLst>
          </p:cNvPr>
          <p:cNvSpPr/>
          <p:nvPr/>
        </p:nvSpPr>
        <p:spPr>
          <a:xfrm>
            <a:off x="23371" y="4013593"/>
            <a:ext cx="8414902" cy="2543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D5BC70C-D6BE-0BCE-3D5E-9347DEE7F158}"/>
              </a:ext>
            </a:extLst>
          </p:cNvPr>
          <p:cNvSpPr txBox="1"/>
          <p:nvPr/>
        </p:nvSpPr>
        <p:spPr>
          <a:xfrm>
            <a:off x="3333204" y="47980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CC993B5-3675-4C17-4604-D96C3FC83B59}"/>
              </a:ext>
            </a:extLst>
          </p:cNvPr>
          <p:cNvSpPr txBox="1"/>
          <p:nvPr/>
        </p:nvSpPr>
        <p:spPr>
          <a:xfrm>
            <a:off x="3333204" y="5536432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DAAC4C5-1817-C8CC-1066-A5ECAB138449}"/>
              </a:ext>
            </a:extLst>
          </p:cNvPr>
          <p:cNvSpPr/>
          <p:nvPr/>
        </p:nvSpPr>
        <p:spPr>
          <a:xfrm>
            <a:off x="23371" y="972927"/>
            <a:ext cx="8378349" cy="2543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E435F7C-7068-68EB-AACA-123C866BF7E5}"/>
              </a:ext>
            </a:extLst>
          </p:cNvPr>
          <p:cNvSpPr txBox="1"/>
          <p:nvPr/>
        </p:nvSpPr>
        <p:spPr>
          <a:xfrm>
            <a:off x="-63492" y="3683226"/>
            <a:ext cx="3803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推理时：仅保留主路径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6B67F48C-3C29-24D3-B640-9396FE37AF61}"/>
              </a:ext>
            </a:extLst>
          </p:cNvPr>
          <p:cNvSpPr txBox="1"/>
          <p:nvPr/>
        </p:nvSpPr>
        <p:spPr>
          <a:xfrm>
            <a:off x="3075471" y="3590119"/>
            <a:ext cx="198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作用于编码器</a:t>
            </a:r>
            <a:r>
              <a:rPr lang="en-US" altLang="zh-CN" sz="1400" dirty="0"/>
              <a:t>4</a:t>
            </a:r>
            <a:r>
              <a:rPr lang="zh-CN" altLang="en-US" sz="1400" dirty="0"/>
              <a:t>层输出</a:t>
            </a:r>
          </a:p>
        </p:txBody>
      </p:sp>
      <p:sp>
        <p:nvSpPr>
          <p:cNvPr id="119" name="箭头: 下 118">
            <a:extLst>
              <a:ext uri="{FF2B5EF4-FFF2-40B4-BE49-F238E27FC236}">
                <a16:creationId xmlns:a16="http://schemas.microsoft.com/office/drawing/2014/main" id="{A92D29B7-F270-003A-0794-C86263EE82E8}"/>
              </a:ext>
            </a:extLst>
          </p:cNvPr>
          <p:cNvSpPr/>
          <p:nvPr/>
        </p:nvSpPr>
        <p:spPr>
          <a:xfrm>
            <a:off x="2771800" y="3615244"/>
            <a:ext cx="275790" cy="28669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3F534C2F-8EE4-AC74-588E-18412DF5BB9E}"/>
              </a:ext>
            </a:extLst>
          </p:cNvPr>
          <p:cNvSpPr txBox="1"/>
          <p:nvPr/>
        </p:nvSpPr>
        <p:spPr>
          <a:xfrm>
            <a:off x="8661000" y="1148071"/>
            <a:ext cx="3264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</a:rPr>
              <a:t>偶：不随时相交换变号</a:t>
            </a:r>
            <a:br>
              <a:rPr lang="en-US" altLang="zh-CN" sz="1800" dirty="0">
                <a:solidFill>
                  <a:schemeClr val="tx1"/>
                </a:solidFill>
              </a:rPr>
            </a:br>
            <a:r>
              <a:rPr lang="zh-CN" altLang="en-US" sz="1800" dirty="0">
                <a:solidFill>
                  <a:schemeClr val="tx1"/>
                </a:solidFill>
              </a:rPr>
              <a:t>奇：时相交换后反号</a:t>
            </a:r>
            <a:endParaRPr lang="zh-CN" altLang="en-US" dirty="0"/>
          </a:p>
        </p:txBody>
      </p:sp>
      <p:graphicFrame>
        <p:nvGraphicFramePr>
          <p:cNvPr id="135" name="表格 134">
            <a:extLst>
              <a:ext uri="{FF2B5EF4-FFF2-40B4-BE49-F238E27FC236}">
                <a16:creationId xmlns:a16="http://schemas.microsoft.com/office/drawing/2014/main" id="{4147EDED-0838-CD70-6D12-1FBBD36D4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848191"/>
              </p:ext>
            </p:extLst>
          </p:nvPr>
        </p:nvGraphicFramePr>
        <p:xfrm>
          <a:off x="8503471" y="1851262"/>
          <a:ext cx="3641880" cy="26365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00641">
                  <a:extLst>
                    <a:ext uri="{9D8B030D-6E8A-4147-A177-3AD203B41FA5}">
                      <a16:colId xmlns:a16="http://schemas.microsoft.com/office/drawing/2014/main" val="3621146876"/>
                    </a:ext>
                  </a:extLst>
                </a:gridCol>
                <a:gridCol w="1171414">
                  <a:extLst>
                    <a:ext uri="{9D8B030D-6E8A-4147-A177-3AD203B41FA5}">
                      <a16:colId xmlns:a16="http://schemas.microsoft.com/office/drawing/2014/main" val="442540730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649240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100"/>
                        <a:t>偶知识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它表达什么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为什么交换后不变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58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边界变化</a:t>
                      </a:r>
                      <a:r>
                        <a:rPr lang="zh-CN" altLang="en-US" sz="1100"/>
                        <a:t> </a:t>
                      </a:r>
                      <a:r>
                        <a:rPr lang="fr-FR" sz="1100"/>
                        <a:t>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两个时相的物体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边界有多大差异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只关心“差多少”，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不关心谁先谁后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196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局部关系变化</a:t>
                      </a:r>
                      <a:r>
                        <a:rPr lang="zh-CN" altLang="en-US" sz="1100"/>
                        <a:t> </a:t>
                      </a:r>
                      <a:r>
                        <a:rPr lang="fr-FR" sz="1100"/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邻近像素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区域是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否仍属于同一实例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用绝对关系差异，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交换前后相同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181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几何变化</a:t>
                      </a:r>
                      <a:r>
                        <a:rPr lang="zh-CN" altLang="en-US" sz="1100"/>
                        <a:t> </a:t>
                      </a:r>
                      <a:r>
                        <a:rPr lang="fr-FR" sz="1100"/>
                        <a:t>Geometry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物体大小、形状、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内部结构等变化程度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也是绝对差异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833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稳定结构</a:t>
                      </a:r>
                      <a:r>
                        <a:rPr lang="zh-CN" altLang="en-US" sz="1100"/>
                        <a:t> </a:t>
                      </a:r>
                      <a:r>
                        <a:rPr lang="fr-FR" sz="1100"/>
                        <a:t>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两个时相都存在、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且结构基本一致的区域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“两边一致”</a:t>
                      </a:r>
                      <a:endParaRPr lang="en-US" altLang="zh-CN" sz="1100" dirty="0"/>
                    </a:p>
                    <a:p>
                      <a:r>
                        <a:rPr lang="zh-CN" altLang="en-US" sz="1100" dirty="0"/>
                        <a:t>本身没有方向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157379"/>
                  </a:ext>
                </a:extLst>
              </a:tr>
            </a:tbl>
          </a:graphicData>
        </a:graphic>
      </p:graphicFrame>
      <p:graphicFrame>
        <p:nvGraphicFramePr>
          <p:cNvPr id="137" name="表格 136">
            <a:extLst>
              <a:ext uri="{FF2B5EF4-FFF2-40B4-BE49-F238E27FC236}">
                <a16:creationId xmlns:a16="http://schemas.microsoft.com/office/drawing/2014/main" id="{23822491-ACFC-E654-75ED-A5F7B2C87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614157"/>
              </p:ext>
            </p:extLst>
          </p:nvPr>
        </p:nvGraphicFramePr>
        <p:xfrm>
          <a:off x="8539316" y="4651832"/>
          <a:ext cx="3563424" cy="17068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677225">
                  <a:extLst>
                    <a:ext uri="{9D8B030D-6E8A-4147-A177-3AD203B41FA5}">
                      <a16:colId xmlns:a16="http://schemas.microsoft.com/office/drawing/2014/main" val="58907602"/>
                    </a:ext>
                  </a:extLst>
                </a:gridCol>
                <a:gridCol w="2886199">
                  <a:extLst>
                    <a:ext uri="{9D8B030D-6E8A-4147-A177-3AD203B41FA5}">
                      <a16:colId xmlns:a16="http://schemas.microsoft.com/office/drawing/2014/main" val="2385888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100"/>
                        <a:t>奇知识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表达什么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80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有向边界变化</a:t>
                      </a:r>
                      <a:endParaRPr lang="zh-CN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边界是 </a:t>
                      </a:r>
                      <a:r>
                        <a:rPr lang="fr-FR" sz="1100" dirty="0"/>
                        <a:t>T2 </a:t>
                      </a:r>
                      <a:r>
                        <a:rPr lang="zh-CN" altLang="en-US" sz="1100" dirty="0"/>
                        <a:t>新增，还是 </a:t>
                      </a:r>
                      <a:r>
                        <a:rPr lang="fr-FR" sz="1100" dirty="0"/>
                        <a:t>T1 </a:t>
                      </a:r>
                      <a:r>
                        <a:rPr lang="zh-CN" altLang="en-US" sz="1100" dirty="0"/>
                        <a:t>原有部分消失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764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有向局部关系变化</a:t>
                      </a:r>
                      <a:endParaRPr lang="zh-CN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局部实例关系是增强还是减弱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781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有向几何变化</a:t>
                      </a:r>
                      <a:endParaRPr lang="zh-CN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物体结构是增大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增强还是减小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减弱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321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24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fr-FR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ED39EF-3DD3-8D18-ABCC-DC607D78E0F8}"/>
              </a:ext>
            </a:extLst>
          </p:cNvPr>
          <p:cNvSpPr txBox="1"/>
          <p:nvPr/>
        </p:nvSpPr>
        <p:spPr>
          <a:xfrm>
            <a:off x="111000" y="819000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SYSU-CD-256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008C94A-23DB-2DD8-5E62-B56E57B1C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0646"/>
              </p:ext>
            </p:extLst>
          </p:nvPr>
        </p:nvGraphicFramePr>
        <p:xfrm>
          <a:off x="381603" y="1188332"/>
          <a:ext cx="7433864" cy="2150668"/>
        </p:xfrm>
        <a:graphic>
          <a:graphicData uri="http://schemas.openxmlformats.org/drawingml/2006/table">
            <a:tbl>
              <a:tblPr/>
              <a:tblGrid>
                <a:gridCol w="979303">
                  <a:extLst>
                    <a:ext uri="{9D8B030D-6E8A-4147-A177-3AD203B41FA5}">
                      <a16:colId xmlns:a16="http://schemas.microsoft.com/office/drawing/2014/main" val="1068380530"/>
                    </a:ext>
                  </a:extLst>
                </a:gridCol>
                <a:gridCol w="1139641">
                  <a:extLst>
                    <a:ext uri="{9D8B030D-6E8A-4147-A177-3AD203B41FA5}">
                      <a16:colId xmlns:a16="http://schemas.microsoft.com/office/drawing/2014/main" val="3013131933"/>
                    </a:ext>
                  </a:extLst>
                </a:gridCol>
                <a:gridCol w="871353">
                  <a:extLst>
                    <a:ext uri="{9D8B030D-6E8A-4147-A177-3AD203B41FA5}">
                      <a16:colId xmlns:a16="http://schemas.microsoft.com/office/drawing/2014/main" val="2600734308"/>
                    </a:ext>
                  </a:extLst>
                </a:gridCol>
                <a:gridCol w="764991">
                  <a:extLst>
                    <a:ext uri="{9D8B030D-6E8A-4147-A177-3AD203B41FA5}">
                      <a16:colId xmlns:a16="http://schemas.microsoft.com/office/drawing/2014/main" val="234289519"/>
                    </a:ext>
                  </a:extLst>
                </a:gridCol>
                <a:gridCol w="560203">
                  <a:extLst>
                    <a:ext uri="{9D8B030D-6E8A-4147-A177-3AD203B41FA5}">
                      <a16:colId xmlns:a16="http://schemas.microsoft.com/office/drawing/2014/main" val="2937248823"/>
                    </a:ext>
                  </a:extLst>
                </a:gridCol>
                <a:gridCol w="736415">
                  <a:extLst>
                    <a:ext uri="{9D8B030D-6E8A-4147-A177-3AD203B41FA5}">
                      <a16:colId xmlns:a16="http://schemas.microsoft.com/office/drawing/2014/main" val="2257337390"/>
                    </a:ext>
                  </a:extLst>
                </a:gridCol>
                <a:gridCol w="537978">
                  <a:extLst>
                    <a:ext uri="{9D8B030D-6E8A-4147-A177-3AD203B41FA5}">
                      <a16:colId xmlns:a16="http://schemas.microsoft.com/office/drawing/2014/main" val="1587872223"/>
                    </a:ext>
                  </a:extLst>
                </a:gridCol>
                <a:gridCol w="539565">
                  <a:extLst>
                    <a:ext uri="{9D8B030D-6E8A-4147-A177-3AD203B41FA5}">
                      <a16:colId xmlns:a16="http://schemas.microsoft.com/office/drawing/2014/main" val="3210170"/>
                    </a:ext>
                  </a:extLst>
                </a:gridCol>
                <a:gridCol w="537978">
                  <a:extLst>
                    <a:ext uri="{9D8B030D-6E8A-4147-A177-3AD203B41FA5}">
                      <a16:colId xmlns:a16="http://schemas.microsoft.com/office/drawing/2014/main" val="1600864124"/>
                    </a:ext>
                  </a:extLst>
                </a:gridCol>
                <a:gridCol w="766437">
                  <a:extLst>
                    <a:ext uri="{9D8B030D-6E8A-4147-A177-3AD203B41FA5}">
                      <a16:colId xmlns:a16="http://schemas.microsoft.com/office/drawing/2014/main" val="4159168291"/>
                    </a:ext>
                  </a:extLst>
                </a:gridCol>
              </a:tblGrid>
              <a:tr h="472083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b="1" dirty="0">
                          <a:effectLst/>
                        </a:rPr>
                        <a:t>实验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b="1">
                          <a:effectLst/>
                        </a:rPr>
                        <a:t>教师 </a:t>
                      </a:r>
                      <a:r>
                        <a:rPr lang="fr-FR" sz="1050" b="1">
                          <a:effectLst/>
                        </a:rPr>
                        <a:t>cache </a:t>
                      </a:r>
                      <a:r>
                        <a:rPr lang="zh-CN" altLang="en-US" sz="1050" b="1">
                          <a:effectLst/>
                        </a:rPr>
                        <a:t>类型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Params (M)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FLOPs (G)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Recall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 dirty="0">
                          <a:effectLst/>
                        </a:rPr>
                        <a:t>Precision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OA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F1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IoU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Kappa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32274"/>
                  </a:ext>
                </a:extLst>
              </a:tr>
              <a:tr h="373585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clean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dirty="0">
                          <a:effectLst/>
                        </a:rPr>
                        <a:t>无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79.49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85.69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92.03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82.48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70.19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77.33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000277"/>
                  </a:ext>
                </a:extLst>
              </a:tr>
              <a:tr h="441502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DINOv3 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80.43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84.61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91.94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82.47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70.17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77.24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697575"/>
                  </a:ext>
                </a:extLst>
              </a:tr>
              <a:tr h="487621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2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050" dirty="0">
                          <a:effectLst/>
                        </a:rPr>
                        <a:t>DINOv3 </a:t>
                      </a:r>
                      <a:r>
                        <a:rPr lang="fr-FR" sz="1050" dirty="0">
                          <a:effectLst/>
                        </a:rPr>
                        <a:t>+ SAM2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77.66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86.67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91.91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81.91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69.37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76.73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803718"/>
                  </a:ext>
                </a:extLst>
              </a:tr>
              <a:tr h="37587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3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altLang="zh-CN" sz="1050" dirty="0">
                          <a:effectLst/>
                        </a:rPr>
                        <a:t>SAM2</a:t>
                      </a:r>
                      <a:endParaRPr lang="fr-FR" sz="1050" dirty="0">
                        <a:effectLst/>
                      </a:endParaRP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81.04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85.55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92.30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83.23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71.28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78.24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96794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F393F44C-BDFF-259E-AECA-5F8E07D64A45}"/>
              </a:ext>
            </a:extLst>
          </p:cNvPr>
          <p:cNvSpPr txBox="1"/>
          <p:nvPr/>
        </p:nvSpPr>
        <p:spPr>
          <a:xfrm>
            <a:off x="2857" y="3483203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WHU</a:t>
            </a:r>
            <a:r>
              <a:rPr lang="zh-CN" altLang="en-US" dirty="0"/>
              <a:t>-CD-256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A7B407E-4FC5-9ECA-8637-DC75D2F34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236390"/>
              </p:ext>
            </p:extLst>
          </p:nvPr>
        </p:nvGraphicFramePr>
        <p:xfrm>
          <a:off x="381603" y="3995469"/>
          <a:ext cx="7433864" cy="2150668"/>
        </p:xfrm>
        <a:graphic>
          <a:graphicData uri="http://schemas.openxmlformats.org/drawingml/2006/table">
            <a:tbl>
              <a:tblPr/>
              <a:tblGrid>
                <a:gridCol w="979303">
                  <a:extLst>
                    <a:ext uri="{9D8B030D-6E8A-4147-A177-3AD203B41FA5}">
                      <a16:colId xmlns:a16="http://schemas.microsoft.com/office/drawing/2014/main" val="65165224"/>
                    </a:ext>
                  </a:extLst>
                </a:gridCol>
                <a:gridCol w="1139641">
                  <a:extLst>
                    <a:ext uri="{9D8B030D-6E8A-4147-A177-3AD203B41FA5}">
                      <a16:colId xmlns:a16="http://schemas.microsoft.com/office/drawing/2014/main" val="2270968538"/>
                    </a:ext>
                  </a:extLst>
                </a:gridCol>
                <a:gridCol w="871353">
                  <a:extLst>
                    <a:ext uri="{9D8B030D-6E8A-4147-A177-3AD203B41FA5}">
                      <a16:colId xmlns:a16="http://schemas.microsoft.com/office/drawing/2014/main" val="595817976"/>
                    </a:ext>
                  </a:extLst>
                </a:gridCol>
                <a:gridCol w="764991">
                  <a:extLst>
                    <a:ext uri="{9D8B030D-6E8A-4147-A177-3AD203B41FA5}">
                      <a16:colId xmlns:a16="http://schemas.microsoft.com/office/drawing/2014/main" val="671804728"/>
                    </a:ext>
                  </a:extLst>
                </a:gridCol>
                <a:gridCol w="560203">
                  <a:extLst>
                    <a:ext uri="{9D8B030D-6E8A-4147-A177-3AD203B41FA5}">
                      <a16:colId xmlns:a16="http://schemas.microsoft.com/office/drawing/2014/main" val="1196346270"/>
                    </a:ext>
                  </a:extLst>
                </a:gridCol>
                <a:gridCol w="736415">
                  <a:extLst>
                    <a:ext uri="{9D8B030D-6E8A-4147-A177-3AD203B41FA5}">
                      <a16:colId xmlns:a16="http://schemas.microsoft.com/office/drawing/2014/main" val="1886846488"/>
                    </a:ext>
                  </a:extLst>
                </a:gridCol>
                <a:gridCol w="537978">
                  <a:extLst>
                    <a:ext uri="{9D8B030D-6E8A-4147-A177-3AD203B41FA5}">
                      <a16:colId xmlns:a16="http://schemas.microsoft.com/office/drawing/2014/main" val="562496261"/>
                    </a:ext>
                  </a:extLst>
                </a:gridCol>
                <a:gridCol w="539565">
                  <a:extLst>
                    <a:ext uri="{9D8B030D-6E8A-4147-A177-3AD203B41FA5}">
                      <a16:colId xmlns:a16="http://schemas.microsoft.com/office/drawing/2014/main" val="1001366576"/>
                    </a:ext>
                  </a:extLst>
                </a:gridCol>
                <a:gridCol w="537978">
                  <a:extLst>
                    <a:ext uri="{9D8B030D-6E8A-4147-A177-3AD203B41FA5}">
                      <a16:colId xmlns:a16="http://schemas.microsoft.com/office/drawing/2014/main" val="1978533307"/>
                    </a:ext>
                  </a:extLst>
                </a:gridCol>
                <a:gridCol w="766437">
                  <a:extLst>
                    <a:ext uri="{9D8B030D-6E8A-4147-A177-3AD203B41FA5}">
                      <a16:colId xmlns:a16="http://schemas.microsoft.com/office/drawing/2014/main" val="3337604120"/>
                    </a:ext>
                  </a:extLst>
                </a:gridCol>
              </a:tblGrid>
              <a:tr h="472083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b="1" dirty="0">
                          <a:effectLst/>
                        </a:rPr>
                        <a:t>实验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b="1">
                          <a:effectLst/>
                        </a:rPr>
                        <a:t>教师 </a:t>
                      </a:r>
                      <a:r>
                        <a:rPr lang="fr-FR" sz="1050" b="1">
                          <a:effectLst/>
                        </a:rPr>
                        <a:t>cache </a:t>
                      </a:r>
                      <a:r>
                        <a:rPr lang="zh-CN" altLang="en-US" sz="1050" b="1">
                          <a:effectLst/>
                        </a:rPr>
                        <a:t>类型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Params (M)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FLOPs (G)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Recall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 dirty="0">
                          <a:effectLst/>
                        </a:rPr>
                        <a:t>Precision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OA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F1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IoU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Kappa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924275"/>
                  </a:ext>
                </a:extLst>
              </a:tr>
              <a:tr h="373585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clean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dirty="0">
                          <a:effectLst/>
                        </a:rPr>
                        <a:t>无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92.78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95.37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99.53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94.05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88.78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93.81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414474"/>
                  </a:ext>
                </a:extLst>
              </a:tr>
              <a:tr h="441502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DINOv3 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92.12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96.41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99.55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94.22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89.07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93.98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824657"/>
                  </a:ext>
                </a:extLst>
              </a:tr>
              <a:tr h="487621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2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050" dirty="0">
                          <a:effectLst/>
                        </a:rPr>
                        <a:t>DINOv3 </a:t>
                      </a:r>
                      <a:r>
                        <a:rPr lang="fr-FR" sz="1050" dirty="0">
                          <a:effectLst/>
                        </a:rPr>
                        <a:t>+ SAM2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91.96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95.82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99.52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93.85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88.42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93.60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413218"/>
                  </a:ext>
                </a:extLst>
              </a:tr>
              <a:tr h="37587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3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altLang="zh-CN" sz="1050" dirty="0">
                          <a:effectLst/>
                        </a:rPr>
                        <a:t>SAM2</a:t>
                      </a:r>
                      <a:endParaRPr lang="fr-FR" sz="1050" dirty="0">
                        <a:effectLst/>
                      </a:endParaRP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93.02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94.38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99.50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93.70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88.15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93.44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210508"/>
                  </a:ext>
                </a:extLst>
              </a:tr>
            </a:tbl>
          </a:graphicData>
        </a:graphic>
      </p:graphicFrame>
      <p:sp>
        <p:nvSpPr>
          <p:cNvPr id="23" name="标题 1">
            <a:extLst>
              <a:ext uri="{FF2B5EF4-FFF2-40B4-BE49-F238E27FC236}">
                <a16:creationId xmlns:a16="http://schemas.microsoft.com/office/drawing/2014/main" id="{6EDF1D72-847F-4BCF-3F0C-FD55D60BEBF7}"/>
              </a:ext>
            </a:extLst>
          </p:cNvPr>
          <p:cNvSpPr txBox="1">
            <a:spLocks/>
          </p:cNvSpPr>
          <p:nvPr/>
        </p:nvSpPr>
        <p:spPr>
          <a:xfrm>
            <a:off x="471000" y="24039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教师二阶段</a:t>
            </a:r>
            <a:endParaRPr lang="fr-FR" altLang="zh-CN" dirty="0"/>
          </a:p>
        </p:txBody>
      </p:sp>
    </p:spTree>
    <p:extLst>
      <p:ext uri="{BB962C8B-B14F-4D97-AF65-F5344CB8AC3E}">
        <p14:creationId xmlns:p14="http://schemas.microsoft.com/office/powerpoint/2010/main" val="437372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fr-FR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ED39EF-3DD3-8D18-ABCC-DC607D78E0F8}"/>
              </a:ext>
            </a:extLst>
          </p:cNvPr>
          <p:cNvSpPr txBox="1"/>
          <p:nvPr/>
        </p:nvSpPr>
        <p:spPr>
          <a:xfrm>
            <a:off x="111000" y="819000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LEVIR</a:t>
            </a:r>
            <a:r>
              <a:rPr lang="zh-CN" altLang="en-US" dirty="0"/>
              <a:t>-CD-256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008C94A-23DB-2DD8-5E62-B56E57B1C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285432"/>
              </p:ext>
            </p:extLst>
          </p:nvPr>
        </p:nvGraphicFramePr>
        <p:xfrm>
          <a:off x="381603" y="1188332"/>
          <a:ext cx="7433864" cy="2150668"/>
        </p:xfrm>
        <a:graphic>
          <a:graphicData uri="http://schemas.openxmlformats.org/drawingml/2006/table">
            <a:tbl>
              <a:tblPr/>
              <a:tblGrid>
                <a:gridCol w="979303">
                  <a:extLst>
                    <a:ext uri="{9D8B030D-6E8A-4147-A177-3AD203B41FA5}">
                      <a16:colId xmlns:a16="http://schemas.microsoft.com/office/drawing/2014/main" val="1068380530"/>
                    </a:ext>
                  </a:extLst>
                </a:gridCol>
                <a:gridCol w="1139641">
                  <a:extLst>
                    <a:ext uri="{9D8B030D-6E8A-4147-A177-3AD203B41FA5}">
                      <a16:colId xmlns:a16="http://schemas.microsoft.com/office/drawing/2014/main" val="3013131933"/>
                    </a:ext>
                  </a:extLst>
                </a:gridCol>
                <a:gridCol w="871353">
                  <a:extLst>
                    <a:ext uri="{9D8B030D-6E8A-4147-A177-3AD203B41FA5}">
                      <a16:colId xmlns:a16="http://schemas.microsoft.com/office/drawing/2014/main" val="2600734308"/>
                    </a:ext>
                  </a:extLst>
                </a:gridCol>
                <a:gridCol w="764991">
                  <a:extLst>
                    <a:ext uri="{9D8B030D-6E8A-4147-A177-3AD203B41FA5}">
                      <a16:colId xmlns:a16="http://schemas.microsoft.com/office/drawing/2014/main" val="234289519"/>
                    </a:ext>
                  </a:extLst>
                </a:gridCol>
                <a:gridCol w="560203">
                  <a:extLst>
                    <a:ext uri="{9D8B030D-6E8A-4147-A177-3AD203B41FA5}">
                      <a16:colId xmlns:a16="http://schemas.microsoft.com/office/drawing/2014/main" val="2937248823"/>
                    </a:ext>
                  </a:extLst>
                </a:gridCol>
                <a:gridCol w="736415">
                  <a:extLst>
                    <a:ext uri="{9D8B030D-6E8A-4147-A177-3AD203B41FA5}">
                      <a16:colId xmlns:a16="http://schemas.microsoft.com/office/drawing/2014/main" val="2257337390"/>
                    </a:ext>
                  </a:extLst>
                </a:gridCol>
                <a:gridCol w="537978">
                  <a:extLst>
                    <a:ext uri="{9D8B030D-6E8A-4147-A177-3AD203B41FA5}">
                      <a16:colId xmlns:a16="http://schemas.microsoft.com/office/drawing/2014/main" val="1587872223"/>
                    </a:ext>
                  </a:extLst>
                </a:gridCol>
                <a:gridCol w="539565">
                  <a:extLst>
                    <a:ext uri="{9D8B030D-6E8A-4147-A177-3AD203B41FA5}">
                      <a16:colId xmlns:a16="http://schemas.microsoft.com/office/drawing/2014/main" val="3210170"/>
                    </a:ext>
                  </a:extLst>
                </a:gridCol>
                <a:gridCol w="537978">
                  <a:extLst>
                    <a:ext uri="{9D8B030D-6E8A-4147-A177-3AD203B41FA5}">
                      <a16:colId xmlns:a16="http://schemas.microsoft.com/office/drawing/2014/main" val="1600864124"/>
                    </a:ext>
                  </a:extLst>
                </a:gridCol>
                <a:gridCol w="766437">
                  <a:extLst>
                    <a:ext uri="{9D8B030D-6E8A-4147-A177-3AD203B41FA5}">
                      <a16:colId xmlns:a16="http://schemas.microsoft.com/office/drawing/2014/main" val="4159168291"/>
                    </a:ext>
                  </a:extLst>
                </a:gridCol>
              </a:tblGrid>
              <a:tr h="472083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b="1" dirty="0">
                          <a:effectLst/>
                        </a:rPr>
                        <a:t>实验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b="1">
                          <a:effectLst/>
                        </a:rPr>
                        <a:t>教师 </a:t>
                      </a:r>
                      <a:r>
                        <a:rPr lang="fr-FR" sz="1050" b="1">
                          <a:effectLst/>
                        </a:rPr>
                        <a:t>cache </a:t>
                      </a:r>
                      <a:r>
                        <a:rPr lang="zh-CN" altLang="en-US" sz="1050" b="1">
                          <a:effectLst/>
                        </a:rPr>
                        <a:t>类型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Params (M)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FLOPs (G)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Recall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 dirty="0">
                          <a:effectLst/>
                        </a:rPr>
                        <a:t>Precision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OA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F1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IoU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Kappa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32274"/>
                  </a:ext>
                </a:extLst>
              </a:tr>
              <a:tr h="373585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clean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dirty="0">
                          <a:effectLst/>
                        </a:rPr>
                        <a:t>无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90.66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91.92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99.12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91.29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83.97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90.82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000277"/>
                  </a:ext>
                </a:extLst>
              </a:tr>
              <a:tr h="441502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DINOv3 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90.35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91.75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99.09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91.04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83.56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90.57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697575"/>
                  </a:ext>
                </a:extLst>
              </a:tr>
              <a:tr h="487621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2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050" dirty="0">
                          <a:effectLst/>
                        </a:rPr>
                        <a:t>DINOv3 </a:t>
                      </a:r>
                      <a:r>
                        <a:rPr lang="fr-FR" sz="1050" dirty="0">
                          <a:effectLst/>
                        </a:rPr>
                        <a:t>+ SAM2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90.14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91.46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99.07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90.80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83.14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90.31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803718"/>
                  </a:ext>
                </a:extLst>
              </a:tr>
              <a:tr h="37587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3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altLang="zh-CN" sz="1050" dirty="0">
                          <a:effectLst/>
                        </a:rPr>
                        <a:t>SAM2</a:t>
                      </a:r>
                      <a:endParaRPr lang="fr-FR" sz="1050" dirty="0">
                        <a:effectLst/>
                      </a:endParaRP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90.79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91.27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99.09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91.03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83.53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90.55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96794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F393F44C-BDFF-259E-AECA-5F8E07D64A45}"/>
              </a:ext>
            </a:extLst>
          </p:cNvPr>
          <p:cNvSpPr txBox="1"/>
          <p:nvPr/>
        </p:nvSpPr>
        <p:spPr>
          <a:xfrm>
            <a:off x="2857" y="3483203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CDD</a:t>
            </a:r>
            <a:r>
              <a:rPr lang="zh-CN" altLang="en-US" dirty="0"/>
              <a:t>-CD-256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A7B407E-4FC5-9ECA-8637-DC75D2F34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152251"/>
              </p:ext>
            </p:extLst>
          </p:nvPr>
        </p:nvGraphicFramePr>
        <p:xfrm>
          <a:off x="381603" y="3995469"/>
          <a:ext cx="7433864" cy="2150668"/>
        </p:xfrm>
        <a:graphic>
          <a:graphicData uri="http://schemas.openxmlformats.org/drawingml/2006/table">
            <a:tbl>
              <a:tblPr/>
              <a:tblGrid>
                <a:gridCol w="979303">
                  <a:extLst>
                    <a:ext uri="{9D8B030D-6E8A-4147-A177-3AD203B41FA5}">
                      <a16:colId xmlns:a16="http://schemas.microsoft.com/office/drawing/2014/main" val="65165224"/>
                    </a:ext>
                  </a:extLst>
                </a:gridCol>
                <a:gridCol w="1139641">
                  <a:extLst>
                    <a:ext uri="{9D8B030D-6E8A-4147-A177-3AD203B41FA5}">
                      <a16:colId xmlns:a16="http://schemas.microsoft.com/office/drawing/2014/main" val="2270968538"/>
                    </a:ext>
                  </a:extLst>
                </a:gridCol>
                <a:gridCol w="871353">
                  <a:extLst>
                    <a:ext uri="{9D8B030D-6E8A-4147-A177-3AD203B41FA5}">
                      <a16:colId xmlns:a16="http://schemas.microsoft.com/office/drawing/2014/main" val="595817976"/>
                    </a:ext>
                  </a:extLst>
                </a:gridCol>
                <a:gridCol w="764991">
                  <a:extLst>
                    <a:ext uri="{9D8B030D-6E8A-4147-A177-3AD203B41FA5}">
                      <a16:colId xmlns:a16="http://schemas.microsoft.com/office/drawing/2014/main" val="671804728"/>
                    </a:ext>
                  </a:extLst>
                </a:gridCol>
                <a:gridCol w="560203">
                  <a:extLst>
                    <a:ext uri="{9D8B030D-6E8A-4147-A177-3AD203B41FA5}">
                      <a16:colId xmlns:a16="http://schemas.microsoft.com/office/drawing/2014/main" val="1196346270"/>
                    </a:ext>
                  </a:extLst>
                </a:gridCol>
                <a:gridCol w="736415">
                  <a:extLst>
                    <a:ext uri="{9D8B030D-6E8A-4147-A177-3AD203B41FA5}">
                      <a16:colId xmlns:a16="http://schemas.microsoft.com/office/drawing/2014/main" val="1886846488"/>
                    </a:ext>
                  </a:extLst>
                </a:gridCol>
                <a:gridCol w="537978">
                  <a:extLst>
                    <a:ext uri="{9D8B030D-6E8A-4147-A177-3AD203B41FA5}">
                      <a16:colId xmlns:a16="http://schemas.microsoft.com/office/drawing/2014/main" val="562496261"/>
                    </a:ext>
                  </a:extLst>
                </a:gridCol>
                <a:gridCol w="539565">
                  <a:extLst>
                    <a:ext uri="{9D8B030D-6E8A-4147-A177-3AD203B41FA5}">
                      <a16:colId xmlns:a16="http://schemas.microsoft.com/office/drawing/2014/main" val="1001366576"/>
                    </a:ext>
                  </a:extLst>
                </a:gridCol>
                <a:gridCol w="537978">
                  <a:extLst>
                    <a:ext uri="{9D8B030D-6E8A-4147-A177-3AD203B41FA5}">
                      <a16:colId xmlns:a16="http://schemas.microsoft.com/office/drawing/2014/main" val="1978533307"/>
                    </a:ext>
                  </a:extLst>
                </a:gridCol>
                <a:gridCol w="766437">
                  <a:extLst>
                    <a:ext uri="{9D8B030D-6E8A-4147-A177-3AD203B41FA5}">
                      <a16:colId xmlns:a16="http://schemas.microsoft.com/office/drawing/2014/main" val="3337604120"/>
                    </a:ext>
                  </a:extLst>
                </a:gridCol>
              </a:tblGrid>
              <a:tr h="472083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b="1" dirty="0">
                          <a:effectLst/>
                        </a:rPr>
                        <a:t>实验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b="1">
                          <a:effectLst/>
                        </a:rPr>
                        <a:t>教师 </a:t>
                      </a:r>
                      <a:r>
                        <a:rPr lang="fr-FR" sz="1050" b="1">
                          <a:effectLst/>
                        </a:rPr>
                        <a:t>cache </a:t>
                      </a:r>
                      <a:r>
                        <a:rPr lang="zh-CN" altLang="en-US" sz="1050" b="1">
                          <a:effectLst/>
                        </a:rPr>
                        <a:t>类型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Params (M)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FLOPs (G)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Recall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 dirty="0">
                          <a:effectLst/>
                        </a:rPr>
                        <a:t>Precision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OA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F1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IoU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050" b="1">
                          <a:effectLst/>
                        </a:rPr>
                        <a:t>Kappa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924275"/>
                  </a:ext>
                </a:extLst>
              </a:tr>
              <a:tr h="373585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clean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050" dirty="0">
                          <a:effectLst/>
                        </a:rPr>
                        <a:t>无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97.71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97.87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99.46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97.79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95.68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97.48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414474"/>
                  </a:ext>
                </a:extLst>
              </a:tr>
              <a:tr h="441502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DINOv3 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 dirty="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97.40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97.70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99.40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97.55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95.21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97.20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824657"/>
                  </a:ext>
                </a:extLst>
              </a:tr>
              <a:tr h="487621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2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050" dirty="0">
                          <a:effectLst/>
                        </a:rPr>
                        <a:t>DINOv3 </a:t>
                      </a:r>
                      <a:r>
                        <a:rPr lang="fr-FR" sz="1050" dirty="0">
                          <a:effectLst/>
                        </a:rPr>
                        <a:t>+ SAM2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97.87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97.63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99.44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97.75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95.60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97.44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413218"/>
                  </a:ext>
                </a:extLst>
              </a:tr>
              <a:tr h="37587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050" dirty="0">
                          <a:effectLst/>
                        </a:rPr>
                        <a:t>3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altLang="zh-CN" sz="1050" dirty="0">
                          <a:effectLst/>
                        </a:rPr>
                        <a:t>SAM2</a:t>
                      </a:r>
                      <a:endParaRPr lang="fr-FR" sz="1050" dirty="0">
                        <a:effectLst/>
                      </a:endParaRP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2.9131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zh-CN" sz="1050">
                          <a:effectLst/>
                        </a:rPr>
                        <a:t>2.7676</a:t>
                      </a:r>
                    </a:p>
                  </a:txBody>
                  <a:tcPr marL="86107" marR="115321" marT="96099" marB="96099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97.70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97.86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99.45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97.78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95.66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97.47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210508"/>
                  </a:ext>
                </a:extLst>
              </a:tr>
            </a:tbl>
          </a:graphicData>
        </a:graphic>
      </p:graphicFrame>
      <p:sp>
        <p:nvSpPr>
          <p:cNvPr id="14" name="标题 1">
            <a:extLst>
              <a:ext uri="{FF2B5EF4-FFF2-40B4-BE49-F238E27FC236}">
                <a16:creationId xmlns:a16="http://schemas.microsoft.com/office/drawing/2014/main" id="{E3A871CF-D101-4B05-3FF3-FC5804F26F2D}"/>
              </a:ext>
            </a:extLst>
          </p:cNvPr>
          <p:cNvSpPr txBox="1">
            <a:spLocks/>
          </p:cNvSpPr>
          <p:nvPr/>
        </p:nvSpPr>
        <p:spPr>
          <a:xfrm>
            <a:off x="471000" y="22652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教师二阶段</a:t>
            </a:r>
            <a:endParaRPr lang="fr-FR" altLang="zh-CN" dirty="0"/>
          </a:p>
        </p:txBody>
      </p:sp>
    </p:spTree>
    <p:extLst>
      <p:ext uri="{BB962C8B-B14F-4D97-AF65-F5344CB8AC3E}">
        <p14:creationId xmlns:p14="http://schemas.microsoft.com/office/powerpoint/2010/main" val="158598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重参数化路线</a:t>
            </a:r>
            <a:endParaRPr lang="fr-FR" altLang="zh-CN" dirty="0"/>
          </a:p>
        </p:txBody>
      </p:sp>
      <p:sp>
        <p:nvSpPr>
          <p:cNvPr id="2" name="AutoShape 2" descr="图像 2">
            <a:extLst>
              <a:ext uri="{FF2B5EF4-FFF2-40B4-BE49-F238E27FC236}">
                <a16:creationId xmlns:a16="http://schemas.microsoft.com/office/drawing/2014/main" id="{FD37496F-A01E-0AA6-72BC-82693F002A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1F27231-9539-14B2-EB5A-CD3B0CA37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0" y="723900"/>
            <a:ext cx="9405000" cy="571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309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重参数化路线</a:t>
            </a:r>
            <a:endParaRPr lang="fr-FR" altLang="zh-CN" dirty="0"/>
          </a:p>
        </p:txBody>
      </p:sp>
      <p:sp>
        <p:nvSpPr>
          <p:cNvPr id="2" name="AutoShape 2" descr="图像 2">
            <a:extLst>
              <a:ext uri="{FF2B5EF4-FFF2-40B4-BE49-F238E27FC236}">
                <a16:creationId xmlns:a16="http://schemas.microsoft.com/office/drawing/2014/main" id="{FD37496F-A01E-0AA6-72BC-82693F002A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F926FCE-6A9E-15C0-3308-1AEF87A1A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616624"/>
              </p:ext>
            </p:extLst>
          </p:nvPr>
        </p:nvGraphicFramePr>
        <p:xfrm>
          <a:off x="394446" y="1314000"/>
          <a:ext cx="10561554" cy="1962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800117">
                  <a:extLst>
                    <a:ext uri="{9D8B030D-6E8A-4147-A177-3AD203B41FA5}">
                      <a16:colId xmlns:a16="http://schemas.microsoft.com/office/drawing/2014/main" val="2649367900"/>
                    </a:ext>
                  </a:extLst>
                </a:gridCol>
                <a:gridCol w="640095">
                  <a:extLst>
                    <a:ext uri="{9D8B030D-6E8A-4147-A177-3AD203B41FA5}">
                      <a16:colId xmlns:a16="http://schemas.microsoft.com/office/drawing/2014/main" val="1912816637"/>
                    </a:ext>
                  </a:extLst>
                </a:gridCol>
                <a:gridCol w="1120165">
                  <a:extLst>
                    <a:ext uri="{9D8B030D-6E8A-4147-A177-3AD203B41FA5}">
                      <a16:colId xmlns:a16="http://schemas.microsoft.com/office/drawing/2014/main" val="4196263865"/>
                    </a:ext>
                  </a:extLst>
                </a:gridCol>
                <a:gridCol w="1280188">
                  <a:extLst>
                    <a:ext uri="{9D8B030D-6E8A-4147-A177-3AD203B41FA5}">
                      <a16:colId xmlns:a16="http://schemas.microsoft.com/office/drawing/2014/main" val="3802851766"/>
                    </a:ext>
                  </a:extLst>
                </a:gridCol>
                <a:gridCol w="800117">
                  <a:extLst>
                    <a:ext uri="{9D8B030D-6E8A-4147-A177-3AD203B41FA5}">
                      <a16:colId xmlns:a16="http://schemas.microsoft.com/office/drawing/2014/main" val="146805297"/>
                    </a:ext>
                  </a:extLst>
                </a:gridCol>
                <a:gridCol w="800117">
                  <a:extLst>
                    <a:ext uri="{9D8B030D-6E8A-4147-A177-3AD203B41FA5}">
                      <a16:colId xmlns:a16="http://schemas.microsoft.com/office/drawing/2014/main" val="216808914"/>
                    </a:ext>
                  </a:extLst>
                </a:gridCol>
                <a:gridCol w="640095">
                  <a:extLst>
                    <a:ext uri="{9D8B030D-6E8A-4147-A177-3AD203B41FA5}">
                      <a16:colId xmlns:a16="http://schemas.microsoft.com/office/drawing/2014/main" val="2692432463"/>
                    </a:ext>
                  </a:extLst>
                </a:gridCol>
                <a:gridCol w="640095">
                  <a:extLst>
                    <a:ext uri="{9D8B030D-6E8A-4147-A177-3AD203B41FA5}">
                      <a16:colId xmlns:a16="http://schemas.microsoft.com/office/drawing/2014/main" val="2407377180"/>
                    </a:ext>
                  </a:extLst>
                </a:gridCol>
                <a:gridCol w="640095">
                  <a:extLst>
                    <a:ext uri="{9D8B030D-6E8A-4147-A177-3AD203B41FA5}">
                      <a16:colId xmlns:a16="http://schemas.microsoft.com/office/drawing/2014/main" val="2425169952"/>
                    </a:ext>
                  </a:extLst>
                </a:gridCol>
                <a:gridCol w="640095">
                  <a:extLst>
                    <a:ext uri="{9D8B030D-6E8A-4147-A177-3AD203B41FA5}">
                      <a16:colId xmlns:a16="http://schemas.microsoft.com/office/drawing/2014/main" val="4038536491"/>
                    </a:ext>
                  </a:extLst>
                </a:gridCol>
                <a:gridCol w="800117">
                  <a:extLst>
                    <a:ext uri="{9D8B030D-6E8A-4147-A177-3AD203B41FA5}">
                      <a16:colId xmlns:a16="http://schemas.microsoft.com/office/drawing/2014/main" val="1016269353"/>
                    </a:ext>
                  </a:extLst>
                </a:gridCol>
                <a:gridCol w="960141">
                  <a:extLst>
                    <a:ext uri="{9D8B030D-6E8A-4147-A177-3AD203B41FA5}">
                      <a16:colId xmlns:a16="http://schemas.microsoft.com/office/drawing/2014/main" val="3464722157"/>
                    </a:ext>
                  </a:extLst>
                </a:gridCol>
                <a:gridCol w="800117">
                  <a:extLst>
                    <a:ext uri="{9D8B030D-6E8A-4147-A177-3AD203B41FA5}">
                      <a16:colId xmlns:a16="http://schemas.microsoft.com/office/drawing/2014/main" val="1917102634"/>
                    </a:ext>
                  </a:extLst>
                </a:gridCol>
              </a:tblGrid>
              <a:tr h="39252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Tag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Run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Experiment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Dataset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Recall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Precision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OA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F1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IoU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Kappa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Params(M)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Trainable(M)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FLOPs(G)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0108113"/>
                  </a:ext>
                </a:extLst>
              </a:tr>
              <a:tr h="39252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TAR-DCR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Run2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full_last2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CDD-CD-256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98.49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98.35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99.61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1" u="none" strike="noStrike" dirty="0">
                          <a:effectLst/>
                        </a:rPr>
                        <a:t>98.42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96.89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98.20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29.57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27.46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12.61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0115282"/>
                  </a:ext>
                </a:extLst>
              </a:tr>
              <a:tr h="39252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TAR-DCR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Run2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full_last2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LEVIR-CD-256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90.32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92.60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99.14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1" u="none" strike="noStrike" dirty="0">
                          <a:effectLst/>
                        </a:rPr>
                        <a:t>91.44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84.24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90.99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29.57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27.46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12.61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6398943"/>
                  </a:ext>
                </a:extLst>
              </a:tr>
              <a:tr h="39252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TAR-DCR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Run2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full_last2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SYSU-CD-256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79.56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87.75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92.56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1" u="none" strike="noStrike" dirty="0">
                          <a:effectLst/>
                        </a:rPr>
                        <a:t>83.45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71.60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78.66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29.57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27.46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12.61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8195657"/>
                  </a:ext>
                </a:extLst>
              </a:tr>
              <a:tr h="39252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TAR-DCR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Run2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full_last2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WHU-CD-256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94.35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95.95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99.62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1" u="none" strike="noStrike" dirty="0">
                          <a:effectLst/>
                        </a:rPr>
                        <a:t>95.14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90.74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94.94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29.57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27.46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12.61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0287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033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拆除无损的外挂模块</a:t>
            </a:r>
            <a:endParaRPr lang="fr-FR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9CC786-F373-0A58-116D-3CCE07EE0461}"/>
              </a:ext>
            </a:extLst>
          </p:cNvPr>
          <p:cNvSpPr/>
          <p:nvPr/>
        </p:nvSpPr>
        <p:spPr>
          <a:xfrm>
            <a:off x="966000" y="1314000"/>
            <a:ext cx="540000" cy="22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F1_i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67BF7F-2DD6-A9C3-A6B4-5B3BC52DC189}"/>
              </a:ext>
            </a:extLst>
          </p:cNvPr>
          <p:cNvSpPr/>
          <p:nvPr/>
        </p:nvSpPr>
        <p:spPr>
          <a:xfrm>
            <a:off x="966000" y="2071370"/>
            <a:ext cx="540000" cy="22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F2_i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CA2726-00E3-CBEB-41E7-FC4030BD03C2}"/>
              </a:ext>
            </a:extLst>
          </p:cNvPr>
          <p:cNvSpPr/>
          <p:nvPr/>
        </p:nvSpPr>
        <p:spPr>
          <a:xfrm>
            <a:off x="1731000" y="1434128"/>
            <a:ext cx="315000" cy="7798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-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6E94EA07-BAC2-BC12-7195-79CD280EB5DB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1506000" y="1426500"/>
            <a:ext cx="225000" cy="3975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4BC7615C-A84C-1589-83C9-38EA24DA4D3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1506000" y="1824064"/>
            <a:ext cx="225000" cy="35980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E57AD67-8CB2-E3AE-1FCD-5A643E70B0C3}"/>
              </a:ext>
            </a:extLst>
          </p:cNvPr>
          <p:cNvSpPr/>
          <p:nvPr/>
        </p:nvSpPr>
        <p:spPr>
          <a:xfrm>
            <a:off x="2181000" y="1652505"/>
            <a:ext cx="1785241" cy="3514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   -&gt;1*1Conv+GN+GELU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9" name="连接符: 肘形 57">
            <a:extLst>
              <a:ext uri="{FF2B5EF4-FFF2-40B4-BE49-F238E27FC236}">
                <a16:creationId xmlns:a16="http://schemas.microsoft.com/office/drawing/2014/main" id="{51B0593B-B069-5EE9-AADD-6C675B72F41B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2046000" y="1824064"/>
            <a:ext cx="135000" cy="4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CF16913-03EB-987A-AF34-28C82CE96712}"/>
              </a:ext>
            </a:extLst>
          </p:cNvPr>
          <p:cNvSpPr/>
          <p:nvPr/>
        </p:nvSpPr>
        <p:spPr>
          <a:xfrm>
            <a:off x="4206000" y="1652505"/>
            <a:ext cx="225000" cy="16154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</a:t>
            </a: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连接符: 肘形 57">
            <a:extLst>
              <a:ext uri="{FF2B5EF4-FFF2-40B4-BE49-F238E27FC236}">
                <a16:creationId xmlns:a16="http://schemas.microsoft.com/office/drawing/2014/main" id="{33ED3395-5980-5C6A-5A13-42FD46F484D0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966241" y="1828236"/>
            <a:ext cx="2397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57">
            <a:extLst>
              <a:ext uri="{FF2B5EF4-FFF2-40B4-BE49-F238E27FC236}">
                <a16:creationId xmlns:a16="http://schemas.microsoft.com/office/drawing/2014/main" id="{74E12F35-97CB-F317-F498-34FA2D7C6E06}"/>
              </a:ext>
            </a:extLst>
          </p:cNvPr>
          <p:cNvCxnSpPr>
            <a:cxnSpLocks/>
          </p:cNvCxnSpPr>
          <p:nvPr/>
        </p:nvCxnSpPr>
        <p:spPr>
          <a:xfrm>
            <a:off x="3973620" y="2232218"/>
            <a:ext cx="2323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57">
            <a:extLst>
              <a:ext uri="{FF2B5EF4-FFF2-40B4-BE49-F238E27FC236}">
                <a16:creationId xmlns:a16="http://schemas.microsoft.com/office/drawing/2014/main" id="{EBFD8535-CD1E-5010-6784-B80C5CAC1E18}"/>
              </a:ext>
            </a:extLst>
          </p:cNvPr>
          <p:cNvCxnSpPr>
            <a:cxnSpLocks/>
          </p:cNvCxnSpPr>
          <p:nvPr/>
        </p:nvCxnSpPr>
        <p:spPr>
          <a:xfrm>
            <a:off x="3973620" y="2619000"/>
            <a:ext cx="2323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57">
            <a:extLst>
              <a:ext uri="{FF2B5EF4-FFF2-40B4-BE49-F238E27FC236}">
                <a16:creationId xmlns:a16="http://schemas.microsoft.com/office/drawing/2014/main" id="{6997E61A-1FCF-08C4-ECA0-D5B167CC57F9}"/>
              </a:ext>
            </a:extLst>
          </p:cNvPr>
          <p:cNvCxnSpPr>
            <a:cxnSpLocks/>
          </p:cNvCxnSpPr>
          <p:nvPr/>
        </p:nvCxnSpPr>
        <p:spPr>
          <a:xfrm>
            <a:off x="3973620" y="2979000"/>
            <a:ext cx="2323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90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30921" y="6129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Shu Daoyu, Zhang Zhan, Huang Xiao, Wang Ru, Jia Nan, Fu Xinzhe, Yang Bingnan, Wan Fang, Lu Jianzhong, Gong Jianya. Mask-CDKD: A source-free and label-free cross-domain knowledge distillation framework from SAM for satellite onboard VHR land-cover mapping[J]. ISPRS</a:t>
            </a:r>
            <a:r>
              <a:rPr lang="zh-CN" altLang="en-US" dirty="0"/>
              <a:t>，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 dirty="0"/>
              <a:t>Mask-CDKD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DA0672-2EE5-7F77-F3F0-50FF33FD013F}"/>
              </a:ext>
            </a:extLst>
          </p:cNvPr>
          <p:cNvSpPr txBox="1"/>
          <p:nvPr/>
        </p:nvSpPr>
        <p:spPr>
          <a:xfrm>
            <a:off x="111000" y="864000"/>
            <a:ext cx="61201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任务：</a:t>
            </a:r>
            <a:r>
              <a:rPr lang="en-US" altLang="zh-CN" b="1" dirty="0"/>
              <a:t>VHR </a:t>
            </a:r>
            <a:r>
              <a:rPr lang="zh-CN" altLang="en-US" b="1" dirty="0"/>
              <a:t>遥感土地覆盖语义分割（</a:t>
            </a:r>
            <a:r>
              <a:rPr lang="en-US" altLang="zh-CN" b="1" dirty="0"/>
              <a:t>LULC Mapping</a:t>
            </a:r>
            <a:r>
              <a:rPr lang="zh-CN" altLang="en-US" b="1" dirty="0"/>
              <a:t>）</a:t>
            </a:r>
            <a:r>
              <a:rPr lang="zh-CN" altLang="en-US" dirty="0"/>
              <a:t>，面向卫星星上轻量部署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Motivation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fr-FR" altLang="zh-CN" dirty="0"/>
              <a:t> SAM </a:t>
            </a:r>
            <a:r>
              <a:rPr lang="zh-CN" altLang="en-US" dirty="0"/>
              <a:t>很强，但模型太大，不适合星上部署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SAM </a:t>
            </a:r>
            <a:r>
              <a:rPr lang="zh-CN" altLang="en-US" dirty="0"/>
              <a:t>来自自然图像，直接蒸馏到遥感会带来域偏差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现有跨域蒸馏依赖源域数据</a:t>
            </a:r>
            <a:r>
              <a:rPr lang="en-US" altLang="zh-CN" dirty="0"/>
              <a:t>/</a:t>
            </a:r>
            <a:r>
              <a:rPr lang="zh-CN" altLang="en-US" dirty="0"/>
              <a:t>标签，且静态域分离不够灵活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创新点：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b="1" dirty="0"/>
              <a:t> </a:t>
            </a:r>
            <a:r>
              <a:rPr lang="en-US" altLang="zh-CN" b="1" dirty="0"/>
              <a:t>SAM→</a:t>
            </a:r>
            <a:r>
              <a:rPr lang="zh-CN" altLang="en-US" b="1" dirty="0"/>
              <a:t>轻量 </a:t>
            </a:r>
            <a:r>
              <a:rPr lang="en-US" altLang="zh-CN" b="1" dirty="0" err="1"/>
              <a:t>ViT</a:t>
            </a:r>
            <a:r>
              <a:rPr lang="en-US" altLang="zh-CN" b="1" dirty="0"/>
              <a:t>-Small </a:t>
            </a:r>
            <a:r>
              <a:rPr lang="zh-CN" altLang="en-US" b="1" dirty="0"/>
              <a:t>蒸馏</a:t>
            </a:r>
            <a:r>
              <a:rPr lang="zh-CN" altLang="en-US" dirty="0"/>
              <a:t>：训练时利用大模型知识，推理时只保留轻量学生。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b="1" dirty="0"/>
              <a:t> </a:t>
            </a:r>
            <a:r>
              <a:rPr lang="en-US" altLang="zh-CN" b="1" dirty="0" err="1"/>
              <a:t>MMoA</a:t>
            </a:r>
            <a:r>
              <a:rPr lang="en-US" altLang="zh-CN" b="1" dirty="0"/>
              <a:t> </a:t>
            </a:r>
            <a:r>
              <a:rPr lang="zh-CN" altLang="en-US" b="1" dirty="0"/>
              <a:t>多尺度混合适配器</a:t>
            </a:r>
            <a:r>
              <a:rPr lang="zh-CN" altLang="en-US" dirty="0"/>
              <a:t>：在冻结 </a:t>
            </a:r>
            <a:r>
              <a:rPr lang="en-US" altLang="zh-CN" dirty="0"/>
              <a:t>SAM </a:t>
            </a:r>
            <a:r>
              <a:rPr lang="zh-CN" altLang="en-US" dirty="0"/>
              <a:t>主干的基础上，动态校准多尺度遥感特征，抑制自然图像域干扰。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b="1" dirty="0"/>
              <a:t>无源无标签 </a:t>
            </a:r>
            <a:r>
              <a:rPr lang="en-US" altLang="zh-CN" b="1" dirty="0"/>
              <a:t>+ MIM + </a:t>
            </a:r>
            <a:r>
              <a:rPr lang="zh-CN" altLang="en-US" b="1" dirty="0"/>
              <a:t>双向协同蒸馏</a:t>
            </a:r>
            <a:r>
              <a:rPr lang="zh-CN" altLang="en-US" dirty="0"/>
              <a:t>：只用无标签 </a:t>
            </a:r>
            <a:r>
              <a:rPr lang="en-US" altLang="zh-CN" dirty="0"/>
              <a:t>VHR </a:t>
            </a:r>
            <a:r>
              <a:rPr lang="zh-CN" altLang="en-US" dirty="0"/>
              <a:t>遥感影像，通过重建自监督和教师</a:t>
            </a:r>
            <a:r>
              <a:rPr lang="en-US" altLang="zh-CN" dirty="0"/>
              <a:t>-</a:t>
            </a:r>
            <a:r>
              <a:rPr lang="zh-CN" altLang="en-US" dirty="0"/>
              <a:t>学生双向反馈完成域适配。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0ACAB75-020B-DE77-33D1-106187515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921" y="1547354"/>
            <a:ext cx="6031006" cy="376329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3DA9C69-5D79-78E7-9579-6C9D65F3711F}"/>
              </a:ext>
            </a:extLst>
          </p:cNvPr>
          <p:cNvSpPr txBox="1"/>
          <p:nvPr/>
        </p:nvSpPr>
        <p:spPr>
          <a:xfrm>
            <a:off x="6210172" y="954000"/>
            <a:ext cx="612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数据集：</a:t>
            </a:r>
            <a:endParaRPr lang="fr-FR" altLang="zh-CN" dirty="0"/>
          </a:p>
          <a:p>
            <a:r>
              <a:rPr lang="fr-FR" altLang="zh-CN" dirty="0"/>
              <a:t>LuoJiaCDKD-100K</a:t>
            </a:r>
            <a:r>
              <a:rPr lang="zh-CN" altLang="fr-FR" dirty="0"/>
              <a:t>：</a:t>
            </a:r>
            <a:r>
              <a:rPr lang="fr-FR" altLang="zh-CN" dirty="0"/>
              <a:t>100,801 </a:t>
            </a:r>
            <a:r>
              <a:rPr lang="zh-CN" altLang="en-US" dirty="0"/>
              <a:t>张 </a:t>
            </a:r>
            <a:r>
              <a:rPr lang="en-US" altLang="zh-CN" dirty="0"/>
              <a:t>1024×1024 </a:t>
            </a:r>
            <a:r>
              <a:rPr lang="fr-FR" altLang="zh-CN" dirty="0"/>
              <a:t>VHR </a:t>
            </a:r>
            <a:r>
              <a:rPr lang="zh-CN" altLang="en-US" dirty="0"/>
              <a:t>遥感影像</a:t>
            </a:r>
          </a:p>
        </p:txBody>
      </p:sp>
    </p:spTree>
    <p:extLst>
      <p:ext uri="{BB962C8B-B14F-4D97-AF65-F5344CB8AC3E}">
        <p14:creationId xmlns:p14="http://schemas.microsoft.com/office/powerpoint/2010/main" val="115853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30921" y="6129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Shu Daoyu, Zhang Zhan, Huang Xiao, Wang Ru, Jia Nan, Fu Xinzhe, Yang Bingnan, Wan Fang, Lu Jianzhong, Gong Jianya. Mask-CDKD: A source-free and label-free cross-domain knowledge distillation framework from SAM for satellite onboard VHR land-cover mapping[J]. ISPRS</a:t>
            </a:r>
            <a:r>
              <a:rPr lang="zh-CN" altLang="en-US" dirty="0"/>
              <a:t>，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 dirty="0"/>
              <a:t>Mask-CDKD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3BDE045-4BD5-C953-4D38-1DB602A34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337482"/>
            <a:ext cx="7176000" cy="38513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F291BF7-2572-5B26-1D58-DF704B951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001" y="886981"/>
            <a:ext cx="4955145" cy="525866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40A033-26C6-E91D-72F4-6A6AB371EB28}"/>
              </a:ext>
            </a:extLst>
          </p:cNvPr>
          <p:cNvSpPr txBox="1"/>
          <p:nvPr/>
        </p:nvSpPr>
        <p:spPr>
          <a:xfrm>
            <a:off x="134514" y="919302"/>
            <a:ext cx="6705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CDKD</a:t>
            </a:r>
            <a:r>
              <a:rPr lang="zh-CN" altLang="en-US" dirty="0"/>
              <a:t>：无需源域数据与像素标注。</a:t>
            </a:r>
            <a:endParaRPr lang="en-US" altLang="zh-CN" dirty="0"/>
          </a:p>
          <a:p>
            <a:r>
              <a:rPr lang="fr-FR" altLang="zh-CN" b="1" dirty="0"/>
              <a:t>MMoA</a:t>
            </a:r>
            <a:r>
              <a:rPr lang="zh-CN" altLang="fr-FR" dirty="0"/>
              <a:t>：</a:t>
            </a:r>
            <a:r>
              <a:rPr lang="zh-CN" altLang="en-US" dirty="0"/>
              <a:t>多尺度 </a:t>
            </a:r>
            <a:r>
              <a:rPr lang="fr-FR" altLang="zh-CN" dirty="0"/>
              <a:t>Adapter + </a:t>
            </a:r>
            <a:r>
              <a:rPr lang="zh-CN" altLang="en-US" dirty="0"/>
              <a:t>动态 </a:t>
            </a:r>
            <a:r>
              <a:rPr lang="fr-FR" altLang="zh-CN" dirty="0"/>
              <a:t>Gate</a:t>
            </a:r>
            <a:r>
              <a:rPr lang="zh-CN" altLang="fr-FR" dirty="0"/>
              <a:t>，</a:t>
            </a:r>
            <a:r>
              <a:rPr lang="zh-CN" altLang="en-US" dirty="0"/>
              <a:t>过滤域特定干扰。</a:t>
            </a:r>
            <a:endParaRPr lang="en-US" altLang="zh-CN" dirty="0"/>
          </a:p>
          <a:p>
            <a:r>
              <a:rPr lang="fr-FR" altLang="zh-CN" b="1" dirty="0"/>
              <a:t>Bidirectional KD</a:t>
            </a:r>
            <a:r>
              <a:rPr lang="zh-CN" altLang="fr-FR" dirty="0"/>
              <a:t>：</a:t>
            </a:r>
            <a:r>
              <a:rPr lang="zh-CN" altLang="en-US" dirty="0"/>
              <a:t>教师适配与学生学习协同优化。</a:t>
            </a:r>
            <a:endParaRPr lang="en-US" altLang="zh-CN" dirty="0"/>
          </a:p>
          <a:p>
            <a:r>
              <a:rPr lang="fr-FR" altLang="zh-CN" b="1" dirty="0"/>
              <a:t>MIM Reconstruction</a:t>
            </a:r>
            <a:r>
              <a:rPr lang="zh-CN" altLang="fr-FR" dirty="0"/>
              <a:t>：</a:t>
            </a:r>
            <a:r>
              <a:rPr lang="zh-CN" altLang="en-US" dirty="0"/>
              <a:t>增强目标域结构建模，仅部署轻量学生。</a:t>
            </a:r>
          </a:p>
        </p:txBody>
      </p:sp>
    </p:spTree>
    <p:extLst>
      <p:ext uri="{BB962C8B-B14F-4D97-AF65-F5344CB8AC3E}">
        <p14:creationId xmlns:p14="http://schemas.microsoft.com/office/powerpoint/2010/main" val="3428265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30921" y="6129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Shu Daoyu, Zhang Zhan, Huang Xiao, Wang Ru, Jia Nan, Fu Xinzhe, Yang Bingnan, Wan Fang, Lu Jianzhong, Gong Jianya. Mask-CDKD: A source-free and label-free cross-domain knowledge distillation framework from SAM for satellite onboard VHR land-cover mapping[J]. ISPRS</a:t>
            </a:r>
            <a:r>
              <a:rPr lang="zh-CN" altLang="en-US" dirty="0"/>
              <a:t>，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 dirty="0"/>
              <a:t>Mask-CDKD</a:t>
            </a:r>
            <a:r>
              <a:rPr lang="zh-CN" altLang="en-US" dirty="0"/>
              <a:t>定量结果</a:t>
            </a:r>
            <a:endParaRPr lang="fr-FR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643262E-2923-F025-AB6D-B4B64E6C7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975"/>
            <a:ext cx="12192000" cy="542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79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30921" y="6129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Shu Daoyu, Zhang Zhan, Huang Xiao, Wang Ru, Jia Nan, Fu Xinzhe, Yang Bingnan, Wan Fang, Lu Jianzhong, Gong Jianya. Mask-CDKD: A source-free and label-free cross-domain knowledge distillation framework from SAM for satellite onboard VHR land-cover mapping[J]. ISPRS</a:t>
            </a:r>
            <a:r>
              <a:rPr lang="zh-CN" altLang="en-US" dirty="0"/>
              <a:t>，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 dirty="0"/>
              <a:t>Mask-CDKD</a:t>
            </a:r>
            <a:r>
              <a:rPr lang="zh-CN" altLang="en-US" dirty="0"/>
              <a:t>定性结果</a:t>
            </a:r>
            <a:endParaRPr lang="fr-FR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46F77C-9B3E-D6D4-6490-4B7A12AAE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89" y="901450"/>
            <a:ext cx="10391421" cy="523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23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0" y="6264000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Kaiyu Li, Xiangyong Cao, Deyu Meng</a:t>
            </a:r>
            <a:r>
              <a:rPr lang="en-US" altLang="zh-CN" dirty="0"/>
              <a:t>.A New Learning Paradigm for Foundation Model-Based Remote-Sensing Change Detection</a:t>
            </a:r>
            <a:r>
              <a:rPr lang="fr-FR" altLang="zh-CN" dirty="0"/>
              <a:t>. TGRS</a:t>
            </a:r>
            <a:r>
              <a:rPr lang="en-US" altLang="zh-CN" dirty="0"/>
              <a:t>,2024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BAN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76F870-CE5E-81B0-800E-9A34A2F84A4D}"/>
              </a:ext>
            </a:extLst>
          </p:cNvPr>
          <p:cNvSpPr txBox="1"/>
          <p:nvPr/>
        </p:nvSpPr>
        <p:spPr>
          <a:xfrm>
            <a:off x="471000" y="819000"/>
            <a:ext cx="11025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任务：</a:t>
            </a:r>
            <a:r>
              <a:rPr lang="en-US" altLang="zh-CN" b="1" dirty="0"/>
              <a:t>RS_BCD</a:t>
            </a:r>
          </a:p>
          <a:p>
            <a:br>
              <a:rPr lang="en-US" altLang="zh-CN" b="1" dirty="0"/>
            </a:br>
            <a:r>
              <a:rPr lang="fr-FR" altLang="zh-CN" b="1" dirty="0"/>
              <a:t>Motivation</a:t>
            </a:r>
            <a:r>
              <a:rPr lang="zh-CN" altLang="fr-FR" b="1" dirty="0"/>
              <a:t>：</a:t>
            </a:r>
            <a:r>
              <a:rPr lang="fr-FR" altLang="zh-CN" dirty="0"/>
              <a:t> CD </a:t>
            </a:r>
            <a:r>
              <a:rPr lang="zh-CN" altLang="en-US" dirty="0"/>
              <a:t>标注数据有限，且 </a:t>
            </a:r>
            <a:r>
              <a:rPr lang="fr-FR" altLang="zh-CN" dirty="0"/>
              <a:t>Foundation Model </a:t>
            </a:r>
            <a:r>
              <a:rPr lang="zh-CN" altLang="en-US" dirty="0"/>
              <a:t>与遥感二时相 </a:t>
            </a:r>
            <a:r>
              <a:rPr lang="fr-FR" altLang="zh-CN" dirty="0"/>
              <a:t>CD </a:t>
            </a:r>
            <a:r>
              <a:rPr lang="zh-CN" altLang="en-US" dirty="0"/>
              <a:t>存在域、任务和分辨率差异。</a:t>
            </a:r>
            <a:endParaRPr lang="en-US" altLang="zh-CN" dirty="0"/>
          </a:p>
          <a:p>
            <a:br>
              <a:rPr lang="zh-CN" altLang="en-US" dirty="0"/>
            </a:br>
            <a:r>
              <a:rPr lang="zh-CN" altLang="en-US" b="1" dirty="0"/>
              <a:t>创新点</a:t>
            </a:r>
            <a:r>
              <a:rPr lang="zh-CN" altLang="fr-FR" b="1" dirty="0"/>
              <a:t>：</a:t>
            </a:r>
            <a:r>
              <a:rPr lang="fr-FR" altLang="zh-CN" dirty="0"/>
              <a:t> </a:t>
            </a:r>
            <a:r>
              <a:rPr lang="zh-CN" altLang="en-US" dirty="0"/>
              <a:t>提出 </a:t>
            </a:r>
            <a:r>
              <a:rPr lang="fr-FR" altLang="zh-CN" dirty="0"/>
              <a:t>BAN</a:t>
            </a:r>
            <a:r>
              <a:rPr lang="zh-CN" altLang="fr-FR" dirty="0"/>
              <a:t>，</a:t>
            </a:r>
            <a:r>
              <a:rPr lang="zh-CN" altLang="en-US" dirty="0"/>
              <a:t>通过</a:t>
            </a:r>
            <a:r>
              <a:rPr lang="zh-CN" altLang="en-US" u="sng" dirty="0"/>
              <a:t>冻结 </a:t>
            </a:r>
            <a:r>
              <a:rPr lang="fr-FR" altLang="zh-CN" u="sng" dirty="0"/>
              <a:t>Foundation Model </a:t>
            </a:r>
            <a:r>
              <a:rPr lang="fr-FR" altLang="zh-CN" dirty="0"/>
              <a:t>+ Bi-TAB + </a:t>
            </a:r>
            <a:r>
              <a:rPr lang="fr-FR" altLang="zh-CN" dirty="0">
                <a:solidFill>
                  <a:srgbClr val="FF0000"/>
                </a:solidFill>
              </a:rPr>
              <a:t>Bridging Module </a:t>
            </a:r>
            <a:r>
              <a:rPr lang="zh-CN" altLang="en-US" dirty="0"/>
              <a:t>实现通用知识的选择、对齐与注入，并用 </a:t>
            </a:r>
            <a:r>
              <a:rPr lang="fr-FR" altLang="zh-CN" dirty="0"/>
              <a:t>ARIS </a:t>
            </a:r>
            <a:r>
              <a:rPr lang="zh-CN" altLang="en-US" dirty="0"/>
              <a:t>（非对称分辨率输入策略）解决分辨率不匹配。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820346-43D4-4841-DFB7-347A18147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00" y="3584149"/>
            <a:ext cx="34721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dirty="0"/>
              <a:t>Foundation Model</a:t>
            </a:r>
            <a:r>
              <a:rPr lang="zh-CN" altLang="en-US" dirty="0"/>
              <a:t>可选：</a:t>
            </a:r>
            <a:endParaRPr lang="zh-CN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Arial" panose="020B0604020202020204" pitchFamily="34" charset="0"/>
              </a:rPr>
              <a:t>CLIP ViT-L/14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Arial" panose="020B0604020202020204" pitchFamily="34" charset="0"/>
              </a:rPr>
              <a:t>RemoteCLIP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Arial" panose="020B0604020202020204" pitchFamily="34" charset="0"/>
              </a:rPr>
              <a:t>ImageNet-21K pretrained ViT </a:t>
            </a:r>
            <a:r>
              <a:rPr lang="zh-CN" altLang="en-US" dirty="0">
                <a:latin typeface="Arial" panose="020B0604020202020204" pitchFamily="34" charset="0"/>
              </a:rPr>
              <a:t>等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918CAB-E72F-3E6D-963A-9E8550935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00" y="3005347"/>
            <a:ext cx="6970351" cy="245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71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0" y="6264000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Kaiyu Li, Xiangyong Cao, Deyu Meng</a:t>
            </a:r>
            <a:r>
              <a:rPr lang="en-US" altLang="zh-CN" dirty="0"/>
              <a:t>.A New Learning Paradigm for Foundation Model-Based Remote-Sensing Change Detection</a:t>
            </a:r>
            <a:r>
              <a:rPr lang="fr-FR" altLang="zh-CN" dirty="0"/>
              <a:t>. TGRS</a:t>
            </a:r>
            <a:r>
              <a:rPr lang="en-US" altLang="zh-CN" dirty="0"/>
              <a:t>,2024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BAN</a:t>
            </a:r>
            <a:endParaRPr lang="fr-FR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43BDB5-7E81-EA0A-3AF8-5AEFDD80E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2946"/>
            <a:ext cx="8436000" cy="442008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419A8BD-DDD9-44F8-1455-C3D9FE860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79" y="2274730"/>
            <a:ext cx="3576000" cy="32154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7F71966-2EA5-B270-C2F8-1B1B2717855D}"/>
              </a:ext>
            </a:extLst>
          </p:cNvPr>
          <p:cNvSpPr txBox="1"/>
          <p:nvPr/>
        </p:nvSpPr>
        <p:spPr>
          <a:xfrm>
            <a:off x="201000" y="739616"/>
            <a:ext cx="1179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冻结 </a:t>
            </a:r>
            <a:r>
              <a:rPr lang="fr-FR" altLang="zh-CN" dirty="0"/>
              <a:t>Foundation Model </a:t>
            </a:r>
            <a:r>
              <a:rPr lang="zh-CN" altLang="en-US" dirty="0"/>
              <a:t>提取双时相通用视觉特征，</a:t>
            </a:r>
            <a:r>
              <a:rPr lang="fr-FR" altLang="zh-CN" dirty="0"/>
              <a:t>Bi-TAB </a:t>
            </a:r>
            <a:r>
              <a:rPr lang="zh-CN" altLang="en-US" dirty="0"/>
              <a:t>保留原有变化检测网络</a:t>
            </a:r>
            <a:endParaRPr lang="en-US" altLang="zh-CN" dirty="0"/>
          </a:p>
          <a:p>
            <a:r>
              <a:rPr lang="fr-FR" altLang="zh-CN" dirty="0"/>
              <a:t>2.Bridging Module </a:t>
            </a:r>
            <a:r>
              <a:rPr lang="zh-CN" altLang="en-US" dirty="0"/>
              <a:t>以 </a:t>
            </a:r>
            <a:r>
              <a:rPr lang="fr-FR" altLang="zh-CN" dirty="0"/>
              <a:t>Bi-TAB </a:t>
            </a:r>
            <a:r>
              <a:rPr lang="zh-CN" altLang="en-US" dirty="0"/>
              <a:t>特征为查询，实现 </a:t>
            </a:r>
            <a:r>
              <a:rPr lang="fr-FR" altLang="zh-CN" dirty="0"/>
              <a:t>Foundation </a:t>
            </a:r>
            <a:r>
              <a:rPr lang="zh-CN" altLang="en-US" dirty="0"/>
              <a:t>知识的选择、通道</a:t>
            </a:r>
            <a:r>
              <a:rPr lang="en-US" altLang="zh-CN" dirty="0"/>
              <a:t>/</a:t>
            </a:r>
            <a:r>
              <a:rPr lang="zh-CN" altLang="en-US" dirty="0"/>
              <a:t>尺度对齐与逐层注入。</a:t>
            </a:r>
            <a:br>
              <a:rPr lang="zh-CN" altLang="en-US" dirty="0"/>
            </a:br>
            <a:r>
              <a:rPr lang="en-US" altLang="zh-CN" dirty="0"/>
              <a:t>3.</a:t>
            </a:r>
            <a:r>
              <a:rPr lang="fr-FR" altLang="zh-CN" dirty="0"/>
              <a:t>Bi-TAB </a:t>
            </a:r>
            <a:r>
              <a:rPr lang="zh-CN" altLang="en-US" dirty="0"/>
              <a:t>可兼容 </a:t>
            </a:r>
            <a:r>
              <a:rPr lang="fr-FR" altLang="zh-CN" dirty="0"/>
              <a:t>BiT</a:t>
            </a:r>
            <a:r>
              <a:rPr lang="zh-CN" altLang="fr-FR" dirty="0"/>
              <a:t>、</a:t>
            </a:r>
            <a:r>
              <a:rPr lang="fr-FR" altLang="zh-CN" dirty="0"/>
              <a:t>ChangeFormer </a:t>
            </a:r>
            <a:r>
              <a:rPr lang="zh-CN" altLang="en-US" dirty="0"/>
              <a:t>等不同 </a:t>
            </a:r>
            <a:r>
              <a:rPr lang="fr-FR" altLang="zh-CN" dirty="0"/>
              <a:t>CD </a:t>
            </a:r>
            <a:r>
              <a:rPr lang="zh-CN" altLang="en-US" dirty="0"/>
              <a:t>架构，体现 </a:t>
            </a:r>
            <a:r>
              <a:rPr lang="fr-FR" altLang="zh-CN" dirty="0"/>
              <a:t>BAN </a:t>
            </a:r>
            <a:r>
              <a:rPr lang="zh-CN" altLang="en-US" dirty="0"/>
              <a:t>的模型无关与即插即用能力。</a:t>
            </a:r>
          </a:p>
        </p:txBody>
      </p:sp>
    </p:spTree>
    <p:extLst>
      <p:ext uri="{BB962C8B-B14F-4D97-AF65-F5344CB8AC3E}">
        <p14:creationId xmlns:p14="http://schemas.microsoft.com/office/powerpoint/2010/main" val="344235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0" y="6264000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Kaiyu Li, Xiangyong Cao, Deyu Meng</a:t>
            </a:r>
            <a:r>
              <a:rPr lang="en-US" altLang="zh-CN" dirty="0"/>
              <a:t>.A New Learning Paradigm for Foundation Model-Based Remote-Sensing Change Detection</a:t>
            </a:r>
            <a:r>
              <a:rPr lang="fr-FR" altLang="zh-CN" dirty="0"/>
              <a:t>. TGRS</a:t>
            </a:r>
            <a:r>
              <a:rPr lang="en-US" altLang="zh-CN" dirty="0"/>
              <a:t>,2024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BAN</a:t>
            </a:r>
            <a:endParaRPr lang="fr-FR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127F98-97B7-6DB9-C48F-AD78D50FC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18" y="1922330"/>
            <a:ext cx="5591175" cy="42576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AAFF91-E6D0-2559-E61B-EF4C78D39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175" y="755689"/>
            <a:ext cx="6083283" cy="552174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1CFE083-6FEF-9C8C-DFC7-C65B9791E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06" y="999000"/>
            <a:ext cx="55081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这里的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只是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learnable parameters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，推理的时候大模型参数也要算上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466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A2Net+LWGANet</a:t>
            </a:r>
            <a:r>
              <a:rPr lang="zh-CN" altLang="en-US" dirty="0"/>
              <a:t>（</a:t>
            </a:r>
            <a:r>
              <a:rPr lang="en-US" altLang="zh-CN" dirty="0"/>
              <a:t>baseline</a:t>
            </a:r>
            <a:r>
              <a:rPr lang="zh-CN" altLang="en-US" dirty="0"/>
              <a:t>记录）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FB5AC2-8BCA-7E96-7B23-FDEADC341A59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8456B3-CE1E-241E-801F-ABBB51A12AED}"/>
              </a:ext>
            </a:extLst>
          </p:cNvPr>
          <p:cNvSpPr/>
          <p:nvPr/>
        </p:nvSpPr>
        <p:spPr>
          <a:xfrm>
            <a:off x="2038959" y="2465022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4F98B6-0243-A13C-9511-374B726DE5E8}"/>
              </a:ext>
            </a:extLst>
          </p:cNvPr>
          <p:cNvSpPr/>
          <p:nvPr/>
        </p:nvSpPr>
        <p:spPr>
          <a:xfrm>
            <a:off x="2038959" y="359546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37CE02-E65F-BC7A-D241-F916AB0483AF}"/>
              </a:ext>
            </a:extLst>
          </p:cNvPr>
          <p:cNvSpPr/>
          <p:nvPr/>
        </p:nvSpPr>
        <p:spPr>
          <a:xfrm>
            <a:off x="2652571" y="2957312"/>
            <a:ext cx="2080413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Shared LWGANet_L0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520187C-BF51-EA5D-6B42-821810752A8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398959" y="2622522"/>
            <a:ext cx="253612" cy="5315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2C3223F-4D4A-53F2-F716-C23A98E6D29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398959" y="3154106"/>
            <a:ext cx="253612" cy="5988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9A773C4-AE15-171F-34E4-CE0D07657693}"/>
              </a:ext>
            </a:extLst>
          </p:cNvPr>
          <p:cNvSpPr/>
          <p:nvPr/>
        </p:nvSpPr>
        <p:spPr>
          <a:xfrm>
            <a:off x="2645026" y="240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DF85BF-3BF2-E8BA-852D-E264733B902A}"/>
              </a:ext>
            </a:extLst>
          </p:cNvPr>
          <p:cNvSpPr/>
          <p:nvPr/>
        </p:nvSpPr>
        <p:spPr>
          <a:xfrm>
            <a:off x="3182540" y="240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AFAE46-FF3A-4876-070F-1062AF9E86A2}"/>
              </a:ext>
            </a:extLst>
          </p:cNvPr>
          <p:cNvSpPr/>
          <p:nvPr/>
        </p:nvSpPr>
        <p:spPr>
          <a:xfrm>
            <a:off x="3720054" y="241162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3D609F-A8E5-1B89-4374-193435D3E271}"/>
              </a:ext>
            </a:extLst>
          </p:cNvPr>
          <p:cNvSpPr/>
          <p:nvPr/>
        </p:nvSpPr>
        <p:spPr>
          <a:xfrm>
            <a:off x="4279105" y="241670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4DBC98-F9B9-CD00-8A61-371C01490E3D}"/>
              </a:ext>
            </a:extLst>
          </p:cNvPr>
          <p:cNvSpPr/>
          <p:nvPr/>
        </p:nvSpPr>
        <p:spPr>
          <a:xfrm>
            <a:off x="2652571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BE8B7E-9E79-EC32-80A4-3A78EBF19FF5}"/>
              </a:ext>
            </a:extLst>
          </p:cNvPr>
          <p:cNvSpPr/>
          <p:nvPr/>
        </p:nvSpPr>
        <p:spPr>
          <a:xfrm>
            <a:off x="3190085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56AC48-41BD-3B6B-456E-7EA79446E475}"/>
              </a:ext>
            </a:extLst>
          </p:cNvPr>
          <p:cNvSpPr/>
          <p:nvPr/>
        </p:nvSpPr>
        <p:spPr>
          <a:xfrm>
            <a:off x="3727599" y="366035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23D08C-4BA4-1EAE-C12D-C6587671C386}"/>
              </a:ext>
            </a:extLst>
          </p:cNvPr>
          <p:cNvSpPr/>
          <p:nvPr/>
        </p:nvSpPr>
        <p:spPr>
          <a:xfrm>
            <a:off x="4286650" y="366543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3CCD5049-5974-71E8-AB0E-9E8025385D24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rot="16200000" flipV="1">
            <a:off x="3142652" y="2407186"/>
            <a:ext cx="288750" cy="811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64D9380F-1C18-DBED-3B8F-791CCEE84D33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rot="16200000" flipV="1">
            <a:off x="3411409" y="2675943"/>
            <a:ext cx="288750" cy="2739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EB309CBD-4F7A-4424-0C1B-C93E94F4DA06}"/>
              </a:ext>
            </a:extLst>
          </p:cNvPr>
          <p:cNvCxnSpPr>
            <a:cxnSpLocks/>
            <a:stCxn id="7" idx="0"/>
            <a:endCxn id="12" idx="2"/>
          </p:cNvCxnSpPr>
          <p:nvPr/>
        </p:nvCxnSpPr>
        <p:spPr>
          <a:xfrm rot="5400000" flipH="1" flipV="1">
            <a:off x="3682517" y="2683525"/>
            <a:ext cx="284048" cy="2635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21804445-F9D9-07F8-603A-8D696A9B897A}"/>
              </a:ext>
            </a:extLst>
          </p:cNvPr>
          <p:cNvCxnSpPr>
            <a:cxnSpLocks/>
            <a:stCxn id="7" idx="0"/>
            <a:endCxn id="13" idx="2"/>
          </p:cNvCxnSpPr>
          <p:nvPr/>
        </p:nvCxnSpPr>
        <p:spPr>
          <a:xfrm rot="5400000" flipH="1" flipV="1">
            <a:off x="3964582" y="2406540"/>
            <a:ext cx="278968" cy="8225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0BFE552B-5261-D0C1-0CFF-D5B79152E16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rot="5400000">
            <a:off x="3138424" y="3101298"/>
            <a:ext cx="304752" cy="80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912D0E96-70C2-EDE2-89A5-6FCEAA321D6D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5400000">
            <a:off x="3407181" y="3370055"/>
            <a:ext cx="304752" cy="2664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C4AEFCEF-FF4A-AD73-BE60-51E58E68F213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16200000" flipH="1">
            <a:off x="3673586" y="3370091"/>
            <a:ext cx="309454" cy="271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DB9D1604-D9DC-A507-4917-95BE8052CEF2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16200000" flipH="1">
            <a:off x="3950572" y="3093106"/>
            <a:ext cx="314534" cy="830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DC3F41BF-EE99-B2F5-DFC0-7A9B89A82544}"/>
              </a:ext>
            </a:extLst>
          </p:cNvPr>
          <p:cNvSpPr/>
          <p:nvPr/>
        </p:nvSpPr>
        <p:spPr>
          <a:xfrm rot="5400000">
            <a:off x="3589185" y="1134056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91445F5F-6417-C848-9383-A98C7908FAA0}"/>
              </a:ext>
            </a:extLst>
          </p:cNvPr>
          <p:cNvSpPr/>
          <p:nvPr/>
        </p:nvSpPr>
        <p:spPr>
          <a:xfrm rot="16200000">
            <a:off x="3619661" y="2904939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543534-459E-7CD0-5164-F762CF668ECB}"/>
              </a:ext>
            </a:extLst>
          </p:cNvPr>
          <p:cNvSpPr/>
          <p:nvPr/>
        </p:nvSpPr>
        <p:spPr>
          <a:xfrm>
            <a:off x="5152078" y="24248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3900C4B1-5A71-39B9-B555-75EC53D2A257}"/>
              </a:ext>
            </a:extLst>
          </p:cNvPr>
          <p:cNvCxnSpPr>
            <a:cxnSpLocks/>
            <a:stCxn id="26" idx="1"/>
            <a:endCxn id="28" idx="0"/>
          </p:cNvCxnSpPr>
          <p:nvPr/>
        </p:nvCxnSpPr>
        <p:spPr>
          <a:xfrm rot="16200000" flipH="1">
            <a:off x="4417112" y="1453630"/>
            <a:ext cx="243682" cy="1698750"/>
          </a:xfrm>
          <a:prstGeom prst="bentConnector3">
            <a:avLst>
              <a:gd name="adj1" fmla="val -368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0DAD18E6-E5CB-0D54-F0B9-539A379CD2ED}"/>
              </a:ext>
            </a:extLst>
          </p:cNvPr>
          <p:cNvCxnSpPr>
            <a:cxnSpLocks/>
            <a:stCxn id="27" idx="1"/>
            <a:endCxn id="31" idx="2"/>
          </p:cNvCxnSpPr>
          <p:nvPr/>
        </p:nvCxnSpPr>
        <p:spPr>
          <a:xfrm rot="5400000" flipH="1" flipV="1">
            <a:off x="4436421" y="3200925"/>
            <a:ext cx="235540" cy="1668274"/>
          </a:xfrm>
          <a:prstGeom prst="bentConnector3">
            <a:avLst>
              <a:gd name="adj1" fmla="val -457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AC29147-7DA2-1EF9-DA76-F12B71818596}"/>
              </a:ext>
            </a:extLst>
          </p:cNvPr>
          <p:cNvSpPr/>
          <p:nvPr/>
        </p:nvSpPr>
        <p:spPr>
          <a:xfrm>
            <a:off x="5152078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6C3868D-F906-133B-8F96-332E3E746D34}"/>
              </a:ext>
            </a:extLst>
          </p:cNvPr>
          <p:cNvSpPr/>
          <p:nvPr/>
        </p:nvSpPr>
        <p:spPr>
          <a:xfrm>
            <a:off x="5152078" y="302328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28CC5BE-C737-AC49-B340-43482B070861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>
            <a:off x="5388328" y="2686486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BC56912-2946-830E-ACE4-64EE9FCBE294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5388328" y="3284926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52B64A2-7E86-0A72-C635-17767D07AE18}"/>
              </a:ext>
            </a:extLst>
          </p:cNvPr>
          <p:cNvSpPr/>
          <p:nvPr/>
        </p:nvSpPr>
        <p:spPr>
          <a:xfrm>
            <a:off x="5831478" y="3061713"/>
            <a:ext cx="2774316" cy="97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</a:rPr>
              <a:t>Stage1~4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r>
              <a:rPr lang="fr-FR" altLang="zh-CN" sz="1200" dirty="0">
                <a:solidFill>
                  <a:schemeClr val="tx1"/>
                </a:solidFill>
              </a:rPr>
              <a:t>SupervisedAttentionModul</a:t>
            </a:r>
            <a:r>
              <a:rPr lang="en-US" altLang="zh-CN" sz="1200" dirty="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7D916DE-6544-82B0-B630-5A97E7B91714}"/>
              </a:ext>
            </a:extLst>
          </p:cNvPr>
          <p:cNvSpPr/>
          <p:nvPr/>
        </p:nvSpPr>
        <p:spPr>
          <a:xfrm>
            <a:off x="5865425" y="258160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86DF87E-1867-FDE4-DBE3-75091BA42B6A}"/>
              </a:ext>
            </a:extLst>
          </p:cNvPr>
          <p:cNvSpPr/>
          <p:nvPr/>
        </p:nvSpPr>
        <p:spPr>
          <a:xfrm>
            <a:off x="6608122" y="258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52B879E-1DBA-26AE-927C-F158C1B33C8D}"/>
              </a:ext>
            </a:extLst>
          </p:cNvPr>
          <p:cNvSpPr/>
          <p:nvPr/>
        </p:nvSpPr>
        <p:spPr>
          <a:xfrm>
            <a:off x="7364958" y="258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4EC551-CA67-5134-FDCA-C208FF9203E5}"/>
              </a:ext>
            </a:extLst>
          </p:cNvPr>
          <p:cNvSpPr/>
          <p:nvPr/>
        </p:nvSpPr>
        <p:spPr>
          <a:xfrm>
            <a:off x="8090952" y="257526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左大括号 39">
            <a:extLst>
              <a:ext uri="{FF2B5EF4-FFF2-40B4-BE49-F238E27FC236}">
                <a16:creationId xmlns:a16="http://schemas.microsoft.com/office/drawing/2014/main" id="{FEA55FE6-179C-2C08-3B46-3528089BA253}"/>
              </a:ext>
            </a:extLst>
          </p:cNvPr>
          <p:cNvSpPr/>
          <p:nvPr/>
        </p:nvSpPr>
        <p:spPr>
          <a:xfrm rot="5400000">
            <a:off x="7074923" y="1016380"/>
            <a:ext cx="223503" cy="2838243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077DA8A2-7711-9696-B4DA-9CC0E350BDDD}"/>
              </a:ext>
            </a:extLst>
          </p:cNvPr>
          <p:cNvCxnSpPr>
            <a:cxnSpLocks/>
            <a:stCxn id="32" idx="3"/>
            <a:endCxn id="40" idx="1"/>
          </p:cNvCxnSpPr>
          <p:nvPr/>
        </p:nvCxnSpPr>
        <p:spPr>
          <a:xfrm flipV="1">
            <a:off x="5624578" y="2323750"/>
            <a:ext cx="1562096" cy="830356"/>
          </a:xfrm>
          <a:prstGeom prst="bentConnector4">
            <a:avLst>
              <a:gd name="adj1" fmla="val 6423"/>
              <a:gd name="adj2" fmla="val 1280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2407C86-66A9-C73C-F3DB-D8303137540F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6101675" y="2843249"/>
            <a:ext cx="4319" cy="422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15F2C7F-ADD6-E428-6379-49A6D6ECEE8F}"/>
              </a:ext>
            </a:extLst>
          </p:cNvPr>
          <p:cNvCxnSpPr>
            <a:cxnSpLocks/>
            <a:stCxn id="37" idx="2"/>
            <a:endCxn id="47" idx="0"/>
          </p:cNvCxnSpPr>
          <p:nvPr/>
        </p:nvCxnSpPr>
        <p:spPr>
          <a:xfrm>
            <a:off x="6844372" y="2843028"/>
            <a:ext cx="0" cy="420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D2B798A-A759-78FD-19D0-CF8CE173C9C2}"/>
              </a:ext>
            </a:extLst>
          </p:cNvPr>
          <p:cNvCxnSpPr>
            <a:cxnSpLocks/>
            <a:stCxn id="38" idx="2"/>
            <a:endCxn id="48" idx="0"/>
          </p:cNvCxnSpPr>
          <p:nvPr/>
        </p:nvCxnSpPr>
        <p:spPr>
          <a:xfrm>
            <a:off x="7601208" y="2843028"/>
            <a:ext cx="4285" cy="416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FDD373C-F5CC-88D8-C91D-778958174D81}"/>
              </a:ext>
            </a:extLst>
          </p:cNvPr>
          <p:cNvCxnSpPr>
            <a:cxnSpLocks/>
            <a:stCxn id="39" idx="2"/>
            <a:endCxn id="49" idx="0"/>
          </p:cNvCxnSpPr>
          <p:nvPr/>
        </p:nvCxnSpPr>
        <p:spPr>
          <a:xfrm>
            <a:off x="8327202" y="2836903"/>
            <a:ext cx="0" cy="42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1B5F8502-4887-DCED-9EFE-A51DDEF2C146}"/>
              </a:ext>
            </a:extLst>
          </p:cNvPr>
          <p:cNvSpPr/>
          <p:nvPr/>
        </p:nvSpPr>
        <p:spPr>
          <a:xfrm>
            <a:off x="5869744" y="326545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69455D3-CF62-F70A-1DF4-966C22131DAF}"/>
              </a:ext>
            </a:extLst>
          </p:cNvPr>
          <p:cNvSpPr/>
          <p:nvPr/>
        </p:nvSpPr>
        <p:spPr>
          <a:xfrm>
            <a:off x="6608122" y="32634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8362F27-33DA-4C6C-FED8-4EA8A1146D5D}"/>
              </a:ext>
            </a:extLst>
          </p:cNvPr>
          <p:cNvSpPr/>
          <p:nvPr/>
        </p:nvSpPr>
        <p:spPr>
          <a:xfrm>
            <a:off x="7369243" y="3259860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0D271E-3373-8434-6924-AF7545E8F091}"/>
              </a:ext>
            </a:extLst>
          </p:cNvPr>
          <p:cNvSpPr/>
          <p:nvPr/>
        </p:nvSpPr>
        <p:spPr>
          <a:xfrm>
            <a:off x="8090952" y="326010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2F10F90-0567-3A1F-ED66-18814D096FCB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6342244" y="3394266"/>
            <a:ext cx="265878" cy="2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0FB2F08-11F1-3656-A8D3-C5133F64B790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 flipV="1">
            <a:off x="7080622" y="3390680"/>
            <a:ext cx="288621" cy="3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9E58273-B015-A969-C54A-BDD892408D0A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7837458" y="3390680"/>
            <a:ext cx="253494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74B262E2-504A-2795-DDC6-DCE3282CCDF2}"/>
              </a:ext>
            </a:extLst>
          </p:cNvPr>
          <p:cNvSpPr/>
          <p:nvPr/>
        </p:nvSpPr>
        <p:spPr>
          <a:xfrm>
            <a:off x="8871672" y="3278928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F8D5117-E9D8-BDD4-9C3D-B0A58146C3EA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8563452" y="3390680"/>
            <a:ext cx="308220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880E22C-07EA-0F71-2156-E6E194717005}"/>
              </a:ext>
            </a:extLst>
          </p:cNvPr>
          <p:cNvCxnSpPr>
            <a:cxnSpLocks/>
            <a:stCxn id="53" idx="0"/>
            <a:endCxn id="56" idx="2"/>
          </p:cNvCxnSpPr>
          <p:nvPr/>
        </p:nvCxnSpPr>
        <p:spPr>
          <a:xfrm flipH="1" flipV="1">
            <a:off x="9281875" y="2957102"/>
            <a:ext cx="340" cy="32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37CED921-E2D3-920F-95D4-D8BBEC66162C}"/>
              </a:ext>
            </a:extLst>
          </p:cNvPr>
          <p:cNvSpPr txBox="1"/>
          <p:nvPr/>
        </p:nvSpPr>
        <p:spPr>
          <a:xfrm>
            <a:off x="8682008" y="2380021"/>
            <a:ext cx="119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GT</a:t>
            </a:r>
          </a:p>
          <a:p>
            <a:pPr algn="ctr"/>
            <a:r>
              <a:rPr lang="zh-CN" altLang="en-US" sz="1050" dirty="0"/>
              <a:t>↓</a:t>
            </a:r>
            <a:endParaRPr lang="en-US" altLang="zh-CN" sz="1050" dirty="0"/>
          </a:p>
          <a:p>
            <a:pPr algn="ctr"/>
            <a:r>
              <a:rPr lang="zh-CN" altLang="en-US" sz="1050" dirty="0"/>
              <a:t>主</a:t>
            </a:r>
            <a:r>
              <a:rPr lang="en-US" altLang="zh-CN" sz="1050" dirty="0"/>
              <a:t>loss</a:t>
            </a:r>
            <a:r>
              <a:rPr lang="zh-CN" altLang="en-US" sz="1050" dirty="0"/>
              <a:t>： </a:t>
            </a:r>
            <a:r>
              <a:rPr lang="fr-FR" altLang="zh-CN" sz="1050" dirty="0"/>
              <a:t>BCE+Dice </a:t>
            </a:r>
            <a:endParaRPr lang="en-US" altLang="zh-CN" sz="1050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C4399E1-9C00-ECE4-5414-FD4405CC2423}"/>
              </a:ext>
            </a:extLst>
          </p:cNvPr>
          <p:cNvSpPr/>
          <p:nvPr/>
        </p:nvSpPr>
        <p:spPr>
          <a:xfrm>
            <a:off x="1776000" y="1899000"/>
            <a:ext cx="8105742" cy="2543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D2B510B-EED9-E1A5-32D1-9FDE9FA3B231}"/>
              </a:ext>
            </a:extLst>
          </p:cNvPr>
          <p:cNvSpPr txBox="1"/>
          <p:nvPr/>
        </p:nvSpPr>
        <p:spPr>
          <a:xfrm>
            <a:off x="5085833" y="268341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EB7EE21-3EE1-738F-4118-8127D946882B}"/>
              </a:ext>
            </a:extLst>
          </p:cNvPr>
          <p:cNvSpPr txBox="1"/>
          <p:nvPr/>
        </p:nvSpPr>
        <p:spPr>
          <a:xfrm>
            <a:off x="5085833" y="3421839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1379162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Future Work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FB5AC2-8BCA-7E96-7B23-FDEADC341A59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869E41-DEE3-5A58-4EED-4F16D4FC6E86}"/>
              </a:ext>
            </a:extLst>
          </p:cNvPr>
          <p:cNvSpPr txBox="1"/>
          <p:nvPr/>
        </p:nvSpPr>
        <p:spPr>
          <a:xfrm>
            <a:off x="201000" y="1089000"/>
            <a:ext cx="81450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将大模型的文本信息作为教师，看相关论文，更好的处理奇偶知识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看</a:t>
            </a:r>
            <a:r>
              <a:rPr lang="en-US" altLang="zh-CN" dirty="0"/>
              <a:t>agent</a:t>
            </a:r>
            <a:r>
              <a:rPr lang="zh-CN" altLang="en-US" dirty="0"/>
              <a:t>相关</a:t>
            </a:r>
            <a:r>
              <a:rPr lang="en-US" altLang="zh-CN" dirty="0"/>
              <a:t>BCD</a:t>
            </a:r>
            <a:r>
              <a:rPr lang="zh-CN" altLang="en-US" dirty="0"/>
              <a:t>论文</a:t>
            </a:r>
          </a:p>
        </p:txBody>
      </p:sp>
    </p:spTree>
    <p:extLst>
      <p:ext uri="{BB962C8B-B14F-4D97-AF65-F5344CB8AC3E}">
        <p14:creationId xmlns:p14="http://schemas.microsoft.com/office/powerpoint/2010/main" val="2682849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4E104A6-CE2D-16A8-B9FD-15B06F03FA01}"/>
              </a:ext>
            </a:extLst>
          </p:cNvPr>
          <p:cNvSpPr txBox="1"/>
          <p:nvPr/>
        </p:nvSpPr>
        <p:spPr>
          <a:xfrm>
            <a:off x="0" y="610238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Haitao Wen, Lili Pan, Yu Dai, Heqian Qiu, Lanxiao Wang*, Qingbo Wu, Hongliang Li*.</a:t>
            </a:r>
            <a:r>
              <a:rPr lang="en-US" altLang="zh-CN" b="0" i="0" dirty="0">
                <a:solidFill>
                  <a:srgbClr val="7B838B"/>
                </a:solidFill>
                <a:effectLst/>
                <a:latin typeface="-apple-system"/>
              </a:rPr>
              <a:t> Class Incremental Learning, Multi-Teacher Distillation, Knowledge Distillation, Catastrophic Forgetting, Diversity Regularization.CVPR,2024</a:t>
            </a:r>
            <a:endParaRPr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AA3DBA4-7B8C-ED3E-3FE6-825B8FCBD345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 err="1"/>
              <a:t>CLearining</a:t>
            </a:r>
            <a:endParaRPr lang="fr-FR" altLang="zh-C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1CFE083-6FEF-9C8C-DFC7-C65B9791E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00" y="1002499"/>
            <a:ext cx="59850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</a:rPr>
              <a:t>任务</a:t>
            </a:r>
            <a:r>
              <a:rPr lang="en-US" altLang="zh-CN" dirty="0">
                <a:latin typeface="Arial" panose="020B0604020202020204" pitchFamily="34" charset="0"/>
              </a:rPr>
              <a:t>:</a:t>
            </a:r>
            <a:r>
              <a:rPr lang="zh-CN" altLang="en-US" dirty="0"/>
              <a:t>类增量学习</a:t>
            </a:r>
            <a:r>
              <a:rPr lang="en-US" altLang="zh-CN" dirty="0"/>
              <a:t>(</a:t>
            </a:r>
            <a:r>
              <a:rPr lang="zh-CN" altLang="en-US" dirty="0"/>
              <a:t>模型不断学习新类别，但测试时需要同时识别</a:t>
            </a:r>
            <a:r>
              <a:rPr lang="zh-CN" altLang="en-US" b="1" dirty="0"/>
              <a:t>以前所有类别 </a:t>
            </a:r>
            <a:r>
              <a:rPr lang="en-US" altLang="zh-CN" b="1" dirty="0"/>
              <a:t>+ </a:t>
            </a:r>
            <a:r>
              <a:rPr lang="zh-CN" altLang="en-US" b="1" dirty="0"/>
              <a:t>当前新类别</a:t>
            </a:r>
            <a:r>
              <a:rPr lang="zh-CN" altLang="en-US" dirty="0"/>
              <a:t>。</a:t>
            </a:r>
            <a:r>
              <a:rPr lang="en-US" altLang="zh-CN" dirty="0"/>
              <a:t>)</a:t>
            </a: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zh-CN" dirty="0">
                <a:latin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Motivation: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zh-CN" altLang="en-US" dirty="0"/>
              <a:t>单教师的知识比较单一</a:t>
            </a:r>
            <a:r>
              <a:rPr lang="en-US" altLang="zh-CN" dirty="0"/>
              <a:t>,</a:t>
            </a:r>
            <a:r>
              <a:rPr lang="zh-CN" altLang="en-US" dirty="0"/>
              <a:t>但是直接训练多个教师代价又太大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创新点：</a:t>
            </a:r>
            <a:b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dirty="0"/>
              <a:t>通过</a:t>
            </a:r>
            <a:r>
              <a:rPr lang="zh-CN" altLang="en-US" b="1" dirty="0"/>
              <a:t>权重置换 </a:t>
            </a:r>
            <a:r>
              <a:rPr lang="en-US" altLang="zh-CN" b="1" dirty="0"/>
              <a:t>+ </a:t>
            </a:r>
            <a:r>
              <a:rPr lang="zh-CN" altLang="en-US" b="1" dirty="0"/>
              <a:t>特征扰动 </a:t>
            </a:r>
            <a:r>
              <a:rPr lang="en-US" altLang="zh-CN" b="1" dirty="0"/>
              <a:t>+ </a:t>
            </a:r>
            <a:r>
              <a:rPr lang="zh-CN" altLang="en-US" b="1" dirty="0"/>
              <a:t>多样性正则化</a:t>
            </a:r>
            <a:r>
              <a:rPr lang="zh-CN" altLang="en-US" dirty="0"/>
              <a:t>，从单个基础模型低成本构造多个高质量、多样化教师，再进行多教师蒸馏。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3FF255-C64E-4F35-A647-DD525F348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515" y="1539000"/>
            <a:ext cx="495300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076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Our Work</a:t>
            </a:r>
            <a:r>
              <a:rPr lang="zh-CN" altLang="en-US" dirty="0"/>
              <a:t>整体结构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2AB5E0-6098-5043-04E9-1B58A9CC596A}"/>
              </a:ext>
            </a:extLst>
          </p:cNvPr>
          <p:cNvSpPr/>
          <p:nvPr/>
        </p:nvSpPr>
        <p:spPr>
          <a:xfrm>
            <a:off x="225379" y="126035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01B54B-A37D-E22A-1143-220D63740786}"/>
              </a:ext>
            </a:extLst>
          </p:cNvPr>
          <p:cNvSpPr/>
          <p:nvPr/>
        </p:nvSpPr>
        <p:spPr>
          <a:xfrm>
            <a:off x="225379" y="2390798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8C43-6AC5-21FE-F0C7-6621F4065FF6}"/>
              </a:ext>
            </a:extLst>
          </p:cNvPr>
          <p:cNvSpPr/>
          <p:nvPr/>
        </p:nvSpPr>
        <p:spPr>
          <a:xfrm>
            <a:off x="675379" y="1575355"/>
            <a:ext cx="900000" cy="846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SAM2 Automatic Mask Generator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513527-A578-00C1-34D6-DFE394911A5C}"/>
              </a:ext>
            </a:extLst>
          </p:cNvPr>
          <p:cNvSpPr/>
          <p:nvPr/>
        </p:nvSpPr>
        <p:spPr>
          <a:xfrm>
            <a:off x="2284719" y="1471254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实例编号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C61A63-08DD-CC68-0218-048D4FA1E875}"/>
              </a:ext>
            </a:extLst>
          </p:cNvPr>
          <p:cNvSpPr/>
          <p:nvPr/>
        </p:nvSpPr>
        <p:spPr>
          <a:xfrm>
            <a:off x="2284719" y="1884720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边界图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028609-E39A-8240-C3DD-6475AA956F4B}"/>
              </a:ext>
            </a:extLst>
          </p:cNvPr>
          <p:cNvSpPr/>
          <p:nvPr/>
        </p:nvSpPr>
        <p:spPr>
          <a:xfrm>
            <a:off x="2284719" y="2298186"/>
            <a:ext cx="90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掩码质量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11B3CB-15DA-9E9B-C030-2514E6C0FB48}"/>
              </a:ext>
            </a:extLst>
          </p:cNvPr>
          <p:cNvSpPr/>
          <p:nvPr/>
        </p:nvSpPr>
        <p:spPr>
          <a:xfrm>
            <a:off x="3072219" y="2693034"/>
            <a:ext cx="72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保存 </a:t>
            </a:r>
            <a:r>
              <a:rPr lang="en-US" altLang="zh-CN" sz="1200" dirty="0">
                <a:solidFill>
                  <a:schemeClr val="tx1"/>
                </a:solidFill>
              </a:rPr>
              <a:t>.</a:t>
            </a:r>
            <a:r>
              <a:rPr lang="fr-FR" altLang="zh-CN" sz="1200" dirty="0">
                <a:solidFill>
                  <a:schemeClr val="tx1"/>
                </a:solidFill>
              </a:rPr>
              <a:t>pt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CEEC11-B492-A288-4C37-AF91F7497014}"/>
              </a:ext>
            </a:extLst>
          </p:cNvPr>
          <p:cNvSpPr/>
          <p:nvPr/>
        </p:nvSpPr>
        <p:spPr>
          <a:xfrm>
            <a:off x="3072219" y="1136691"/>
            <a:ext cx="720000" cy="23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保存 </a:t>
            </a:r>
            <a:r>
              <a:rPr lang="en-US" altLang="zh-CN" sz="1200" dirty="0">
                <a:solidFill>
                  <a:schemeClr val="tx1"/>
                </a:solidFill>
              </a:rPr>
              <a:t>.</a:t>
            </a:r>
            <a:r>
              <a:rPr lang="fr-FR" altLang="zh-CN" sz="1200" dirty="0">
                <a:solidFill>
                  <a:schemeClr val="tx1"/>
                </a:solidFill>
              </a:rPr>
              <a:t>pt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FB4373E5-4100-688D-722C-2E0A40776981}"/>
              </a:ext>
            </a:extLst>
          </p:cNvPr>
          <p:cNvCxnSpPr>
            <a:cxnSpLocks/>
            <a:stCxn id="8" idx="3"/>
            <a:endCxn id="15" idx="0"/>
          </p:cNvCxnSpPr>
          <p:nvPr/>
        </p:nvCxnSpPr>
        <p:spPr>
          <a:xfrm>
            <a:off x="585379" y="1417855"/>
            <a:ext cx="540000" cy="1575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A2FBAAAD-E82A-46D2-197C-B44B814ED8A5}"/>
              </a:ext>
            </a:extLst>
          </p:cNvPr>
          <p:cNvCxnSpPr>
            <a:cxnSpLocks/>
            <a:stCxn id="13" idx="3"/>
            <a:endCxn id="15" idx="2"/>
          </p:cNvCxnSpPr>
          <p:nvPr/>
        </p:nvCxnSpPr>
        <p:spPr>
          <a:xfrm flipV="1">
            <a:off x="585379" y="2421909"/>
            <a:ext cx="540000" cy="1263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F5914803-FBB9-6D5E-1474-598EEAEFE9A9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1575379" y="1589343"/>
            <a:ext cx="709340" cy="4092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6DF51550-6B41-28BB-E3F6-D6C8466D1D98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1575379" y="1998632"/>
            <a:ext cx="709340" cy="41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3A93F6D5-F08D-27D4-8A7D-BBA02D324A51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1575379" y="1998632"/>
            <a:ext cx="709340" cy="4176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F272125F-8836-56F4-C5C1-D9E2C286FDE3}"/>
              </a:ext>
            </a:extLst>
          </p:cNvPr>
          <p:cNvSpPr txBox="1"/>
          <p:nvPr/>
        </p:nvSpPr>
        <p:spPr>
          <a:xfrm>
            <a:off x="1617819" y="1372868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获取</a:t>
            </a:r>
          </a:p>
        </p:txBody>
      </p: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6960D45C-786D-91D3-470F-CF23485A0DED}"/>
              </a:ext>
            </a:extLst>
          </p:cNvPr>
          <p:cNvCxnSpPr>
            <a:cxnSpLocks/>
            <a:stCxn id="20" idx="3"/>
            <a:endCxn id="24" idx="2"/>
          </p:cNvCxnSpPr>
          <p:nvPr/>
        </p:nvCxnSpPr>
        <p:spPr>
          <a:xfrm flipV="1">
            <a:off x="3184719" y="1372868"/>
            <a:ext cx="247500" cy="6299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2114E74E-7F86-AE0D-43DE-2E5D5D807A65}"/>
              </a:ext>
            </a:extLst>
          </p:cNvPr>
          <p:cNvCxnSpPr>
            <a:cxnSpLocks/>
            <a:stCxn id="19" idx="3"/>
            <a:endCxn id="24" idx="2"/>
          </p:cNvCxnSpPr>
          <p:nvPr/>
        </p:nvCxnSpPr>
        <p:spPr>
          <a:xfrm flipV="1">
            <a:off x="3184719" y="1372868"/>
            <a:ext cx="247500" cy="2164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FDAABD41-3972-2A5A-B395-F1F03511174A}"/>
              </a:ext>
            </a:extLst>
          </p:cNvPr>
          <p:cNvCxnSpPr>
            <a:cxnSpLocks/>
            <a:stCxn id="22" idx="3"/>
            <a:endCxn id="24" idx="2"/>
          </p:cNvCxnSpPr>
          <p:nvPr/>
        </p:nvCxnSpPr>
        <p:spPr>
          <a:xfrm flipV="1">
            <a:off x="3184719" y="1372868"/>
            <a:ext cx="247500" cy="104340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831E13F2-74BF-2895-B0EF-7A04D4E5DFD6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>
            <a:off x="3184719" y="1589343"/>
            <a:ext cx="247500" cy="11036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620D89E1-5D05-88BF-B94D-4293D78AABAC}"/>
              </a:ext>
            </a:extLst>
          </p:cNvPr>
          <p:cNvCxnSpPr>
            <a:cxnSpLocks/>
            <a:stCxn id="20" idx="3"/>
            <a:endCxn id="23" idx="0"/>
          </p:cNvCxnSpPr>
          <p:nvPr/>
        </p:nvCxnSpPr>
        <p:spPr>
          <a:xfrm>
            <a:off x="3184719" y="2002809"/>
            <a:ext cx="247500" cy="6902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B489F027-3731-72A1-AD3C-8A545A856939}"/>
              </a:ext>
            </a:extLst>
          </p:cNvPr>
          <p:cNvCxnSpPr>
            <a:cxnSpLocks/>
            <a:stCxn id="22" idx="3"/>
            <a:endCxn id="23" idx="0"/>
          </p:cNvCxnSpPr>
          <p:nvPr/>
        </p:nvCxnSpPr>
        <p:spPr>
          <a:xfrm>
            <a:off x="3184719" y="2416275"/>
            <a:ext cx="247500" cy="2767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id="{6610F4C4-57E5-6D71-FC08-684E82B94011}"/>
              </a:ext>
            </a:extLst>
          </p:cNvPr>
          <p:cNvSpPr/>
          <p:nvPr/>
        </p:nvSpPr>
        <p:spPr>
          <a:xfrm>
            <a:off x="69362" y="744410"/>
            <a:ext cx="3877508" cy="2819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AECC764-70E0-EC06-C2ED-BDA08B5DE86B}"/>
              </a:ext>
            </a:extLst>
          </p:cNvPr>
          <p:cNvSpPr txBox="1"/>
          <p:nvPr/>
        </p:nvSpPr>
        <p:spPr>
          <a:xfrm>
            <a:off x="143407" y="3047326"/>
            <a:ext cx="3803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阶段一（离线</a:t>
            </a:r>
            <a:r>
              <a:rPr lang="en-US" altLang="zh-CN" sz="1400" dirty="0"/>
              <a:t>teacher</a:t>
            </a:r>
            <a:r>
              <a:rPr lang="zh-CN" altLang="en-US" sz="1400" dirty="0"/>
              <a:t>）</a:t>
            </a:r>
            <a:r>
              <a:rPr lang="en-US" altLang="zh-CN" sz="1400" dirty="0"/>
              <a:t>:SAM2</a:t>
            </a:r>
            <a:r>
              <a:rPr lang="zh-CN" altLang="en-US" sz="1400" dirty="0"/>
              <a:t>对训练集每个图生成离线教师缓存</a:t>
            </a:r>
            <a:r>
              <a:rPr lang="en-US" altLang="zh-CN" sz="1400" dirty="0"/>
              <a:t>Stage A cached </a:t>
            </a:r>
            <a:r>
              <a:rPr lang="en-US" altLang="zh-CN" sz="1400" dirty="0" err="1"/>
              <a:t>teacher_pack</a:t>
            </a:r>
            <a:endParaRPr lang="zh-CN" altLang="en-US" sz="1400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A61785A-0532-F59A-4E36-729BE6DAE458}"/>
              </a:ext>
            </a:extLst>
          </p:cNvPr>
          <p:cNvSpPr/>
          <p:nvPr/>
        </p:nvSpPr>
        <p:spPr>
          <a:xfrm>
            <a:off x="4332881" y="1310432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FFBA5B1-45AE-E56C-75A5-BD9FE090C47C}"/>
              </a:ext>
            </a:extLst>
          </p:cNvPr>
          <p:cNvSpPr/>
          <p:nvPr/>
        </p:nvSpPr>
        <p:spPr>
          <a:xfrm>
            <a:off x="4332881" y="244087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03D0A24-98BD-065C-9DD8-FBDB5657B7DB}"/>
              </a:ext>
            </a:extLst>
          </p:cNvPr>
          <p:cNvSpPr/>
          <p:nvPr/>
        </p:nvSpPr>
        <p:spPr>
          <a:xfrm>
            <a:off x="4946493" y="1802722"/>
            <a:ext cx="2080413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Shared LWGANet_L0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F7B80E7A-AB46-013B-9C91-4E48F8189984}"/>
              </a:ext>
            </a:extLst>
          </p:cNvPr>
          <p:cNvCxnSpPr>
            <a:cxnSpLocks/>
            <a:stCxn id="98" idx="3"/>
            <a:endCxn id="100" idx="1"/>
          </p:cNvCxnSpPr>
          <p:nvPr/>
        </p:nvCxnSpPr>
        <p:spPr>
          <a:xfrm>
            <a:off x="4692881" y="1467932"/>
            <a:ext cx="253612" cy="5315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616272E1-F9D7-0BE3-522D-CA5118F3D85A}"/>
              </a:ext>
            </a:extLst>
          </p:cNvPr>
          <p:cNvCxnSpPr>
            <a:cxnSpLocks/>
            <a:stCxn id="99" idx="3"/>
            <a:endCxn id="100" idx="1"/>
          </p:cNvCxnSpPr>
          <p:nvPr/>
        </p:nvCxnSpPr>
        <p:spPr>
          <a:xfrm flipV="1">
            <a:off x="4692881" y="1999516"/>
            <a:ext cx="253612" cy="5988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2082EABE-E19E-1D05-3591-551417A8D7DE}"/>
              </a:ext>
            </a:extLst>
          </p:cNvPr>
          <p:cNvSpPr/>
          <p:nvPr/>
        </p:nvSpPr>
        <p:spPr>
          <a:xfrm>
            <a:off x="4938948" y="125233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1643C3D-5155-A862-4320-A960E0D14B31}"/>
              </a:ext>
            </a:extLst>
          </p:cNvPr>
          <p:cNvSpPr/>
          <p:nvPr/>
        </p:nvSpPr>
        <p:spPr>
          <a:xfrm>
            <a:off x="5476462" y="125233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24A5A29-C812-3F8B-CB65-E005E227BDDC}"/>
              </a:ext>
            </a:extLst>
          </p:cNvPr>
          <p:cNvSpPr/>
          <p:nvPr/>
        </p:nvSpPr>
        <p:spPr>
          <a:xfrm>
            <a:off x="6013976" y="125703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7BCCF705-2B05-A67D-AA7F-8F3DEDC4AD79}"/>
              </a:ext>
            </a:extLst>
          </p:cNvPr>
          <p:cNvSpPr/>
          <p:nvPr/>
        </p:nvSpPr>
        <p:spPr>
          <a:xfrm>
            <a:off x="6573027" y="126211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29071DB8-CF8C-1FE1-7AD7-BFF822E33665}"/>
              </a:ext>
            </a:extLst>
          </p:cNvPr>
          <p:cNvSpPr/>
          <p:nvPr/>
        </p:nvSpPr>
        <p:spPr>
          <a:xfrm>
            <a:off x="4946493" y="250106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C4D987D-B040-070C-239C-CB4DE1055EF5}"/>
              </a:ext>
            </a:extLst>
          </p:cNvPr>
          <p:cNvSpPr/>
          <p:nvPr/>
        </p:nvSpPr>
        <p:spPr>
          <a:xfrm>
            <a:off x="5484007" y="250106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96A554D8-058D-A39B-4BE1-299C7E99BFCB}"/>
              </a:ext>
            </a:extLst>
          </p:cNvPr>
          <p:cNvSpPr/>
          <p:nvPr/>
        </p:nvSpPr>
        <p:spPr>
          <a:xfrm>
            <a:off x="6021521" y="250576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DCFBFA2-33D4-CCD2-5B84-9118AA39268A}"/>
              </a:ext>
            </a:extLst>
          </p:cNvPr>
          <p:cNvSpPr/>
          <p:nvPr/>
        </p:nvSpPr>
        <p:spPr>
          <a:xfrm>
            <a:off x="6580572" y="251084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ADC57DFC-F6CB-5DD0-62C3-2D771FC05727}"/>
              </a:ext>
            </a:extLst>
          </p:cNvPr>
          <p:cNvCxnSpPr>
            <a:cxnSpLocks/>
            <a:stCxn id="100" idx="0"/>
            <a:endCxn id="121" idx="2"/>
          </p:cNvCxnSpPr>
          <p:nvPr/>
        </p:nvCxnSpPr>
        <p:spPr>
          <a:xfrm rot="16200000" flipV="1">
            <a:off x="5436574" y="1252596"/>
            <a:ext cx="288750" cy="811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连接符: 肘形 135">
            <a:extLst>
              <a:ext uri="{FF2B5EF4-FFF2-40B4-BE49-F238E27FC236}">
                <a16:creationId xmlns:a16="http://schemas.microsoft.com/office/drawing/2014/main" id="{68150A80-F662-EF5F-893C-B52B43282F90}"/>
              </a:ext>
            </a:extLst>
          </p:cNvPr>
          <p:cNvCxnSpPr>
            <a:cxnSpLocks/>
            <a:stCxn id="100" idx="0"/>
            <a:endCxn id="124" idx="2"/>
          </p:cNvCxnSpPr>
          <p:nvPr/>
        </p:nvCxnSpPr>
        <p:spPr>
          <a:xfrm rot="16200000" flipV="1">
            <a:off x="5705331" y="1521353"/>
            <a:ext cx="288750" cy="2739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连接符: 肘形 138">
            <a:extLst>
              <a:ext uri="{FF2B5EF4-FFF2-40B4-BE49-F238E27FC236}">
                <a16:creationId xmlns:a16="http://schemas.microsoft.com/office/drawing/2014/main" id="{2F60BA43-0FED-B637-E014-816A77D38EBE}"/>
              </a:ext>
            </a:extLst>
          </p:cNvPr>
          <p:cNvCxnSpPr>
            <a:cxnSpLocks/>
            <a:stCxn id="100" idx="0"/>
            <a:endCxn id="125" idx="2"/>
          </p:cNvCxnSpPr>
          <p:nvPr/>
        </p:nvCxnSpPr>
        <p:spPr>
          <a:xfrm rot="5400000" flipH="1" flipV="1">
            <a:off x="5976439" y="1528935"/>
            <a:ext cx="284048" cy="2635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924E4259-509B-C9BD-3A82-9FBE7304094B}"/>
              </a:ext>
            </a:extLst>
          </p:cNvPr>
          <p:cNvCxnSpPr>
            <a:cxnSpLocks/>
            <a:stCxn id="100" idx="0"/>
            <a:endCxn id="126" idx="2"/>
          </p:cNvCxnSpPr>
          <p:nvPr/>
        </p:nvCxnSpPr>
        <p:spPr>
          <a:xfrm rot="5400000" flipH="1" flipV="1">
            <a:off x="6258504" y="1251950"/>
            <a:ext cx="278968" cy="8225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504ED3F8-2BF7-3974-4729-30586231E65A}"/>
              </a:ext>
            </a:extLst>
          </p:cNvPr>
          <p:cNvCxnSpPr>
            <a:cxnSpLocks/>
            <a:stCxn id="100" idx="2"/>
            <a:endCxn id="129" idx="0"/>
          </p:cNvCxnSpPr>
          <p:nvPr/>
        </p:nvCxnSpPr>
        <p:spPr>
          <a:xfrm rot="5400000">
            <a:off x="5432346" y="1946708"/>
            <a:ext cx="304752" cy="80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连接符: 肘形 147">
            <a:extLst>
              <a:ext uri="{FF2B5EF4-FFF2-40B4-BE49-F238E27FC236}">
                <a16:creationId xmlns:a16="http://schemas.microsoft.com/office/drawing/2014/main" id="{936F0A44-11B4-D344-C575-F33B98E7DA09}"/>
              </a:ext>
            </a:extLst>
          </p:cNvPr>
          <p:cNvCxnSpPr>
            <a:cxnSpLocks/>
            <a:stCxn id="100" idx="2"/>
            <a:endCxn id="130" idx="0"/>
          </p:cNvCxnSpPr>
          <p:nvPr/>
        </p:nvCxnSpPr>
        <p:spPr>
          <a:xfrm rot="5400000">
            <a:off x="5701103" y="2215465"/>
            <a:ext cx="304752" cy="2664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D7AF6E7B-7A85-D190-BFE7-38E52F576F6D}"/>
              </a:ext>
            </a:extLst>
          </p:cNvPr>
          <p:cNvCxnSpPr>
            <a:cxnSpLocks/>
            <a:stCxn id="100" idx="2"/>
            <a:endCxn id="131" idx="0"/>
          </p:cNvCxnSpPr>
          <p:nvPr/>
        </p:nvCxnSpPr>
        <p:spPr>
          <a:xfrm rot="16200000" flipH="1">
            <a:off x="5967508" y="2215501"/>
            <a:ext cx="309454" cy="271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12313C2A-F9D4-87A5-9EF9-54D175E57C68}"/>
              </a:ext>
            </a:extLst>
          </p:cNvPr>
          <p:cNvCxnSpPr>
            <a:cxnSpLocks/>
            <a:stCxn id="100" idx="2"/>
            <a:endCxn id="132" idx="0"/>
          </p:cNvCxnSpPr>
          <p:nvPr/>
        </p:nvCxnSpPr>
        <p:spPr>
          <a:xfrm rot="16200000" flipH="1">
            <a:off x="6244494" y="1938516"/>
            <a:ext cx="314534" cy="830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左大括号 168">
            <a:extLst>
              <a:ext uri="{FF2B5EF4-FFF2-40B4-BE49-F238E27FC236}">
                <a16:creationId xmlns:a16="http://schemas.microsoft.com/office/drawing/2014/main" id="{9CA0F0B2-F8E9-3AAC-4E2E-C17E6E34105D}"/>
              </a:ext>
            </a:extLst>
          </p:cNvPr>
          <p:cNvSpPr/>
          <p:nvPr/>
        </p:nvSpPr>
        <p:spPr>
          <a:xfrm rot="5400000">
            <a:off x="5883107" y="-20534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左大括号 169">
            <a:extLst>
              <a:ext uri="{FF2B5EF4-FFF2-40B4-BE49-F238E27FC236}">
                <a16:creationId xmlns:a16="http://schemas.microsoft.com/office/drawing/2014/main" id="{F826268C-6062-4EDA-490B-0A01E01F158B}"/>
              </a:ext>
            </a:extLst>
          </p:cNvPr>
          <p:cNvSpPr/>
          <p:nvPr/>
        </p:nvSpPr>
        <p:spPr>
          <a:xfrm rot="16200000">
            <a:off x="5913583" y="1750349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FE89A49A-4F78-93B9-4E3D-BEA21FD3C70B}"/>
              </a:ext>
            </a:extLst>
          </p:cNvPr>
          <p:cNvSpPr/>
          <p:nvPr/>
        </p:nvSpPr>
        <p:spPr>
          <a:xfrm>
            <a:off x="7446000" y="127025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73" name="连接符: 肘形 172">
            <a:extLst>
              <a:ext uri="{FF2B5EF4-FFF2-40B4-BE49-F238E27FC236}">
                <a16:creationId xmlns:a16="http://schemas.microsoft.com/office/drawing/2014/main" id="{36D01FB3-97F7-A76E-BCE9-270DC05F288E}"/>
              </a:ext>
            </a:extLst>
          </p:cNvPr>
          <p:cNvCxnSpPr>
            <a:cxnSpLocks/>
            <a:stCxn id="169" idx="1"/>
            <a:endCxn id="171" idx="0"/>
          </p:cNvCxnSpPr>
          <p:nvPr/>
        </p:nvCxnSpPr>
        <p:spPr>
          <a:xfrm rot="16200000" flipH="1">
            <a:off x="6711034" y="299040"/>
            <a:ext cx="243682" cy="1698750"/>
          </a:xfrm>
          <a:prstGeom prst="bentConnector3">
            <a:avLst>
              <a:gd name="adj1" fmla="val -368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D8DA088F-1C3A-2871-5C14-2F0724CE7809}"/>
              </a:ext>
            </a:extLst>
          </p:cNvPr>
          <p:cNvCxnSpPr>
            <a:cxnSpLocks/>
            <a:stCxn id="170" idx="1"/>
            <a:endCxn id="178" idx="2"/>
          </p:cNvCxnSpPr>
          <p:nvPr/>
        </p:nvCxnSpPr>
        <p:spPr>
          <a:xfrm rot="5400000" flipH="1" flipV="1">
            <a:off x="6730343" y="2046335"/>
            <a:ext cx="235540" cy="1668274"/>
          </a:xfrm>
          <a:prstGeom prst="bentConnector3">
            <a:avLst>
              <a:gd name="adj1" fmla="val -457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矩形 177">
            <a:extLst>
              <a:ext uri="{FF2B5EF4-FFF2-40B4-BE49-F238E27FC236}">
                <a16:creationId xmlns:a16="http://schemas.microsoft.com/office/drawing/2014/main" id="{75D306BA-5262-FA5D-AA05-93D2A44B2313}"/>
              </a:ext>
            </a:extLst>
          </p:cNvPr>
          <p:cNvSpPr/>
          <p:nvPr/>
        </p:nvSpPr>
        <p:spPr>
          <a:xfrm>
            <a:off x="7446000" y="250106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B0AB1AE3-F073-BE81-A3B9-F35AE84A0E40}"/>
              </a:ext>
            </a:extLst>
          </p:cNvPr>
          <p:cNvSpPr/>
          <p:nvPr/>
        </p:nvSpPr>
        <p:spPr>
          <a:xfrm>
            <a:off x="7446000" y="184942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08FB53AE-3F2B-32AA-9E61-95132EEBDDF3}"/>
              </a:ext>
            </a:extLst>
          </p:cNvPr>
          <p:cNvCxnSpPr>
            <a:cxnSpLocks/>
            <a:stCxn id="171" idx="2"/>
            <a:endCxn id="182" idx="0"/>
          </p:cNvCxnSpPr>
          <p:nvPr/>
        </p:nvCxnSpPr>
        <p:spPr>
          <a:xfrm>
            <a:off x="7682250" y="1531896"/>
            <a:ext cx="0" cy="317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0C04D165-4E34-F7B3-21E7-F51235EE704D}"/>
              </a:ext>
            </a:extLst>
          </p:cNvPr>
          <p:cNvCxnSpPr>
            <a:cxnSpLocks/>
            <a:stCxn id="178" idx="0"/>
            <a:endCxn id="182" idx="2"/>
          </p:cNvCxnSpPr>
          <p:nvPr/>
        </p:nvCxnSpPr>
        <p:spPr>
          <a:xfrm flipV="1">
            <a:off x="7682250" y="2111063"/>
            <a:ext cx="0" cy="389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矩形 198">
            <a:extLst>
              <a:ext uri="{FF2B5EF4-FFF2-40B4-BE49-F238E27FC236}">
                <a16:creationId xmlns:a16="http://schemas.microsoft.com/office/drawing/2014/main" id="{4F9F42B6-7211-3075-D0A8-A68E62678CCD}"/>
              </a:ext>
            </a:extLst>
          </p:cNvPr>
          <p:cNvSpPr/>
          <p:nvPr/>
        </p:nvSpPr>
        <p:spPr>
          <a:xfrm>
            <a:off x="8125400" y="1907123"/>
            <a:ext cx="2774316" cy="97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</a:rPr>
              <a:t>Stage1~4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r>
              <a:rPr lang="fr-FR" altLang="zh-CN" sz="1200" dirty="0">
                <a:solidFill>
                  <a:schemeClr val="tx1"/>
                </a:solidFill>
              </a:rPr>
              <a:t>SupervisedAttentionModul</a:t>
            </a:r>
            <a:r>
              <a:rPr lang="en-US" altLang="zh-CN" sz="1200" dirty="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E9E1A51D-9E5A-2FF7-E4EE-9BC8A938BF5F}"/>
              </a:ext>
            </a:extLst>
          </p:cNvPr>
          <p:cNvSpPr/>
          <p:nvPr/>
        </p:nvSpPr>
        <p:spPr>
          <a:xfrm>
            <a:off x="8159347" y="142701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10477833-171D-CF39-20BE-346AFD6DCF06}"/>
              </a:ext>
            </a:extLst>
          </p:cNvPr>
          <p:cNvSpPr/>
          <p:nvPr/>
        </p:nvSpPr>
        <p:spPr>
          <a:xfrm>
            <a:off x="8902044" y="142679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D9775E87-551E-A8F3-3777-B4A4BBAE4F04}"/>
              </a:ext>
            </a:extLst>
          </p:cNvPr>
          <p:cNvSpPr/>
          <p:nvPr/>
        </p:nvSpPr>
        <p:spPr>
          <a:xfrm>
            <a:off x="9658880" y="142679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9D6C8094-335B-4EB2-26CD-F824EDDE5F22}"/>
              </a:ext>
            </a:extLst>
          </p:cNvPr>
          <p:cNvSpPr/>
          <p:nvPr/>
        </p:nvSpPr>
        <p:spPr>
          <a:xfrm>
            <a:off x="10384874" y="142067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15" name="左大括号 214">
            <a:extLst>
              <a:ext uri="{FF2B5EF4-FFF2-40B4-BE49-F238E27FC236}">
                <a16:creationId xmlns:a16="http://schemas.microsoft.com/office/drawing/2014/main" id="{CFB19C83-D461-5D54-B4BA-BD7475AB697E}"/>
              </a:ext>
            </a:extLst>
          </p:cNvPr>
          <p:cNvSpPr/>
          <p:nvPr/>
        </p:nvSpPr>
        <p:spPr>
          <a:xfrm rot="5400000">
            <a:off x="9368845" y="-138210"/>
            <a:ext cx="223503" cy="2838243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38983032-3699-0800-1A87-0D22352C4AB1}"/>
              </a:ext>
            </a:extLst>
          </p:cNvPr>
          <p:cNvCxnSpPr>
            <a:cxnSpLocks/>
            <a:stCxn id="182" idx="3"/>
            <a:endCxn id="215" idx="1"/>
          </p:cNvCxnSpPr>
          <p:nvPr/>
        </p:nvCxnSpPr>
        <p:spPr>
          <a:xfrm flipV="1">
            <a:off x="7918500" y="1169160"/>
            <a:ext cx="1562096" cy="811083"/>
          </a:xfrm>
          <a:prstGeom prst="bentConnector4">
            <a:avLst>
              <a:gd name="adj1" fmla="val 6433"/>
              <a:gd name="adj2" fmla="val 12863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67CF3628-D0EA-3F61-0011-F16A193148BC}"/>
              </a:ext>
            </a:extLst>
          </p:cNvPr>
          <p:cNvCxnSpPr>
            <a:cxnSpLocks/>
            <a:stCxn id="211" idx="2"/>
            <a:endCxn id="236" idx="0"/>
          </p:cNvCxnSpPr>
          <p:nvPr/>
        </p:nvCxnSpPr>
        <p:spPr>
          <a:xfrm>
            <a:off x="8395597" y="1688659"/>
            <a:ext cx="4319" cy="422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8F36B146-1ED5-30D2-3633-23B68518ADA2}"/>
              </a:ext>
            </a:extLst>
          </p:cNvPr>
          <p:cNvCxnSpPr>
            <a:cxnSpLocks/>
            <a:stCxn id="212" idx="2"/>
            <a:endCxn id="237" idx="0"/>
          </p:cNvCxnSpPr>
          <p:nvPr/>
        </p:nvCxnSpPr>
        <p:spPr>
          <a:xfrm>
            <a:off x="9138294" y="1688438"/>
            <a:ext cx="0" cy="420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B2CDEE16-1D84-E7EA-0F7F-B66D25218C60}"/>
              </a:ext>
            </a:extLst>
          </p:cNvPr>
          <p:cNvCxnSpPr>
            <a:cxnSpLocks/>
            <a:stCxn id="213" idx="2"/>
            <a:endCxn id="238" idx="0"/>
          </p:cNvCxnSpPr>
          <p:nvPr/>
        </p:nvCxnSpPr>
        <p:spPr>
          <a:xfrm>
            <a:off x="9895130" y="1688438"/>
            <a:ext cx="4285" cy="416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F4A42D1C-BB24-6EED-B8AB-C490BA7F4129}"/>
              </a:ext>
            </a:extLst>
          </p:cNvPr>
          <p:cNvCxnSpPr>
            <a:cxnSpLocks/>
            <a:stCxn id="214" idx="2"/>
            <a:endCxn id="239" idx="0"/>
          </p:cNvCxnSpPr>
          <p:nvPr/>
        </p:nvCxnSpPr>
        <p:spPr>
          <a:xfrm>
            <a:off x="10621124" y="1682313"/>
            <a:ext cx="0" cy="42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矩形 235">
            <a:extLst>
              <a:ext uri="{FF2B5EF4-FFF2-40B4-BE49-F238E27FC236}">
                <a16:creationId xmlns:a16="http://schemas.microsoft.com/office/drawing/2014/main" id="{9D5C856D-4CCA-8FB3-D63F-00B6B52E6C5F}"/>
              </a:ext>
            </a:extLst>
          </p:cNvPr>
          <p:cNvSpPr/>
          <p:nvPr/>
        </p:nvSpPr>
        <p:spPr>
          <a:xfrm>
            <a:off x="8163666" y="211086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F387B730-2FD6-E53C-F2B6-2E84A4D0A17B}"/>
              </a:ext>
            </a:extLst>
          </p:cNvPr>
          <p:cNvSpPr/>
          <p:nvPr/>
        </p:nvSpPr>
        <p:spPr>
          <a:xfrm>
            <a:off x="8902044" y="210885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30E3FE8C-59A1-7106-CADD-5C49CE0CE143}"/>
              </a:ext>
            </a:extLst>
          </p:cNvPr>
          <p:cNvSpPr/>
          <p:nvPr/>
        </p:nvSpPr>
        <p:spPr>
          <a:xfrm>
            <a:off x="9663165" y="2105270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7478CBA6-B978-BBB0-FE57-4B8CFFBAED24}"/>
              </a:ext>
            </a:extLst>
          </p:cNvPr>
          <p:cNvSpPr/>
          <p:nvPr/>
        </p:nvSpPr>
        <p:spPr>
          <a:xfrm>
            <a:off x="10384874" y="210551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4B576C12-372B-689F-0E61-3D0910ADA353}"/>
              </a:ext>
            </a:extLst>
          </p:cNvPr>
          <p:cNvCxnSpPr>
            <a:cxnSpLocks/>
            <a:stCxn id="236" idx="3"/>
            <a:endCxn id="237" idx="1"/>
          </p:cNvCxnSpPr>
          <p:nvPr/>
        </p:nvCxnSpPr>
        <p:spPr>
          <a:xfrm flipV="1">
            <a:off x="8636166" y="2239676"/>
            <a:ext cx="265878" cy="2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6B8D5CA4-3D26-DBF5-26BA-F5E5D1765C87}"/>
              </a:ext>
            </a:extLst>
          </p:cNvPr>
          <p:cNvCxnSpPr>
            <a:cxnSpLocks/>
            <a:stCxn id="237" idx="3"/>
            <a:endCxn id="238" idx="1"/>
          </p:cNvCxnSpPr>
          <p:nvPr/>
        </p:nvCxnSpPr>
        <p:spPr>
          <a:xfrm flipV="1">
            <a:off x="9374544" y="2236090"/>
            <a:ext cx="288621" cy="3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C1F4B3B2-C0EE-A281-C763-8D024C07A595}"/>
              </a:ext>
            </a:extLst>
          </p:cNvPr>
          <p:cNvCxnSpPr>
            <a:cxnSpLocks/>
            <a:endCxn id="239" idx="1"/>
          </p:cNvCxnSpPr>
          <p:nvPr/>
        </p:nvCxnSpPr>
        <p:spPr>
          <a:xfrm>
            <a:off x="10131380" y="2236090"/>
            <a:ext cx="253494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矩形 262">
            <a:extLst>
              <a:ext uri="{FF2B5EF4-FFF2-40B4-BE49-F238E27FC236}">
                <a16:creationId xmlns:a16="http://schemas.microsoft.com/office/drawing/2014/main" id="{0D0D7127-51D9-EBE7-97F5-BA78E774A679}"/>
              </a:ext>
            </a:extLst>
          </p:cNvPr>
          <p:cNvSpPr/>
          <p:nvPr/>
        </p:nvSpPr>
        <p:spPr>
          <a:xfrm>
            <a:off x="11165594" y="2124338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264" name="直接箭头连接符 263">
            <a:extLst>
              <a:ext uri="{FF2B5EF4-FFF2-40B4-BE49-F238E27FC236}">
                <a16:creationId xmlns:a16="http://schemas.microsoft.com/office/drawing/2014/main" id="{6F83970F-2AC3-D6BB-2FCD-690A87335CF4}"/>
              </a:ext>
            </a:extLst>
          </p:cNvPr>
          <p:cNvCxnSpPr>
            <a:cxnSpLocks/>
            <a:stCxn id="239" idx="3"/>
            <a:endCxn id="263" idx="1"/>
          </p:cNvCxnSpPr>
          <p:nvPr/>
        </p:nvCxnSpPr>
        <p:spPr>
          <a:xfrm flipV="1">
            <a:off x="10857374" y="2236090"/>
            <a:ext cx="308220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箭头连接符 267">
            <a:extLst>
              <a:ext uri="{FF2B5EF4-FFF2-40B4-BE49-F238E27FC236}">
                <a16:creationId xmlns:a16="http://schemas.microsoft.com/office/drawing/2014/main" id="{FAF70736-36BA-6E27-FEAB-AE29CCCD271C}"/>
              </a:ext>
            </a:extLst>
          </p:cNvPr>
          <p:cNvCxnSpPr>
            <a:cxnSpLocks/>
            <a:stCxn id="263" idx="0"/>
            <a:endCxn id="273" idx="2"/>
          </p:cNvCxnSpPr>
          <p:nvPr/>
        </p:nvCxnSpPr>
        <p:spPr>
          <a:xfrm flipH="1" flipV="1">
            <a:off x="11575797" y="1802512"/>
            <a:ext cx="340" cy="32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文本框 272">
            <a:extLst>
              <a:ext uri="{FF2B5EF4-FFF2-40B4-BE49-F238E27FC236}">
                <a16:creationId xmlns:a16="http://schemas.microsoft.com/office/drawing/2014/main" id="{ED51C147-759F-E7C4-129E-03FB9D6BED66}"/>
              </a:ext>
            </a:extLst>
          </p:cNvPr>
          <p:cNvSpPr txBox="1"/>
          <p:nvPr/>
        </p:nvSpPr>
        <p:spPr>
          <a:xfrm>
            <a:off x="10975930" y="1225431"/>
            <a:ext cx="119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GT</a:t>
            </a:r>
          </a:p>
          <a:p>
            <a:pPr algn="ctr"/>
            <a:r>
              <a:rPr lang="zh-CN" altLang="en-US" sz="1050" dirty="0"/>
              <a:t>↓</a:t>
            </a:r>
            <a:endParaRPr lang="en-US" altLang="zh-CN" sz="1050" dirty="0"/>
          </a:p>
          <a:p>
            <a:pPr algn="ctr"/>
            <a:r>
              <a:rPr lang="zh-CN" altLang="en-US" sz="1050" dirty="0"/>
              <a:t>主</a:t>
            </a:r>
            <a:r>
              <a:rPr lang="en-US" altLang="zh-CN" sz="1050" dirty="0"/>
              <a:t>loss</a:t>
            </a:r>
            <a:r>
              <a:rPr lang="zh-CN" altLang="en-US" sz="1050" dirty="0"/>
              <a:t>： </a:t>
            </a:r>
            <a:r>
              <a:rPr lang="fr-FR" altLang="zh-CN" sz="1050" dirty="0"/>
              <a:t>BCE+Dice </a:t>
            </a:r>
            <a:endParaRPr lang="en-US" altLang="zh-CN" sz="1050" dirty="0">
              <a:solidFill>
                <a:schemeClr val="tx1"/>
              </a:solidFill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EC3784C2-9538-DECC-3702-2118C866048A}"/>
              </a:ext>
            </a:extLst>
          </p:cNvPr>
          <p:cNvSpPr txBox="1"/>
          <p:nvPr/>
        </p:nvSpPr>
        <p:spPr>
          <a:xfrm>
            <a:off x="10148030" y="5117378"/>
            <a:ext cx="1857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SAM Structure Loss </a:t>
            </a:r>
          </a:p>
          <a:p>
            <a:pPr algn="ctr"/>
            <a:r>
              <a:rPr lang="en-US" altLang="zh-CN" sz="1000" dirty="0"/>
              <a:t>boundary + affinity </a:t>
            </a:r>
          </a:p>
          <a:p>
            <a:pPr algn="ctr"/>
            <a:r>
              <a:rPr lang="en-US" altLang="zh-CN" sz="1000" dirty="0"/>
              <a:t>↑</a:t>
            </a:r>
          </a:p>
          <a:p>
            <a:pPr algn="ctr"/>
            <a:r>
              <a:rPr lang="en-US" altLang="zh-CN" sz="1000" dirty="0"/>
              <a:t> Stage A cached </a:t>
            </a:r>
            <a:r>
              <a:rPr lang="en-US" altLang="zh-CN" sz="1000" dirty="0" err="1"/>
              <a:t>teacher_pack</a:t>
            </a:r>
            <a:endParaRPr lang="zh-CN" altLang="en-US" sz="1000" dirty="0"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74A0F273-FAE4-061B-8484-8B2FE0E58589}"/>
              </a:ext>
            </a:extLst>
          </p:cNvPr>
          <p:cNvSpPr/>
          <p:nvPr/>
        </p:nvSpPr>
        <p:spPr>
          <a:xfrm>
            <a:off x="4069922" y="744410"/>
            <a:ext cx="8052716" cy="2819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4E84D0B9-633E-4133-1CC2-9A6DD932074C}"/>
              </a:ext>
            </a:extLst>
          </p:cNvPr>
          <p:cNvSpPr txBox="1"/>
          <p:nvPr/>
        </p:nvSpPr>
        <p:spPr>
          <a:xfrm>
            <a:off x="4075238" y="3204027"/>
            <a:ext cx="7623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阶段二主路径（</a:t>
            </a:r>
            <a:r>
              <a:rPr lang="en-US" altLang="zh-CN" sz="1400" dirty="0"/>
              <a:t>student</a:t>
            </a:r>
            <a:r>
              <a:rPr lang="zh-CN" altLang="en-US" sz="1400" dirty="0"/>
              <a:t>）</a:t>
            </a:r>
            <a:r>
              <a:rPr lang="en-US" altLang="zh-CN" sz="1400" dirty="0"/>
              <a:t>:A2Net+LWGANet</a:t>
            </a:r>
            <a:r>
              <a:rPr lang="zh-CN" altLang="en-US" sz="1400" dirty="0"/>
              <a:t>（</a:t>
            </a:r>
            <a:r>
              <a:rPr lang="en-US" altLang="zh-CN" sz="1400" dirty="0"/>
              <a:t>backbone</a:t>
            </a:r>
            <a:r>
              <a:rPr lang="zh-CN" altLang="en-US" sz="1400" dirty="0"/>
              <a:t>）无改动，推理时也只剩这部分，</a:t>
            </a:r>
            <a:r>
              <a:rPr lang="en-US" altLang="zh-CN" sz="1400" dirty="0"/>
              <a:t>2.91M</a:t>
            </a:r>
            <a:endParaRPr lang="zh-CN" altLang="en-US" sz="1400" dirty="0"/>
          </a:p>
        </p:txBody>
      </p:sp>
      <p:cxnSp>
        <p:nvCxnSpPr>
          <p:cNvPr id="285" name="连接符: 肘形 284">
            <a:extLst>
              <a:ext uri="{FF2B5EF4-FFF2-40B4-BE49-F238E27FC236}">
                <a16:creationId xmlns:a16="http://schemas.microsoft.com/office/drawing/2014/main" id="{4FFB73DE-C2D6-4C75-BA8F-0EF4959A7CCE}"/>
              </a:ext>
            </a:extLst>
          </p:cNvPr>
          <p:cNvCxnSpPr>
            <a:cxnSpLocks/>
            <a:stCxn id="263" idx="2"/>
            <a:endCxn id="277" idx="0"/>
          </p:cNvCxnSpPr>
          <p:nvPr/>
        </p:nvCxnSpPr>
        <p:spPr>
          <a:xfrm rot="5400000">
            <a:off x="9941794" y="3483034"/>
            <a:ext cx="2769537" cy="499151"/>
          </a:xfrm>
          <a:prstGeom prst="bentConnector3">
            <a:avLst>
              <a:gd name="adj1" fmla="val 6176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矩形 290">
            <a:extLst>
              <a:ext uri="{FF2B5EF4-FFF2-40B4-BE49-F238E27FC236}">
                <a16:creationId xmlns:a16="http://schemas.microsoft.com/office/drawing/2014/main" id="{9C5D082D-9252-04B5-0A91-E5866536A7D5}"/>
              </a:ext>
            </a:extLst>
          </p:cNvPr>
          <p:cNvSpPr/>
          <p:nvPr/>
        </p:nvSpPr>
        <p:spPr>
          <a:xfrm>
            <a:off x="303948" y="443556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179BF439-6D00-8DAB-E65C-E977FF46BFB4}"/>
              </a:ext>
            </a:extLst>
          </p:cNvPr>
          <p:cNvSpPr/>
          <p:nvPr/>
        </p:nvSpPr>
        <p:spPr>
          <a:xfrm>
            <a:off x="841462" y="443556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E026AF0F-7290-684F-0601-AE995AA1A980}"/>
              </a:ext>
            </a:extLst>
          </p:cNvPr>
          <p:cNvSpPr/>
          <p:nvPr/>
        </p:nvSpPr>
        <p:spPr>
          <a:xfrm>
            <a:off x="1378976" y="444026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151CA2BF-9285-43E7-328C-BFD257912088}"/>
              </a:ext>
            </a:extLst>
          </p:cNvPr>
          <p:cNvSpPr/>
          <p:nvPr/>
        </p:nvSpPr>
        <p:spPr>
          <a:xfrm>
            <a:off x="1938027" y="44453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39DE2D0B-047E-EE3C-EC3F-F4ED44538792}"/>
              </a:ext>
            </a:extLst>
          </p:cNvPr>
          <p:cNvSpPr/>
          <p:nvPr/>
        </p:nvSpPr>
        <p:spPr>
          <a:xfrm>
            <a:off x="266076" y="492857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D3E90738-95DF-9D7A-59E3-D081D08DAE59}"/>
              </a:ext>
            </a:extLst>
          </p:cNvPr>
          <p:cNvSpPr/>
          <p:nvPr/>
        </p:nvSpPr>
        <p:spPr>
          <a:xfrm>
            <a:off x="803590" y="492857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302A32A3-B7E0-1E9B-0BA9-B94770DD5065}"/>
              </a:ext>
            </a:extLst>
          </p:cNvPr>
          <p:cNvSpPr/>
          <p:nvPr/>
        </p:nvSpPr>
        <p:spPr>
          <a:xfrm>
            <a:off x="1341104" y="493327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422F4D61-3031-C891-27B4-82CF21B5E5CE}"/>
              </a:ext>
            </a:extLst>
          </p:cNvPr>
          <p:cNvSpPr/>
          <p:nvPr/>
        </p:nvSpPr>
        <p:spPr>
          <a:xfrm>
            <a:off x="1900155" y="493835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99" name="左大括号 298">
            <a:extLst>
              <a:ext uri="{FF2B5EF4-FFF2-40B4-BE49-F238E27FC236}">
                <a16:creationId xmlns:a16="http://schemas.microsoft.com/office/drawing/2014/main" id="{9BD9E842-195F-F7A2-1B5F-E1B7505AEBBF}"/>
              </a:ext>
            </a:extLst>
          </p:cNvPr>
          <p:cNvSpPr/>
          <p:nvPr/>
        </p:nvSpPr>
        <p:spPr>
          <a:xfrm rot="5400000">
            <a:off x="1248107" y="3162698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左大括号 299">
            <a:extLst>
              <a:ext uri="{FF2B5EF4-FFF2-40B4-BE49-F238E27FC236}">
                <a16:creationId xmlns:a16="http://schemas.microsoft.com/office/drawing/2014/main" id="{A7EF92E1-8569-F7AC-2647-73DF1A65C475}"/>
              </a:ext>
            </a:extLst>
          </p:cNvPr>
          <p:cNvSpPr/>
          <p:nvPr/>
        </p:nvSpPr>
        <p:spPr>
          <a:xfrm rot="16200000">
            <a:off x="1233166" y="4177861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1" name="连接符: 肘形 300">
            <a:extLst>
              <a:ext uri="{FF2B5EF4-FFF2-40B4-BE49-F238E27FC236}">
                <a16:creationId xmlns:a16="http://schemas.microsoft.com/office/drawing/2014/main" id="{8111A953-996A-9404-A231-714F26AB5891}"/>
              </a:ext>
            </a:extLst>
          </p:cNvPr>
          <p:cNvCxnSpPr>
            <a:cxnSpLocks/>
            <a:stCxn id="299" idx="1"/>
            <a:endCxn id="303" idx="0"/>
          </p:cNvCxnSpPr>
          <p:nvPr/>
        </p:nvCxnSpPr>
        <p:spPr>
          <a:xfrm rot="16200000" flipH="1">
            <a:off x="2085553" y="3472752"/>
            <a:ext cx="430679" cy="1904786"/>
          </a:xfrm>
          <a:prstGeom prst="bentConnector3">
            <a:avLst>
              <a:gd name="adj1" fmla="val -4605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连接符: 肘形 301">
            <a:extLst>
              <a:ext uri="{FF2B5EF4-FFF2-40B4-BE49-F238E27FC236}">
                <a16:creationId xmlns:a16="http://schemas.microsoft.com/office/drawing/2014/main" id="{3880AB12-AA1E-53D2-D878-5AE9D5A50DB6}"/>
              </a:ext>
            </a:extLst>
          </p:cNvPr>
          <p:cNvCxnSpPr>
            <a:cxnSpLocks/>
            <a:stCxn id="300" idx="1"/>
            <a:endCxn id="303" idx="2"/>
          </p:cNvCxnSpPr>
          <p:nvPr/>
        </p:nvCxnSpPr>
        <p:spPr>
          <a:xfrm rot="5400000" flipH="1" flipV="1">
            <a:off x="2097581" y="4270050"/>
            <a:ext cx="391681" cy="1919727"/>
          </a:xfrm>
          <a:prstGeom prst="bentConnector3">
            <a:avLst>
              <a:gd name="adj1" fmla="val -668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矩形 302">
            <a:extLst>
              <a:ext uri="{FF2B5EF4-FFF2-40B4-BE49-F238E27FC236}">
                <a16:creationId xmlns:a16="http://schemas.microsoft.com/office/drawing/2014/main" id="{3491132B-FC93-8D8C-16CD-280FC0CFFCBB}"/>
              </a:ext>
            </a:extLst>
          </p:cNvPr>
          <p:cNvSpPr/>
          <p:nvPr/>
        </p:nvSpPr>
        <p:spPr>
          <a:xfrm>
            <a:off x="2697671" y="4640485"/>
            <a:ext cx="1111230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PLUG-Mentor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F7CA629C-E621-8E51-10A5-1097053C9C1A}"/>
              </a:ext>
            </a:extLst>
          </p:cNvPr>
          <p:cNvSpPr txBox="1"/>
          <p:nvPr/>
        </p:nvSpPr>
        <p:spPr>
          <a:xfrm>
            <a:off x="4025710" y="4712945"/>
            <a:ext cx="10507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/>
              <a:t>retention masks</a:t>
            </a:r>
            <a:endParaRPr lang="zh-CN" altLang="en-US" sz="1000" dirty="0"/>
          </a:p>
        </p:txBody>
      </p: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1BF6D29F-9421-7F44-4B8D-FC39B850E7F4}"/>
              </a:ext>
            </a:extLst>
          </p:cNvPr>
          <p:cNvCxnSpPr>
            <a:cxnSpLocks/>
            <a:stCxn id="303" idx="3"/>
            <a:endCxn id="312" idx="1"/>
          </p:cNvCxnSpPr>
          <p:nvPr/>
        </p:nvCxnSpPr>
        <p:spPr>
          <a:xfrm flipV="1">
            <a:off x="3808901" y="4836056"/>
            <a:ext cx="216809" cy="1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文本框 325">
            <a:extLst>
              <a:ext uri="{FF2B5EF4-FFF2-40B4-BE49-F238E27FC236}">
                <a16:creationId xmlns:a16="http://schemas.microsoft.com/office/drawing/2014/main" id="{49E30B21-3310-B205-019B-181AAFFDD8F2}"/>
              </a:ext>
            </a:extLst>
          </p:cNvPr>
          <p:cNvSpPr txBox="1"/>
          <p:nvPr/>
        </p:nvSpPr>
        <p:spPr>
          <a:xfrm>
            <a:off x="3725793" y="4202505"/>
            <a:ext cx="16505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zh-CN" sz="900" dirty="0"/>
              <a:t>hard_F1 = F1 × retention</a:t>
            </a:r>
            <a:endParaRPr lang="zh-CN" altLang="en-US" sz="900" dirty="0"/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D29AFEEE-B043-D383-8CB6-35A3A84835FE}"/>
              </a:ext>
            </a:extLst>
          </p:cNvPr>
          <p:cNvSpPr txBox="1"/>
          <p:nvPr/>
        </p:nvSpPr>
        <p:spPr>
          <a:xfrm>
            <a:off x="3736100" y="5260688"/>
            <a:ext cx="16505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zh-CN" sz="900" dirty="0"/>
              <a:t>hard_F2 = F2 × retention</a:t>
            </a:r>
            <a:endParaRPr lang="zh-CN" altLang="en-US" sz="900" dirty="0"/>
          </a:p>
        </p:txBody>
      </p:sp>
      <p:cxnSp>
        <p:nvCxnSpPr>
          <p:cNvPr id="328" name="直接箭头连接符 327">
            <a:extLst>
              <a:ext uri="{FF2B5EF4-FFF2-40B4-BE49-F238E27FC236}">
                <a16:creationId xmlns:a16="http://schemas.microsoft.com/office/drawing/2014/main" id="{45E04222-A93D-B18E-BC8D-464EFDE812E2}"/>
              </a:ext>
            </a:extLst>
          </p:cNvPr>
          <p:cNvCxnSpPr>
            <a:cxnSpLocks/>
            <a:stCxn id="312" idx="0"/>
            <a:endCxn id="326" idx="2"/>
          </p:cNvCxnSpPr>
          <p:nvPr/>
        </p:nvCxnSpPr>
        <p:spPr>
          <a:xfrm flipV="1">
            <a:off x="4551085" y="4433337"/>
            <a:ext cx="0" cy="279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箭头连接符 331">
            <a:extLst>
              <a:ext uri="{FF2B5EF4-FFF2-40B4-BE49-F238E27FC236}">
                <a16:creationId xmlns:a16="http://schemas.microsoft.com/office/drawing/2014/main" id="{7C908D0D-C366-B6D4-7E87-6F6F62957640}"/>
              </a:ext>
            </a:extLst>
          </p:cNvPr>
          <p:cNvCxnSpPr>
            <a:cxnSpLocks/>
            <a:stCxn id="312" idx="2"/>
            <a:endCxn id="327" idx="0"/>
          </p:cNvCxnSpPr>
          <p:nvPr/>
        </p:nvCxnSpPr>
        <p:spPr>
          <a:xfrm>
            <a:off x="4551085" y="4959166"/>
            <a:ext cx="10307" cy="3015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文本框 338">
            <a:extLst>
              <a:ext uri="{FF2B5EF4-FFF2-40B4-BE49-F238E27FC236}">
                <a16:creationId xmlns:a16="http://schemas.microsoft.com/office/drawing/2014/main" id="{30DC22B9-DC00-0EDF-1366-4126B99CAF5D}"/>
              </a:ext>
            </a:extLst>
          </p:cNvPr>
          <p:cNvSpPr txBox="1"/>
          <p:nvPr/>
        </p:nvSpPr>
        <p:spPr>
          <a:xfrm>
            <a:off x="7379755" y="1528824"/>
            <a:ext cx="3786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9778DB9B-1655-C9A7-75C0-E02B3AD0E870}"/>
              </a:ext>
            </a:extLst>
          </p:cNvPr>
          <p:cNvSpPr txBox="1"/>
          <p:nvPr/>
        </p:nvSpPr>
        <p:spPr>
          <a:xfrm>
            <a:off x="7379755" y="2267249"/>
            <a:ext cx="3786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E51F97D1-7B78-FAF9-A368-B1C02C6166EC}"/>
              </a:ext>
            </a:extLst>
          </p:cNvPr>
          <p:cNvSpPr/>
          <p:nvPr/>
        </p:nvSpPr>
        <p:spPr>
          <a:xfrm>
            <a:off x="5197499" y="413470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DBAF5008-5EA6-A80B-311E-6D5F40FA8105}"/>
              </a:ext>
            </a:extLst>
          </p:cNvPr>
          <p:cNvSpPr/>
          <p:nvPr/>
        </p:nvSpPr>
        <p:spPr>
          <a:xfrm>
            <a:off x="5197499" y="5365515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C5279036-60BA-A017-8B2D-168A394DED15}"/>
              </a:ext>
            </a:extLst>
          </p:cNvPr>
          <p:cNvSpPr/>
          <p:nvPr/>
        </p:nvSpPr>
        <p:spPr>
          <a:xfrm>
            <a:off x="5197499" y="473314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346" name="直接箭头连接符 345">
            <a:extLst>
              <a:ext uri="{FF2B5EF4-FFF2-40B4-BE49-F238E27FC236}">
                <a16:creationId xmlns:a16="http://schemas.microsoft.com/office/drawing/2014/main" id="{4AAD1A77-5B22-08CE-1D7E-54A798C8047E}"/>
              </a:ext>
            </a:extLst>
          </p:cNvPr>
          <p:cNvCxnSpPr>
            <a:cxnSpLocks/>
            <a:stCxn id="341" idx="2"/>
            <a:endCxn id="343" idx="0"/>
          </p:cNvCxnSpPr>
          <p:nvPr/>
        </p:nvCxnSpPr>
        <p:spPr>
          <a:xfrm>
            <a:off x="5433749" y="4396349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5EB12891-DA00-DA9F-8090-8BB44CEF409A}"/>
              </a:ext>
            </a:extLst>
          </p:cNvPr>
          <p:cNvCxnSpPr>
            <a:cxnSpLocks/>
            <a:stCxn id="342" idx="0"/>
            <a:endCxn id="343" idx="2"/>
          </p:cNvCxnSpPr>
          <p:nvPr/>
        </p:nvCxnSpPr>
        <p:spPr>
          <a:xfrm flipV="1">
            <a:off x="5433749" y="4994789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连接符: 肘形 351">
            <a:extLst>
              <a:ext uri="{FF2B5EF4-FFF2-40B4-BE49-F238E27FC236}">
                <a16:creationId xmlns:a16="http://schemas.microsoft.com/office/drawing/2014/main" id="{59A839AF-0447-B9C9-211E-AE5AC722F0FC}"/>
              </a:ext>
            </a:extLst>
          </p:cNvPr>
          <p:cNvCxnSpPr>
            <a:cxnSpLocks/>
            <a:stCxn id="326" idx="0"/>
            <a:endCxn id="341" idx="0"/>
          </p:cNvCxnSpPr>
          <p:nvPr/>
        </p:nvCxnSpPr>
        <p:spPr>
          <a:xfrm rot="5400000" flipH="1" flipV="1">
            <a:off x="4958519" y="3727275"/>
            <a:ext cx="67796" cy="882664"/>
          </a:xfrm>
          <a:prstGeom prst="bentConnector3">
            <a:avLst>
              <a:gd name="adj1" fmla="val 43718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连接符: 肘形 354">
            <a:extLst>
              <a:ext uri="{FF2B5EF4-FFF2-40B4-BE49-F238E27FC236}">
                <a16:creationId xmlns:a16="http://schemas.microsoft.com/office/drawing/2014/main" id="{4EE25E3D-0B2B-EAF5-D2E3-2367629600D4}"/>
              </a:ext>
            </a:extLst>
          </p:cNvPr>
          <p:cNvCxnSpPr>
            <a:cxnSpLocks/>
            <a:stCxn id="327" idx="2"/>
            <a:endCxn id="342" idx="2"/>
          </p:cNvCxnSpPr>
          <p:nvPr/>
        </p:nvCxnSpPr>
        <p:spPr>
          <a:xfrm rot="16200000" flipH="1">
            <a:off x="4929753" y="5123158"/>
            <a:ext cx="135635" cy="872357"/>
          </a:xfrm>
          <a:prstGeom prst="bentConnector3">
            <a:avLst>
              <a:gd name="adj1" fmla="val 26854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矩形 357">
            <a:extLst>
              <a:ext uri="{FF2B5EF4-FFF2-40B4-BE49-F238E27FC236}">
                <a16:creationId xmlns:a16="http://schemas.microsoft.com/office/drawing/2014/main" id="{FB7348BC-8434-7EF6-0DB6-9BDC68E52ABB}"/>
              </a:ext>
            </a:extLst>
          </p:cNvPr>
          <p:cNvSpPr/>
          <p:nvPr/>
        </p:nvSpPr>
        <p:spPr>
          <a:xfrm>
            <a:off x="5817958" y="4733149"/>
            <a:ext cx="1197942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59" name="直接箭头连接符 358">
            <a:extLst>
              <a:ext uri="{FF2B5EF4-FFF2-40B4-BE49-F238E27FC236}">
                <a16:creationId xmlns:a16="http://schemas.microsoft.com/office/drawing/2014/main" id="{8186F289-5352-5457-8070-AE4B03ABD394}"/>
              </a:ext>
            </a:extLst>
          </p:cNvPr>
          <p:cNvCxnSpPr>
            <a:cxnSpLocks/>
            <a:stCxn id="343" idx="3"/>
            <a:endCxn id="358" idx="1"/>
          </p:cNvCxnSpPr>
          <p:nvPr/>
        </p:nvCxnSpPr>
        <p:spPr>
          <a:xfrm>
            <a:off x="5669999" y="4863969"/>
            <a:ext cx="147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箭头连接符 362">
            <a:extLst>
              <a:ext uri="{FF2B5EF4-FFF2-40B4-BE49-F238E27FC236}">
                <a16:creationId xmlns:a16="http://schemas.microsoft.com/office/drawing/2014/main" id="{3FF3FE13-5B5C-EC4D-37D3-6CADDD5C6106}"/>
              </a:ext>
            </a:extLst>
          </p:cNvPr>
          <p:cNvCxnSpPr>
            <a:cxnSpLocks/>
            <a:stCxn id="358" idx="3"/>
            <a:endCxn id="413" idx="1"/>
          </p:cNvCxnSpPr>
          <p:nvPr/>
        </p:nvCxnSpPr>
        <p:spPr>
          <a:xfrm>
            <a:off x="7015900" y="4863969"/>
            <a:ext cx="290366" cy="8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矩形 368">
            <a:extLst>
              <a:ext uri="{FF2B5EF4-FFF2-40B4-BE49-F238E27FC236}">
                <a16:creationId xmlns:a16="http://schemas.microsoft.com/office/drawing/2014/main" id="{0213E720-888D-25B6-482D-FAC575867AB8}"/>
              </a:ext>
            </a:extLst>
          </p:cNvPr>
          <p:cNvSpPr/>
          <p:nvPr/>
        </p:nvSpPr>
        <p:spPr>
          <a:xfrm>
            <a:off x="2644400" y="3713048"/>
            <a:ext cx="9478237" cy="2620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8F2628BC-6992-A25C-6FA6-66D25158E763}"/>
              </a:ext>
            </a:extLst>
          </p:cNvPr>
          <p:cNvSpPr txBox="1"/>
          <p:nvPr/>
        </p:nvSpPr>
        <p:spPr>
          <a:xfrm>
            <a:off x="3014292" y="6030362"/>
            <a:ext cx="7117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可拆卸外挂</a:t>
            </a:r>
            <a:r>
              <a:rPr lang="en-US" altLang="zh-CN" sz="1400" dirty="0"/>
              <a:t>PLUG</a:t>
            </a:r>
            <a:r>
              <a:rPr lang="zh-CN" altLang="en-US" sz="1400" dirty="0"/>
              <a:t>：</a:t>
            </a:r>
            <a:r>
              <a:rPr lang="en-US" altLang="zh-CN" sz="1400" dirty="0"/>
              <a:t>PLUG</a:t>
            </a:r>
            <a:r>
              <a:rPr lang="zh-CN" altLang="en-US" sz="1400" dirty="0"/>
              <a:t>另起一条困难路径（对主路径</a:t>
            </a:r>
            <a:r>
              <a:rPr lang="en-US" altLang="zh-CN" sz="1400" dirty="0"/>
              <a:t>decoder</a:t>
            </a:r>
            <a:r>
              <a:rPr lang="zh-CN" altLang="en-US" sz="1400" dirty="0"/>
              <a:t>进行</a:t>
            </a:r>
            <a:r>
              <a:rPr lang="en-US" altLang="zh-CN" sz="1400" dirty="0"/>
              <a:t>min-max</a:t>
            </a:r>
            <a:r>
              <a:rPr lang="zh-CN" altLang="en-US" sz="1400" dirty="0"/>
              <a:t>对抗训练）</a:t>
            </a:r>
          </a:p>
        </p:txBody>
      </p:sp>
      <p:cxnSp>
        <p:nvCxnSpPr>
          <p:cNvPr id="383" name="直接连接符 382">
            <a:extLst>
              <a:ext uri="{FF2B5EF4-FFF2-40B4-BE49-F238E27FC236}">
                <a16:creationId xmlns:a16="http://schemas.microsoft.com/office/drawing/2014/main" id="{DF7798EF-ADCD-633A-64C7-0ABAA9998963}"/>
              </a:ext>
            </a:extLst>
          </p:cNvPr>
          <p:cNvCxnSpPr>
            <a:cxnSpLocks/>
          </p:cNvCxnSpPr>
          <p:nvPr/>
        </p:nvCxnSpPr>
        <p:spPr>
          <a:xfrm>
            <a:off x="10061821" y="3762147"/>
            <a:ext cx="7471" cy="2268215"/>
          </a:xfrm>
          <a:prstGeom prst="line">
            <a:avLst/>
          </a:prstGeom>
          <a:ln w="952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文本框 390">
            <a:extLst>
              <a:ext uri="{FF2B5EF4-FFF2-40B4-BE49-F238E27FC236}">
                <a16:creationId xmlns:a16="http://schemas.microsoft.com/office/drawing/2014/main" id="{3C3492DB-88DE-9977-7053-C50BD2B6E871}"/>
              </a:ext>
            </a:extLst>
          </p:cNvPr>
          <p:cNvSpPr txBox="1"/>
          <p:nvPr/>
        </p:nvSpPr>
        <p:spPr>
          <a:xfrm>
            <a:off x="10320475" y="6037180"/>
            <a:ext cx="1666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zh-CN" altLang="en-US" dirty="0"/>
              <a:t>可拆卸输出监督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2C4309DE-D27B-C946-5F0C-BDEA36DEA6D8}"/>
              </a:ext>
            </a:extLst>
          </p:cNvPr>
          <p:cNvSpPr/>
          <p:nvPr/>
        </p:nvSpPr>
        <p:spPr>
          <a:xfrm>
            <a:off x="7306266" y="4628832"/>
            <a:ext cx="1089043" cy="4880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hard_changemap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BCE+Dice</a:t>
            </a:r>
            <a:r>
              <a:rPr lang="en-US" altLang="zh-CN" sz="1000" dirty="0">
                <a:solidFill>
                  <a:schemeClr val="tx1"/>
                </a:solidFill>
              </a:rPr>
              <a:t> VS GT</a:t>
            </a:r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4BBD08B3-6074-13A5-FE98-CF0080E0A9FA}"/>
              </a:ext>
            </a:extLst>
          </p:cNvPr>
          <p:cNvSpPr/>
          <p:nvPr/>
        </p:nvSpPr>
        <p:spPr>
          <a:xfrm>
            <a:off x="8559341" y="4742029"/>
            <a:ext cx="613836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L_hard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421" name="直接箭头连接符 420">
            <a:extLst>
              <a:ext uri="{FF2B5EF4-FFF2-40B4-BE49-F238E27FC236}">
                <a16:creationId xmlns:a16="http://schemas.microsoft.com/office/drawing/2014/main" id="{D21B3F2E-20DA-B829-83A0-B8338D9A1CA8}"/>
              </a:ext>
            </a:extLst>
          </p:cNvPr>
          <p:cNvCxnSpPr>
            <a:cxnSpLocks/>
            <a:stCxn id="413" idx="3"/>
            <a:endCxn id="420" idx="1"/>
          </p:cNvCxnSpPr>
          <p:nvPr/>
        </p:nvCxnSpPr>
        <p:spPr>
          <a:xfrm>
            <a:off x="8395309" y="4872849"/>
            <a:ext cx="1640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矩形 424">
            <a:extLst>
              <a:ext uri="{FF2B5EF4-FFF2-40B4-BE49-F238E27FC236}">
                <a16:creationId xmlns:a16="http://schemas.microsoft.com/office/drawing/2014/main" id="{0DFD310F-BEE9-7A5D-0E9E-A7EDAF999B6E}"/>
              </a:ext>
            </a:extLst>
          </p:cNvPr>
          <p:cNvSpPr/>
          <p:nvPr/>
        </p:nvSpPr>
        <p:spPr>
          <a:xfrm>
            <a:off x="8876738" y="3820762"/>
            <a:ext cx="1089043" cy="4880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Student wants L_hard↓ 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0F389A86-FA75-E0FC-05B7-9B4B41F42947}"/>
              </a:ext>
            </a:extLst>
          </p:cNvPr>
          <p:cNvSpPr/>
          <p:nvPr/>
        </p:nvSpPr>
        <p:spPr>
          <a:xfrm>
            <a:off x="8881053" y="5440496"/>
            <a:ext cx="1089043" cy="4880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Mentor wants L_hard</a:t>
            </a:r>
            <a:r>
              <a:rPr lang="zh-CN" altLang="en-US" sz="1000" dirty="0">
                <a:solidFill>
                  <a:schemeClr val="tx1"/>
                </a:solidFill>
              </a:rPr>
              <a:t>↑</a:t>
            </a:r>
            <a:r>
              <a:rPr lang="fr-FR" altLang="zh-CN" sz="1000" dirty="0">
                <a:solidFill>
                  <a:schemeClr val="tx1"/>
                </a:solidFill>
              </a:rPr>
              <a:t> 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93D366E7-6FFE-73EF-50C1-B0D3C0345033}"/>
              </a:ext>
            </a:extLst>
          </p:cNvPr>
          <p:cNvSpPr/>
          <p:nvPr/>
        </p:nvSpPr>
        <p:spPr>
          <a:xfrm>
            <a:off x="8008094" y="3938658"/>
            <a:ext cx="655134" cy="2476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+ L_hard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55160E8B-46D1-C9A8-BC7D-67E80E5A1CEE}"/>
              </a:ext>
            </a:extLst>
          </p:cNvPr>
          <p:cNvSpPr/>
          <p:nvPr/>
        </p:nvSpPr>
        <p:spPr>
          <a:xfrm>
            <a:off x="7993022" y="5567035"/>
            <a:ext cx="655134" cy="2476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- L_hard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438" name="直接箭头连接符 437">
            <a:extLst>
              <a:ext uri="{FF2B5EF4-FFF2-40B4-BE49-F238E27FC236}">
                <a16:creationId xmlns:a16="http://schemas.microsoft.com/office/drawing/2014/main" id="{9ABF21EA-9F96-A791-E82D-2068C4B000F9}"/>
              </a:ext>
            </a:extLst>
          </p:cNvPr>
          <p:cNvCxnSpPr>
            <a:cxnSpLocks/>
            <a:stCxn id="425" idx="1"/>
            <a:endCxn id="436" idx="3"/>
          </p:cNvCxnSpPr>
          <p:nvPr/>
        </p:nvCxnSpPr>
        <p:spPr>
          <a:xfrm flipH="1" flipV="1">
            <a:off x="8663228" y="4062502"/>
            <a:ext cx="213510" cy="2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直接箭头连接符 441">
            <a:extLst>
              <a:ext uri="{FF2B5EF4-FFF2-40B4-BE49-F238E27FC236}">
                <a16:creationId xmlns:a16="http://schemas.microsoft.com/office/drawing/2014/main" id="{6A13685C-4A94-DE3D-B673-04412C62D173}"/>
              </a:ext>
            </a:extLst>
          </p:cNvPr>
          <p:cNvCxnSpPr>
            <a:cxnSpLocks/>
            <a:stCxn id="426" idx="1"/>
            <a:endCxn id="437" idx="3"/>
          </p:cNvCxnSpPr>
          <p:nvPr/>
        </p:nvCxnSpPr>
        <p:spPr>
          <a:xfrm flipH="1">
            <a:off x="8648156" y="5684513"/>
            <a:ext cx="232897" cy="6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连接符: 肘形 452">
            <a:extLst>
              <a:ext uri="{FF2B5EF4-FFF2-40B4-BE49-F238E27FC236}">
                <a16:creationId xmlns:a16="http://schemas.microsoft.com/office/drawing/2014/main" id="{6795690B-7AE6-785B-706A-22BF8B20225B}"/>
              </a:ext>
            </a:extLst>
          </p:cNvPr>
          <p:cNvCxnSpPr>
            <a:cxnSpLocks/>
            <a:stCxn id="420" idx="3"/>
          </p:cNvCxnSpPr>
          <p:nvPr/>
        </p:nvCxnSpPr>
        <p:spPr>
          <a:xfrm flipV="1">
            <a:off x="9173177" y="4369134"/>
            <a:ext cx="248082" cy="50371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连接符: 肘形 455">
            <a:extLst>
              <a:ext uri="{FF2B5EF4-FFF2-40B4-BE49-F238E27FC236}">
                <a16:creationId xmlns:a16="http://schemas.microsoft.com/office/drawing/2014/main" id="{D8E6CA62-BC6D-033D-A8BC-4BE61B9B5250}"/>
              </a:ext>
            </a:extLst>
          </p:cNvPr>
          <p:cNvCxnSpPr>
            <a:cxnSpLocks/>
            <a:stCxn id="420" idx="3"/>
            <a:endCxn id="426" idx="0"/>
          </p:cNvCxnSpPr>
          <p:nvPr/>
        </p:nvCxnSpPr>
        <p:spPr>
          <a:xfrm>
            <a:off x="9173177" y="4872849"/>
            <a:ext cx="252398" cy="5676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矩形 465">
            <a:extLst>
              <a:ext uri="{FF2B5EF4-FFF2-40B4-BE49-F238E27FC236}">
                <a16:creationId xmlns:a16="http://schemas.microsoft.com/office/drawing/2014/main" id="{C085C791-46EF-F256-6715-56BE263AA517}"/>
              </a:ext>
            </a:extLst>
          </p:cNvPr>
          <p:cNvSpPr/>
          <p:nvPr/>
        </p:nvSpPr>
        <p:spPr>
          <a:xfrm>
            <a:off x="6926747" y="3934742"/>
            <a:ext cx="856766" cy="2476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Student step</a:t>
            </a:r>
          </a:p>
        </p:txBody>
      </p:sp>
      <p:cxnSp>
        <p:nvCxnSpPr>
          <p:cNvPr id="467" name="直接箭头连接符 466">
            <a:extLst>
              <a:ext uri="{FF2B5EF4-FFF2-40B4-BE49-F238E27FC236}">
                <a16:creationId xmlns:a16="http://schemas.microsoft.com/office/drawing/2014/main" id="{CAF34CAD-01C1-68F8-4EF7-0D46F95E5DA8}"/>
              </a:ext>
            </a:extLst>
          </p:cNvPr>
          <p:cNvCxnSpPr>
            <a:cxnSpLocks/>
            <a:stCxn id="436" idx="1"/>
            <a:endCxn id="466" idx="3"/>
          </p:cNvCxnSpPr>
          <p:nvPr/>
        </p:nvCxnSpPr>
        <p:spPr>
          <a:xfrm flipH="1" flipV="1">
            <a:off x="7783513" y="4058586"/>
            <a:ext cx="224581" cy="3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矩形 471">
            <a:extLst>
              <a:ext uri="{FF2B5EF4-FFF2-40B4-BE49-F238E27FC236}">
                <a16:creationId xmlns:a16="http://schemas.microsoft.com/office/drawing/2014/main" id="{969B8CDA-7F45-EDE8-5EE4-7E1D9C35FA5A}"/>
              </a:ext>
            </a:extLst>
          </p:cNvPr>
          <p:cNvSpPr/>
          <p:nvPr/>
        </p:nvSpPr>
        <p:spPr>
          <a:xfrm>
            <a:off x="6903979" y="5571778"/>
            <a:ext cx="856766" cy="2476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Mentor step</a:t>
            </a:r>
          </a:p>
        </p:txBody>
      </p:sp>
      <p:cxnSp>
        <p:nvCxnSpPr>
          <p:cNvPr id="473" name="直接箭头连接符 472">
            <a:extLst>
              <a:ext uri="{FF2B5EF4-FFF2-40B4-BE49-F238E27FC236}">
                <a16:creationId xmlns:a16="http://schemas.microsoft.com/office/drawing/2014/main" id="{B243E137-6086-F1B5-F474-8D685CD27C8A}"/>
              </a:ext>
            </a:extLst>
          </p:cNvPr>
          <p:cNvCxnSpPr>
            <a:cxnSpLocks/>
            <a:stCxn id="437" idx="1"/>
            <a:endCxn id="472" idx="3"/>
          </p:cNvCxnSpPr>
          <p:nvPr/>
        </p:nvCxnSpPr>
        <p:spPr>
          <a:xfrm flipH="1">
            <a:off x="7760745" y="5690879"/>
            <a:ext cx="232277" cy="4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253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SAM Structure Loss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38A6FD-E100-03C0-6120-4B2B89CEC8AE}"/>
              </a:ext>
            </a:extLst>
          </p:cNvPr>
          <p:cNvSpPr/>
          <p:nvPr/>
        </p:nvSpPr>
        <p:spPr>
          <a:xfrm>
            <a:off x="554776" y="1748712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7D13BF-41CC-16DA-8AB3-B238CF36612D}"/>
              </a:ext>
            </a:extLst>
          </p:cNvPr>
          <p:cNvSpPr txBox="1"/>
          <p:nvPr/>
        </p:nvSpPr>
        <p:spPr>
          <a:xfrm>
            <a:off x="149776" y="1475081"/>
            <a:ext cx="1492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来自</a:t>
            </a:r>
            <a:r>
              <a:rPr lang="en-US" altLang="zh-CN" sz="1200" dirty="0"/>
              <a:t>A2Net_Decoder</a:t>
            </a:r>
            <a:endParaRPr lang="zh-CN" altLang="en-US" sz="1200" dirty="0"/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22BA2D17-B0C0-A43B-F165-5D307AF3548F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 flipV="1">
            <a:off x="1375862" y="1361530"/>
            <a:ext cx="941388" cy="4989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6E0F7F4-8F97-0D16-79E4-C0CEE67388E6}"/>
              </a:ext>
            </a:extLst>
          </p:cNvPr>
          <p:cNvSpPr txBox="1"/>
          <p:nvPr/>
        </p:nvSpPr>
        <p:spPr>
          <a:xfrm>
            <a:off x="2317250" y="1223030"/>
            <a:ext cx="1089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zh-CN" sz="1200" dirty="0"/>
              <a:t>Boundary Loss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CFE207-6B05-EADB-57F7-A7AE7BCD12F1}"/>
              </a:ext>
            </a:extLst>
          </p:cNvPr>
          <p:cNvSpPr txBox="1"/>
          <p:nvPr/>
        </p:nvSpPr>
        <p:spPr>
          <a:xfrm>
            <a:off x="2317250" y="3180218"/>
            <a:ext cx="939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zh-CN" sz="1200" dirty="0"/>
              <a:t>Affinity Loss</a:t>
            </a:r>
            <a:endParaRPr lang="zh-CN" altLang="en-US" sz="1200" dirty="0"/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1A23A21D-9512-FB9B-99F2-79C1CCB157D9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>
            <a:off x="1375862" y="1860464"/>
            <a:ext cx="941388" cy="145825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609A727B-64FC-58E1-9C87-BC547C79078E}"/>
              </a:ext>
            </a:extLst>
          </p:cNvPr>
          <p:cNvSpPr/>
          <p:nvPr/>
        </p:nvSpPr>
        <p:spPr>
          <a:xfrm>
            <a:off x="4558812" y="804546"/>
            <a:ext cx="1215000" cy="556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boundary</a:t>
            </a:r>
          </a:p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quality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91B83D85-3241-BCC5-E2E0-76CCDB2C4358}"/>
              </a:ext>
            </a:extLst>
          </p:cNvPr>
          <p:cNvCxnSpPr>
            <a:cxnSpLocks/>
            <a:stCxn id="25" idx="1"/>
            <a:endCxn id="19" idx="3"/>
          </p:cNvCxnSpPr>
          <p:nvPr/>
        </p:nvCxnSpPr>
        <p:spPr>
          <a:xfrm rot="10800000" flipV="1">
            <a:off x="3406780" y="1083038"/>
            <a:ext cx="1152033" cy="2784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9FBE6A7B-1748-9305-BBF3-06167E094545}"/>
              </a:ext>
            </a:extLst>
          </p:cNvPr>
          <p:cNvSpPr/>
          <p:nvPr/>
        </p:nvSpPr>
        <p:spPr>
          <a:xfrm>
            <a:off x="4554340" y="1808519"/>
            <a:ext cx="1215000" cy="4989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GT</a:t>
            </a:r>
            <a:r>
              <a:rPr lang="zh-CN" altLang="en-US" sz="1000" dirty="0">
                <a:solidFill>
                  <a:schemeClr val="tx1"/>
                </a:solidFill>
              </a:rPr>
              <a:t>变化边界</a:t>
            </a:r>
            <a:br>
              <a:rPr lang="en-US" altLang="zh-CN" sz="1000" dirty="0">
                <a:solidFill>
                  <a:schemeClr val="tx1"/>
                </a:solidFill>
              </a:rPr>
            </a:br>
            <a:r>
              <a:rPr lang="zh-CN" altLang="en-US" sz="1000" dirty="0">
                <a:solidFill>
                  <a:schemeClr val="tx1"/>
                </a:solidFill>
              </a:rPr>
              <a:t>附近区域 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6881E9C7-E89A-A720-8B14-D1D2014ACE91}"/>
              </a:ext>
            </a:extLst>
          </p:cNvPr>
          <p:cNvCxnSpPr>
            <a:cxnSpLocks/>
            <a:stCxn id="36" idx="1"/>
            <a:endCxn id="19" idx="3"/>
          </p:cNvCxnSpPr>
          <p:nvPr/>
        </p:nvCxnSpPr>
        <p:spPr>
          <a:xfrm rot="10800000">
            <a:off x="3406780" y="1361530"/>
            <a:ext cx="1147561" cy="69645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9F557037-281F-0F10-79EF-22D0093F6D18}"/>
              </a:ext>
            </a:extLst>
          </p:cNvPr>
          <p:cNvSpPr/>
          <p:nvPr/>
        </p:nvSpPr>
        <p:spPr>
          <a:xfrm>
            <a:off x="4554340" y="3327821"/>
            <a:ext cx="1215000" cy="556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instance</a:t>
            </a:r>
          </a:p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quality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0BE56DB6-201C-75E8-4614-CBA6A488F094}"/>
              </a:ext>
            </a:extLst>
          </p:cNvPr>
          <p:cNvCxnSpPr>
            <a:cxnSpLocks/>
            <a:stCxn id="40" idx="1"/>
            <a:endCxn id="20" idx="3"/>
          </p:cNvCxnSpPr>
          <p:nvPr/>
        </p:nvCxnSpPr>
        <p:spPr>
          <a:xfrm rot="10800000">
            <a:off x="3257060" y="3318719"/>
            <a:ext cx="1297281" cy="28759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36B51A67-879F-6624-AE3B-28E9DFE32A0D}"/>
              </a:ext>
            </a:extLst>
          </p:cNvPr>
          <p:cNvSpPr/>
          <p:nvPr/>
        </p:nvSpPr>
        <p:spPr>
          <a:xfrm>
            <a:off x="4563197" y="2541636"/>
            <a:ext cx="1215000" cy="3344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GT</a:t>
            </a:r>
            <a:r>
              <a:rPr lang="zh-CN" altLang="en-US" sz="1000" dirty="0">
                <a:solidFill>
                  <a:schemeClr val="tx1"/>
                </a:solidFill>
              </a:rPr>
              <a:t>变化区域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DE797097-BD7B-038B-C60B-C33722F0A96E}"/>
              </a:ext>
            </a:extLst>
          </p:cNvPr>
          <p:cNvCxnSpPr>
            <a:cxnSpLocks/>
            <a:stCxn id="44" idx="1"/>
            <a:endCxn id="20" idx="3"/>
          </p:cNvCxnSpPr>
          <p:nvPr/>
        </p:nvCxnSpPr>
        <p:spPr>
          <a:xfrm rot="10800000" flipV="1">
            <a:off x="3257059" y="2708872"/>
            <a:ext cx="1306138" cy="60984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7321104B-829B-1001-F4FA-99A9DDBE9444}"/>
              </a:ext>
            </a:extLst>
          </p:cNvPr>
          <p:cNvSpPr txBox="1"/>
          <p:nvPr/>
        </p:nvSpPr>
        <p:spPr>
          <a:xfrm>
            <a:off x="2384961" y="148025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边界要清楚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1D8902B-37D8-20F8-F25E-68EDBFF0E08B}"/>
              </a:ext>
            </a:extLst>
          </p:cNvPr>
          <p:cNvSpPr txBox="1"/>
          <p:nvPr/>
        </p:nvSpPr>
        <p:spPr>
          <a:xfrm>
            <a:off x="2302952" y="296401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对象内部要一致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F87A691-8A74-B208-0C7F-4EC1AA8228B1}"/>
              </a:ext>
            </a:extLst>
          </p:cNvPr>
          <p:cNvSpPr/>
          <p:nvPr/>
        </p:nvSpPr>
        <p:spPr>
          <a:xfrm>
            <a:off x="6406212" y="1960692"/>
            <a:ext cx="2448346" cy="7836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SAM Structure Loss</a:t>
            </a:r>
          </a:p>
          <a:p>
            <a:pPr algn="ctr"/>
            <a:r>
              <a:rPr lang="fr-FR" altLang="zh-CN" sz="1000" dirty="0">
                <a:solidFill>
                  <a:schemeClr val="tx1"/>
                </a:solidFill>
              </a:rPr>
              <a:t>Lsam = 0.7 Lboundary+ 0.3 Laffinity </a:t>
            </a:r>
            <a:br>
              <a:rPr lang="fr-FR" altLang="zh-CN" sz="1000" dirty="0">
                <a:solidFill>
                  <a:schemeClr val="tx1"/>
                </a:solidFill>
              </a:rPr>
            </a:br>
            <a:r>
              <a:rPr lang="zh-CN" altLang="en-US" sz="1000" dirty="0">
                <a:solidFill>
                  <a:schemeClr val="tx1"/>
                </a:solidFill>
              </a:rPr>
              <a:t>（权重暂时设置为</a:t>
            </a:r>
            <a:r>
              <a:rPr lang="en-US" altLang="zh-CN" sz="1000" dirty="0">
                <a:solidFill>
                  <a:schemeClr val="tx1"/>
                </a:solidFill>
              </a:rPr>
              <a:t>0.7/0.3</a:t>
            </a:r>
            <a:r>
              <a:rPr lang="zh-CN" altLang="en-US" sz="1000" dirty="0">
                <a:solidFill>
                  <a:schemeClr val="tx1"/>
                </a:solidFill>
              </a:rPr>
              <a:t>）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74" name="右大括号 73">
            <a:extLst>
              <a:ext uri="{FF2B5EF4-FFF2-40B4-BE49-F238E27FC236}">
                <a16:creationId xmlns:a16="http://schemas.microsoft.com/office/drawing/2014/main" id="{7ABFA0AD-03DF-3D22-576E-3CFA82A75079}"/>
              </a:ext>
            </a:extLst>
          </p:cNvPr>
          <p:cNvSpPr/>
          <p:nvPr/>
        </p:nvSpPr>
        <p:spPr>
          <a:xfrm>
            <a:off x="5909775" y="820196"/>
            <a:ext cx="399565" cy="306460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8F929C2-60F6-262C-FA3A-CDC6ED8AC131}"/>
              </a:ext>
            </a:extLst>
          </p:cNvPr>
          <p:cNvSpPr/>
          <p:nvPr/>
        </p:nvSpPr>
        <p:spPr>
          <a:xfrm>
            <a:off x="7504558" y="3921292"/>
            <a:ext cx="1350000" cy="4989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+ </a:t>
            </a:r>
            <a:r>
              <a:rPr lang="zh-CN" altLang="en-US" sz="1000" dirty="0">
                <a:solidFill>
                  <a:schemeClr val="tx1"/>
                </a:solidFill>
              </a:rPr>
              <a:t>主 </a:t>
            </a:r>
            <a:r>
              <a:rPr lang="fr-FR" altLang="zh-CN" sz="1000" dirty="0">
                <a:solidFill>
                  <a:schemeClr val="tx1"/>
                </a:solidFill>
              </a:rPr>
              <a:t>BCE + Dice Loss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70638AE-8C04-D3D2-C59F-B348B326F20B}"/>
              </a:ext>
            </a:extLst>
          </p:cNvPr>
          <p:cNvSpPr txBox="1"/>
          <p:nvPr/>
        </p:nvSpPr>
        <p:spPr>
          <a:xfrm>
            <a:off x="10601094" y="2901367"/>
            <a:ext cx="1251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组合为</a:t>
            </a:r>
            <a:r>
              <a:rPr lang="fr-FR" altLang="zh-CN" sz="1200" dirty="0"/>
              <a:t>Total Loss</a:t>
            </a:r>
            <a:endParaRPr lang="en-US" altLang="zh-CN" sz="1200" dirty="0"/>
          </a:p>
          <a:p>
            <a:r>
              <a:rPr lang="zh-CN" altLang="en-US" sz="1200" dirty="0"/>
              <a:t>更新</a:t>
            </a:r>
            <a:r>
              <a:rPr lang="en-US" altLang="zh-CN" sz="1200" dirty="0"/>
              <a:t>A2Net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E87A3FC-F965-27BD-05A2-4CE57F3E325A}"/>
              </a:ext>
            </a:extLst>
          </p:cNvPr>
          <p:cNvSpPr txBox="1"/>
          <p:nvPr/>
        </p:nvSpPr>
        <p:spPr>
          <a:xfrm>
            <a:off x="373204" y="4735203"/>
            <a:ext cx="11800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fr-FR" altLang="zh-CN" sz="1800" dirty="0"/>
              <a:t> Boundary :</a:t>
            </a:r>
            <a:r>
              <a:rPr lang="en-US" altLang="zh-CN" dirty="0"/>
              <a:t>SAM </a:t>
            </a:r>
            <a:r>
              <a:rPr lang="zh-CN" altLang="en-US" dirty="0"/>
              <a:t>告诉学生“对象边缘在哪里”，</a:t>
            </a:r>
            <a:r>
              <a:rPr lang="en-US" altLang="zh-CN" dirty="0"/>
              <a:t>GT </a:t>
            </a:r>
            <a:r>
              <a:rPr lang="zh-CN" altLang="en-US" dirty="0"/>
              <a:t>告诉学生“这里是不是真的发生变化”。只有两者重合或接近的位置，</a:t>
            </a:r>
            <a:r>
              <a:rPr lang="en-US" altLang="zh-CN" dirty="0"/>
              <a:t>SAM </a:t>
            </a:r>
            <a:r>
              <a:rPr lang="zh-CN" altLang="en-US" dirty="0"/>
              <a:t>的边界知识才会被采用</a:t>
            </a:r>
          </a:p>
        </p:txBody>
      </p:sp>
      <p:sp>
        <p:nvSpPr>
          <p:cNvPr id="86" name="箭头: 上下 85">
            <a:extLst>
              <a:ext uri="{FF2B5EF4-FFF2-40B4-BE49-F238E27FC236}">
                <a16:creationId xmlns:a16="http://schemas.microsoft.com/office/drawing/2014/main" id="{E21CB248-0D21-B0C5-3A4B-778B558E344F}"/>
              </a:ext>
            </a:extLst>
          </p:cNvPr>
          <p:cNvSpPr/>
          <p:nvPr/>
        </p:nvSpPr>
        <p:spPr>
          <a:xfrm>
            <a:off x="5074451" y="1370632"/>
            <a:ext cx="160053" cy="43788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箭头: 上下 88">
            <a:extLst>
              <a:ext uri="{FF2B5EF4-FFF2-40B4-BE49-F238E27FC236}">
                <a16:creationId xmlns:a16="http://schemas.microsoft.com/office/drawing/2014/main" id="{E8E63CF0-8112-9122-E453-0A5AF171EE37}"/>
              </a:ext>
            </a:extLst>
          </p:cNvPr>
          <p:cNvSpPr/>
          <p:nvPr/>
        </p:nvSpPr>
        <p:spPr>
          <a:xfrm>
            <a:off x="5072004" y="2891346"/>
            <a:ext cx="160053" cy="43788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6124C460-A152-EF71-F475-2B65F1939C9E}"/>
              </a:ext>
            </a:extLst>
          </p:cNvPr>
          <p:cNvSpPr txBox="1"/>
          <p:nvPr/>
        </p:nvSpPr>
        <p:spPr>
          <a:xfrm>
            <a:off x="373204" y="5484797"/>
            <a:ext cx="11032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fr-FR" altLang="zh-CN" sz="1800" dirty="0"/>
              <a:t> Affinity:</a:t>
            </a:r>
            <a:r>
              <a:rPr lang="zh-CN" altLang="en-US" dirty="0"/>
              <a:t>在 </a:t>
            </a:r>
            <a:r>
              <a:rPr lang="fr-FR" altLang="zh-CN" dirty="0"/>
              <a:t>GT </a:t>
            </a:r>
            <a:r>
              <a:rPr lang="zh-CN" altLang="en-US" dirty="0"/>
              <a:t>已确认发生变化的可靠 </a:t>
            </a:r>
            <a:r>
              <a:rPr lang="fr-FR" altLang="zh-CN" dirty="0"/>
              <a:t>SAM </a:t>
            </a:r>
            <a:r>
              <a:rPr lang="zh-CN" altLang="en-US" dirty="0"/>
              <a:t>对象内部，要求 </a:t>
            </a:r>
            <a:r>
              <a:rPr lang="fr-FR" altLang="zh-CN" dirty="0"/>
              <a:t>Changemap </a:t>
            </a:r>
            <a:r>
              <a:rPr lang="zh-CN" altLang="en-US" dirty="0"/>
              <a:t>变化概率保持一致。</a:t>
            </a:r>
          </a:p>
        </p:txBody>
      </p: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0D810CA8-3788-B9F7-4904-0D446DC79AA9}"/>
              </a:ext>
            </a:extLst>
          </p:cNvPr>
          <p:cNvCxnSpPr>
            <a:cxnSpLocks/>
            <a:stCxn id="4" idx="2"/>
            <a:endCxn id="75" idx="1"/>
          </p:cNvCxnSpPr>
          <p:nvPr/>
        </p:nvCxnSpPr>
        <p:spPr>
          <a:xfrm rot="16200000" flipH="1">
            <a:off x="3135666" y="-198133"/>
            <a:ext cx="2198544" cy="65392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70A5ED37-907B-9D21-E620-2AF4251C9241}"/>
              </a:ext>
            </a:extLst>
          </p:cNvPr>
          <p:cNvCxnSpPr>
            <a:cxnSpLocks/>
            <a:stCxn id="54" idx="3"/>
            <a:endCxn id="80" idx="1"/>
          </p:cNvCxnSpPr>
          <p:nvPr/>
        </p:nvCxnSpPr>
        <p:spPr>
          <a:xfrm>
            <a:off x="8854558" y="2352500"/>
            <a:ext cx="1746536" cy="779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连接符: 肘形 102">
            <a:extLst>
              <a:ext uri="{FF2B5EF4-FFF2-40B4-BE49-F238E27FC236}">
                <a16:creationId xmlns:a16="http://schemas.microsoft.com/office/drawing/2014/main" id="{4C6D3BF4-A044-FED4-1AAD-6741BFD5F633}"/>
              </a:ext>
            </a:extLst>
          </p:cNvPr>
          <p:cNvCxnSpPr>
            <a:cxnSpLocks/>
            <a:stCxn id="75" idx="3"/>
            <a:endCxn id="80" idx="1"/>
          </p:cNvCxnSpPr>
          <p:nvPr/>
        </p:nvCxnSpPr>
        <p:spPr>
          <a:xfrm flipV="1">
            <a:off x="8854558" y="3132200"/>
            <a:ext cx="1746536" cy="10385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235FC9D-EF11-99F6-9355-FB9C9BB6FD94}"/>
              </a:ext>
            </a:extLst>
          </p:cNvPr>
          <p:cNvSpPr txBox="1"/>
          <p:nvPr/>
        </p:nvSpPr>
        <p:spPr>
          <a:xfrm>
            <a:off x="7120390" y="929149"/>
            <a:ext cx="235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Stage A cached </a:t>
            </a:r>
            <a:r>
              <a:rPr lang="en-US" altLang="zh-CN" sz="1400" dirty="0" err="1"/>
              <a:t>teacher_pack</a:t>
            </a:r>
            <a:endParaRPr lang="zh-CN" altLang="en-US" sz="1400" dirty="0"/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FD1E80A7-77C6-2A10-A2A2-500F14C0D224}"/>
              </a:ext>
            </a:extLst>
          </p:cNvPr>
          <p:cNvCxnSpPr>
            <a:cxnSpLocks/>
            <a:stCxn id="107" idx="1"/>
            <a:endCxn id="25" idx="3"/>
          </p:cNvCxnSpPr>
          <p:nvPr/>
        </p:nvCxnSpPr>
        <p:spPr>
          <a:xfrm flipH="1">
            <a:off x="5773812" y="1083038"/>
            <a:ext cx="1346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E9124C-F68A-E151-F751-10F9E491E602}"/>
              </a:ext>
            </a:extLst>
          </p:cNvPr>
          <p:cNvSpPr txBox="1"/>
          <p:nvPr/>
        </p:nvSpPr>
        <p:spPr>
          <a:xfrm>
            <a:off x="7124774" y="3446008"/>
            <a:ext cx="235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Stage A cached </a:t>
            </a:r>
            <a:r>
              <a:rPr lang="en-US" altLang="zh-CN" sz="1400" dirty="0" err="1"/>
              <a:t>teacher_pack</a:t>
            </a:r>
            <a:endParaRPr lang="zh-CN" altLang="en-US" sz="1400" dirty="0"/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114B97C4-D7EC-6193-7E8D-F2C0923DEA1F}"/>
              </a:ext>
            </a:extLst>
          </p:cNvPr>
          <p:cNvCxnSpPr>
            <a:cxnSpLocks/>
            <a:stCxn id="118" idx="1"/>
            <a:endCxn id="40" idx="3"/>
          </p:cNvCxnSpPr>
          <p:nvPr/>
        </p:nvCxnSpPr>
        <p:spPr>
          <a:xfrm flipH="1">
            <a:off x="5769340" y="3599897"/>
            <a:ext cx="1355434" cy="64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B1384B11-438A-57C2-4998-508337FFCA0F}"/>
              </a:ext>
            </a:extLst>
          </p:cNvPr>
          <p:cNvSpPr txBox="1"/>
          <p:nvPr/>
        </p:nvSpPr>
        <p:spPr>
          <a:xfrm>
            <a:off x="6469812" y="86985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提供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04715D8-3521-36D2-7084-65AA3BEA3D3A}"/>
              </a:ext>
            </a:extLst>
          </p:cNvPr>
          <p:cNvSpPr txBox="1"/>
          <p:nvPr/>
        </p:nvSpPr>
        <p:spPr>
          <a:xfrm>
            <a:off x="6491896" y="336303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提供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EC46A844-7B86-6C81-122F-EBA57EAB99D1}"/>
              </a:ext>
            </a:extLst>
          </p:cNvPr>
          <p:cNvSpPr txBox="1"/>
          <p:nvPr/>
        </p:nvSpPr>
        <p:spPr>
          <a:xfrm>
            <a:off x="65144" y="6057773"/>
            <a:ext cx="118000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注：双时相的分割结果直接相减会把分割误差、配准误差和对象碎片化都变成伪变化，所以我们只利用 </a:t>
            </a:r>
            <a:r>
              <a:rPr lang="en-US" altLang="zh-CN" sz="1600" dirty="0"/>
              <a:t>SAM2 </a:t>
            </a:r>
            <a:r>
              <a:rPr lang="zh-CN" altLang="en-US" sz="1600" dirty="0"/>
              <a:t>的结构先验，真正的变化判断仍由 </a:t>
            </a:r>
            <a:r>
              <a:rPr lang="en-US" altLang="zh-CN" sz="1600" dirty="0"/>
              <a:t>GT </a:t>
            </a:r>
            <a:r>
              <a:rPr lang="zh-CN" altLang="en-US" sz="1600" dirty="0"/>
              <a:t>监督下的 </a:t>
            </a:r>
            <a:r>
              <a:rPr lang="en-US" altLang="zh-CN" sz="1600" dirty="0"/>
              <a:t>A2Net </a:t>
            </a:r>
            <a:r>
              <a:rPr lang="zh-CN" altLang="en-US" sz="1600" dirty="0"/>
              <a:t>完成。</a:t>
            </a:r>
          </a:p>
        </p:txBody>
      </p:sp>
    </p:spTree>
    <p:extLst>
      <p:ext uri="{BB962C8B-B14F-4D97-AF65-F5344CB8AC3E}">
        <p14:creationId xmlns:p14="http://schemas.microsoft.com/office/powerpoint/2010/main" val="565001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SAM Structure Loss</a:t>
            </a:r>
            <a:endParaRPr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E87A3FC-F965-27BD-05A2-4CE57F3E325A}"/>
              </a:ext>
            </a:extLst>
          </p:cNvPr>
          <p:cNvSpPr txBox="1"/>
          <p:nvPr/>
        </p:nvSpPr>
        <p:spPr>
          <a:xfrm>
            <a:off x="373204" y="4735203"/>
            <a:ext cx="11800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fr-FR" altLang="zh-CN" sz="1800" dirty="0"/>
              <a:t> Boundary :</a:t>
            </a:r>
            <a:r>
              <a:rPr lang="en-US" altLang="zh-CN" dirty="0"/>
              <a:t>SAM </a:t>
            </a:r>
            <a:r>
              <a:rPr lang="zh-CN" altLang="en-US" dirty="0"/>
              <a:t>告诉学生“对象边缘在哪里”，</a:t>
            </a:r>
            <a:r>
              <a:rPr lang="en-US" altLang="zh-CN" dirty="0"/>
              <a:t>GT </a:t>
            </a:r>
            <a:r>
              <a:rPr lang="zh-CN" altLang="en-US" dirty="0"/>
              <a:t>告诉学生“这里是不是真的发生变化”。只有两者重合或接近的位置，</a:t>
            </a:r>
            <a:r>
              <a:rPr lang="en-US" altLang="zh-CN" dirty="0"/>
              <a:t>SAM </a:t>
            </a:r>
            <a:r>
              <a:rPr lang="zh-CN" altLang="en-US" dirty="0"/>
              <a:t>的边界知识才会被采用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6124C460-A152-EF71-F475-2B65F1939C9E}"/>
              </a:ext>
            </a:extLst>
          </p:cNvPr>
          <p:cNvSpPr txBox="1"/>
          <p:nvPr/>
        </p:nvSpPr>
        <p:spPr>
          <a:xfrm>
            <a:off x="373204" y="5484797"/>
            <a:ext cx="11032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fr-FR" altLang="zh-CN" sz="1800" dirty="0"/>
              <a:t> Affinity:</a:t>
            </a:r>
            <a:r>
              <a:rPr lang="zh-CN" altLang="en-US" dirty="0"/>
              <a:t>在 </a:t>
            </a:r>
            <a:r>
              <a:rPr lang="fr-FR" altLang="zh-CN" dirty="0"/>
              <a:t>GT </a:t>
            </a:r>
            <a:r>
              <a:rPr lang="zh-CN" altLang="en-US" dirty="0"/>
              <a:t>已确认发生变化的可靠 </a:t>
            </a:r>
            <a:r>
              <a:rPr lang="fr-FR" altLang="zh-CN" dirty="0"/>
              <a:t>SAM </a:t>
            </a:r>
            <a:r>
              <a:rPr lang="zh-CN" altLang="en-US" dirty="0"/>
              <a:t>对象内部，要求 </a:t>
            </a:r>
            <a:r>
              <a:rPr lang="fr-FR" altLang="zh-CN" dirty="0"/>
              <a:t>Changemap </a:t>
            </a:r>
            <a:r>
              <a:rPr lang="zh-CN" altLang="en-US" dirty="0"/>
              <a:t>变化概率保持一致。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EC46A844-7B86-6C81-122F-EBA57EAB99D1}"/>
              </a:ext>
            </a:extLst>
          </p:cNvPr>
          <p:cNvSpPr txBox="1"/>
          <p:nvPr/>
        </p:nvSpPr>
        <p:spPr>
          <a:xfrm>
            <a:off x="65144" y="6057773"/>
            <a:ext cx="118000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注：双时相的分割结果直接相减会把分割误差、配准误差和对象碎片化都变成伪变化，所以我们只利用 </a:t>
            </a:r>
            <a:r>
              <a:rPr lang="en-US" altLang="zh-CN" sz="1600" dirty="0"/>
              <a:t>SAM2 </a:t>
            </a:r>
            <a:r>
              <a:rPr lang="zh-CN" altLang="en-US" sz="1600" dirty="0"/>
              <a:t>的结构先验，真正的变化判断仍由 </a:t>
            </a:r>
            <a:r>
              <a:rPr lang="en-US" altLang="zh-CN" sz="1600" dirty="0"/>
              <a:t>GT </a:t>
            </a:r>
            <a:r>
              <a:rPr lang="zh-CN" altLang="en-US" sz="1600" dirty="0"/>
              <a:t>监督下的 </a:t>
            </a:r>
            <a:r>
              <a:rPr lang="en-US" altLang="zh-CN" sz="1600" dirty="0"/>
              <a:t>A2Net </a:t>
            </a:r>
            <a:r>
              <a:rPr lang="zh-CN" altLang="en-US" sz="1600" dirty="0"/>
              <a:t>完成。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30A398-EFC4-7F1E-A480-FA236AF6617C}"/>
              </a:ext>
            </a:extLst>
          </p:cNvPr>
          <p:cNvSpPr txBox="1"/>
          <p:nvPr/>
        </p:nvSpPr>
        <p:spPr>
          <a:xfrm>
            <a:off x="83702" y="1322577"/>
            <a:ext cx="235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Stage A cached </a:t>
            </a:r>
            <a:r>
              <a:rPr lang="en-US" altLang="zh-CN" sz="1400" dirty="0" err="1"/>
              <a:t>teacher_pack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64972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PLUG Mentor</a:t>
            </a:r>
            <a:r>
              <a:rPr lang="zh-CN" altLang="en-US" dirty="0"/>
              <a:t>（先停止这个点）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41200A-8D63-F765-9B3A-EEF727990A03}"/>
              </a:ext>
            </a:extLst>
          </p:cNvPr>
          <p:cNvSpPr/>
          <p:nvPr/>
        </p:nvSpPr>
        <p:spPr>
          <a:xfrm>
            <a:off x="647082" y="1573412"/>
            <a:ext cx="347052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A2F02E-D17D-285D-288E-64AC486C79DE}"/>
              </a:ext>
            </a:extLst>
          </p:cNvPr>
          <p:cNvSpPr/>
          <p:nvPr/>
        </p:nvSpPr>
        <p:spPr>
          <a:xfrm>
            <a:off x="625987" y="2482384"/>
            <a:ext cx="347052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876B65-E53A-F033-57A6-3BE283274F0A}"/>
              </a:ext>
            </a:extLst>
          </p:cNvPr>
          <p:cNvSpPr/>
          <p:nvPr/>
        </p:nvSpPr>
        <p:spPr>
          <a:xfrm>
            <a:off x="2197859" y="1695409"/>
            <a:ext cx="891881" cy="409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差异信息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|F2—F1|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BE0E63CA-D2F1-2112-8587-56EEEF8A46CE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>
            <a:off x="994134" y="1704232"/>
            <a:ext cx="1019636" cy="4694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2ED17464-8B65-630C-4AAD-DD1C7D5CC81A}"/>
              </a:ext>
            </a:extLst>
          </p:cNvPr>
          <p:cNvSpPr/>
          <p:nvPr/>
        </p:nvSpPr>
        <p:spPr>
          <a:xfrm>
            <a:off x="2197859" y="2277488"/>
            <a:ext cx="891881" cy="409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特征强度</a:t>
            </a:r>
            <a:r>
              <a:rPr lang="en-US" altLang="zh-CN" sz="1200" dirty="0">
                <a:solidFill>
                  <a:schemeClr val="tx1"/>
                </a:solidFill>
              </a:rPr>
              <a:t>|F1|+|F2|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9402C0-BFE1-2C6B-07D6-8B4AF8A2CC23}"/>
              </a:ext>
            </a:extLst>
          </p:cNvPr>
          <p:cNvSpPr/>
          <p:nvPr/>
        </p:nvSpPr>
        <p:spPr>
          <a:xfrm>
            <a:off x="2013770" y="1603314"/>
            <a:ext cx="1305000" cy="1140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EFC79050-E3BC-70C2-7EA2-398A520CB50F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 flipV="1">
            <a:off x="973039" y="2173669"/>
            <a:ext cx="1040731" cy="439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204FF1F8-61C6-7D57-5E30-540E386DDD27}"/>
              </a:ext>
            </a:extLst>
          </p:cNvPr>
          <p:cNvSpPr/>
          <p:nvPr/>
        </p:nvSpPr>
        <p:spPr>
          <a:xfrm>
            <a:off x="3685906" y="1603313"/>
            <a:ext cx="1686176" cy="1140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4928A0-9A14-043C-474B-758E9585608D}"/>
              </a:ext>
            </a:extLst>
          </p:cNvPr>
          <p:cNvSpPr/>
          <p:nvPr/>
        </p:nvSpPr>
        <p:spPr>
          <a:xfrm>
            <a:off x="3914726" y="1704232"/>
            <a:ext cx="1232356" cy="409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Spatial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哪里容易？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FF9FC4D-E7F6-645F-21D1-76D4B7D919DC}"/>
              </a:ext>
            </a:extLst>
          </p:cNvPr>
          <p:cNvSpPr/>
          <p:nvPr/>
        </p:nvSpPr>
        <p:spPr>
          <a:xfrm>
            <a:off x="3913559" y="2252803"/>
            <a:ext cx="1233523" cy="409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Channel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哪些通道容易？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F757E76-7752-ABB0-DD84-582E0888CD16}"/>
              </a:ext>
            </a:extLst>
          </p:cNvPr>
          <p:cNvCxnSpPr>
            <a:cxnSpLocks/>
            <a:stCxn id="16" idx="3"/>
            <a:endCxn id="27" idx="1"/>
          </p:cNvCxnSpPr>
          <p:nvPr/>
        </p:nvCxnSpPr>
        <p:spPr>
          <a:xfrm flipV="1">
            <a:off x="3318770" y="2173668"/>
            <a:ext cx="3671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4323CE84-0A17-F190-9B3E-27EA690814C8}"/>
              </a:ext>
            </a:extLst>
          </p:cNvPr>
          <p:cNvSpPr/>
          <p:nvPr/>
        </p:nvSpPr>
        <p:spPr>
          <a:xfrm>
            <a:off x="5618635" y="1927117"/>
            <a:ext cx="1518086" cy="493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200" dirty="0">
                <a:solidFill>
                  <a:schemeClr val="tx1"/>
                </a:solidFill>
              </a:rPr>
              <a:t>Importance 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空间 </a:t>
            </a:r>
            <a:r>
              <a:rPr lang="en-US" altLang="zh-CN" sz="1200" dirty="0">
                <a:solidFill>
                  <a:schemeClr val="tx1"/>
                </a:solidFill>
              </a:rPr>
              <a:t>× </a:t>
            </a:r>
            <a:r>
              <a:rPr lang="zh-CN" altLang="en-US" sz="1200" dirty="0">
                <a:solidFill>
                  <a:schemeClr val="tx1"/>
                </a:solidFill>
              </a:rPr>
              <a:t>通道重要性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B17DCCB-1055-D6ED-0E84-92FDADD814C2}"/>
              </a:ext>
            </a:extLst>
          </p:cNvPr>
          <p:cNvCxnSpPr>
            <a:cxnSpLocks/>
            <a:stCxn id="27" idx="3"/>
            <a:endCxn id="38" idx="1"/>
          </p:cNvCxnSpPr>
          <p:nvPr/>
        </p:nvCxnSpPr>
        <p:spPr>
          <a:xfrm flipV="1">
            <a:off x="5372082" y="2173667"/>
            <a:ext cx="24655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71B857E2-D1F1-5DDF-ECBC-FF4CCB0ACA5D}"/>
              </a:ext>
            </a:extLst>
          </p:cNvPr>
          <p:cNvSpPr/>
          <p:nvPr/>
        </p:nvSpPr>
        <p:spPr>
          <a:xfrm>
            <a:off x="7311000" y="1989000"/>
            <a:ext cx="292108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CN" sz="1200" dirty="0">
                <a:solidFill>
                  <a:schemeClr val="tx1"/>
                </a:solidFill>
              </a:rPr>
              <a:t>retention = 1 - α × importance </a:t>
            </a:r>
            <a:r>
              <a:rPr lang="zh-CN" altLang="en-US" sz="1200" dirty="0">
                <a:solidFill>
                  <a:schemeClr val="tx1"/>
                </a:solidFill>
              </a:rPr>
              <a:t>（</a:t>
            </a:r>
            <a:r>
              <a:rPr lang="fr-FR" altLang="zh-CN" sz="1200" dirty="0">
                <a:solidFill>
                  <a:schemeClr val="tx1"/>
                </a:solidFill>
              </a:rPr>
              <a:t>α ≤ 0.35</a:t>
            </a:r>
            <a:r>
              <a:rPr lang="zh-CN" altLang="en-US" sz="1200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F2EF6B1-4975-BA42-ACCF-1E2AD12C37BE}"/>
              </a:ext>
            </a:extLst>
          </p:cNvPr>
          <p:cNvCxnSpPr>
            <a:cxnSpLocks/>
            <a:stCxn id="38" idx="3"/>
            <a:endCxn id="49" idx="1"/>
          </p:cNvCxnSpPr>
          <p:nvPr/>
        </p:nvCxnSpPr>
        <p:spPr>
          <a:xfrm flipV="1">
            <a:off x="7136721" y="2173666"/>
            <a:ext cx="17427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8BFD7114-D64F-15B3-F8E5-D2A02E9D76B0}"/>
              </a:ext>
            </a:extLst>
          </p:cNvPr>
          <p:cNvSpPr/>
          <p:nvPr/>
        </p:nvSpPr>
        <p:spPr>
          <a:xfrm>
            <a:off x="8169076" y="2559356"/>
            <a:ext cx="12049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CN" sz="1200" dirty="0">
                <a:solidFill>
                  <a:schemeClr val="tx1"/>
                </a:solidFill>
              </a:rPr>
              <a:t>SAME retention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6B9485CB-BCCE-D00E-D55A-3D6275B45FF2}"/>
              </a:ext>
            </a:extLst>
          </p:cNvPr>
          <p:cNvCxnSpPr>
            <a:cxnSpLocks/>
            <a:stCxn id="49" idx="2"/>
            <a:endCxn id="62" idx="0"/>
          </p:cNvCxnSpPr>
          <p:nvPr/>
        </p:nvCxnSpPr>
        <p:spPr>
          <a:xfrm flipH="1">
            <a:off x="8771540" y="2358332"/>
            <a:ext cx="1" cy="201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84C9D774-C11E-427D-BB36-388188E82E77}"/>
              </a:ext>
            </a:extLst>
          </p:cNvPr>
          <p:cNvSpPr txBox="1"/>
          <p:nvPr/>
        </p:nvSpPr>
        <p:spPr>
          <a:xfrm>
            <a:off x="471000" y="4204728"/>
            <a:ext cx="11448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Mentor </a:t>
            </a:r>
            <a:r>
              <a:rPr lang="zh-CN" altLang="en-US" dirty="0"/>
              <a:t>看双时相特征 → 找“容易证据” → 生成 </a:t>
            </a:r>
            <a:r>
              <a:rPr lang="en-US" altLang="zh-CN" dirty="0"/>
              <a:t>retention → </a:t>
            </a:r>
            <a:r>
              <a:rPr lang="zh-CN" altLang="en-US" dirty="0"/>
              <a:t>软削弱这些证据 → </a:t>
            </a:r>
            <a:r>
              <a:rPr lang="en-US" altLang="zh-CN" dirty="0"/>
              <a:t>A2Net </a:t>
            </a:r>
            <a:r>
              <a:rPr lang="zh-CN" altLang="en-US" dirty="0"/>
              <a:t>再做一次困难变化检测。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2300EF2-E9C3-2CE5-8D73-69B7BB0683A3}"/>
              </a:ext>
            </a:extLst>
          </p:cNvPr>
          <p:cNvSpPr txBox="1"/>
          <p:nvPr/>
        </p:nvSpPr>
        <p:spPr>
          <a:xfrm>
            <a:off x="9595024" y="2473127"/>
            <a:ext cx="14277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zh-CN" sz="900" dirty="0"/>
              <a:t>hard_F1 = F1 × retention</a:t>
            </a:r>
            <a:endParaRPr lang="zh-CN" altLang="en-US" sz="9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2518C5C-21A8-2691-03DA-88AFA83096BD}"/>
              </a:ext>
            </a:extLst>
          </p:cNvPr>
          <p:cNvSpPr txBox="1"/>
          <p:nvPr/>
        </p:nvSpPr>
        <p:spPr>
          <a:xfrm>
            <a:off x="9608980" y="2727089"/>
            <a:ext cx="1399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zh-CN" sz="900" dirty="0"/>
              <a:t>hard_F2 = F2 × retention</a:t>
            </a:r>
            <a:endParaRPr lang="zh-CN" altLang="en-US" sz="900" dirty="0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CA533C7-A2EE-38F5-DE34-67665FA049B3}"/>
              </a:ext>
            </a:extLst>
          </p:cNvPr>
          <p:cNvCxnSpPr>
            <a:cxnSpLocks/>
            <a:stCxn id="62" idx="3"/>
            <a:endCxn id="69" idx="1"/>
          </p:cNvCxnSpPr>
          <p:nvPr/>
        </p:nvCxnSpPr>
        <p:spPr>
          <a:xfrm flipV="1">
            <a:off x="9374004" y="2588543"/>
            <a:ext cx="221020" cy="155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A2DCD07-0E9B-8CE4-4908-E953C2F25495}"/>
              </a:ext>
            </a:extLst>
          </p:cNvPr>
          <p:cNvCxnSpPr>
            <a:cxnSpLocks/>
            <a:stCxn id="62" idx="3"/>
            <a:endCxn id="70" idx="1"/>
          </p:cNvCxnSpPr>
          <p:nvPr/>
        </p:nvCxnSpPr>
        <p:spPr>
          <a:xfrm>
            <a:off x="9374004" y="2744022"/>
            <a:ext cx="234976" cy="98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28BDC9CF-61B4-AA10-01FD-F77031D4CB96}"/>
              </a:ext>
            </a:extLst>
          </p:cNvPr>
          <p:cNvSpPr txBox="1"/>
          <p:nvPr/>
        </p:nvSpPr>
        <p:spPr>
          <a:xfrm>
            <a:off x="471000" y="4918248"/>
            <a:ext cx="11136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即主路径是正常做题，</a:t>
            </a:r>
            <a:r>
              <a:rPr lang="en-US" altLang="zh-CN" dirty="0"/>
              <a:t>Mentor </a:t>
            </a:r>
            <a:r>
              <a:rPr lang="zh-CN" altLang="en-US" dirty="0"/>
              <a:t>会把学生最容易看的提示遮掉一点，再让它重新做同一道题。学生如果还能做对，说明它学到的变化表征更鲁棒。</a:t>
            </a:r>
          </a:p>
        </p:txBody>
      </p:sp>
    </p:spTree>
    <p:extLst>
      <p:ext uri="{BB962C8B-B14F-4D97-AF65-F5344CB8AC3E}">
        <p14:creationId xmlns:p14="http://schemas.microsoft.com/office/powerpoint/2010/main" val="3866327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9291" y="628195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YANG Lei, MA Qi, LIU Bing, et al. DTAC-Net: A Dual-Task Adaptive Collaborative Network for Remote Sensing Change Interpretation[J].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6B3F95-D1F7-77C2-7F2D-F063A217C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895" y="1943100"/>
            <a:ext cx="5562600" cy="2971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E11C4D5-DE57-2B56-6410-30F27D33C120}"/>
              </a:ext>
            </a:extLst>
          </p:cNvPr>
          <p:cNvSpPr txBox="1"/>
          <p:nvPr/>
        </p:nvSpPr>
        <p:spPr>
          <a:xfrm>
            <a:off x="19491" y="909000"/>
            <a:ext cx="657150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zh-CN" altLang="en-US" dirty="0"/>
              <a:t>任务：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Sensing Change Interpretation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CD/CC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br>
              <a:rPr lang="en-US" altLang="zh-CN" dirty="0"/>
            </a:br>
            <a:r>
              <a:rPr lang="en-US" altLang="zh-CN" dirty="0"/>
              <a:t>Motivation: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现有方法提取特征和构造变化特征时不对任务做区分，但是这俩是有</a:t>
            </a:r>
            <a:r>
              <a:rPr lang="zh-CN" altLang="en-US" dirty="0">
                <a:solidFill>
                  <a:srgbClr val="FF0000"/>
                </a:solidFill>
              </a:rPr>
              <a:t>任务差异</a:t>
            </a:r>
            <a:r>
              <a:rPr lang="zh-CN" altLang="en-US" dirty="0"/>
              <a:t>的，</a:t>
            </a:r>
            <a:r>
              <a:rPr lang="en-US" altLang="zh-CN" dirty="0"/>
              <a:t>CD </a:t>
            </a:r>
            <a:r>
              <a:rPr lang="zh-CN" altLang="en-US" dirty="0"/>
              <a:t>侧重空间细节、</a:t>
            </a:r>
            <a:r>
              <a:rPr lang="en-US" altLang="zh-CN" dirty="0"/>
              <a:t>CC </a:t>
            </a:r>
            <a:r>
              <a:rPr lang="zh-CN" altLang="en-US" dirty="0"/>
              <a:t>侧重语义，强制共用会导致特征表达相互折中、相互纠缠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CD </a:t>
            </a:r>
            <a:r>
              <a:rPr lang="zh-CN" altLang="en-US" dirty="0"/>
              <a:t>与 </a:t>
            </a:r>
            <a:r>
              <a:rPr lang="en-US" altLang="zh-CN" dirty="0"/>
              <a:t>CC </a:t>
            </a:r>
            <a:r>
              <a:rPr lang="zh-CN" altLang="en-US" dirty="0"/>
              <a:t>两个分支的</a:t>
            </a:r>
            <a:r>
              <a:rPr lang="zh-CN" altLang="en-US" dirty="0">
                <a:solidFill>
                  <a:srgbClr val="FF0000"/>
                </a:solidFill>
              </a:rPr>
              <a:t>交互不足</a:t>
            </a:r>
            <a:r>
              <a:rPr lang="zh-CN" altLang="en-US" dirty="0"/>
              <a:t>，缺乏深度融合和双向信息，空间定位与语义理解之间无法充分互补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创新点：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HTA</a:t>
            </a:r>
            <a:r>
              <a:rPr lang="zh-CN" altLang="en-US" dirty="0"/>
              <a:t>（分层任务注意力）做任务条件化调制，按层采用不同算子生成 </a:t>
            </a:r>
            <a:r>
              <a:rPr lang="en-US" altLang="zh-CN" dirty="0"/>
              <a:t>CD </a:t>
            </a:r>
            <a:r>
              <a:rPr lang="zh-CN" altLang="en-US" dirty="0"/>
              <a:t>与 </a:t>
            </a:r>
            <a:r>
              <a:rPr lang="en-US" altLang="zh-CN" dirty="0"/>
              <a:t>CC </a:t>
            </a:r>
            <a:r>
              <a:rPr lang="zh-CN" altLang="en-US" dirty="0"/>
              <a:t>各自的特征表示；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TOCM</a:t>
            </a:r>
            <a:r>
              <a:rPr lang="zh-CN" altLang="en-US" dirty="0"/>
              <a:t>（任务导向变化建模）对拼接后的双时相特征，用不同类型卷积分别处理得到两套任务特定的变化特征</a:t>
            </a:r>
            <a:br>
              <a:rPr lang="en-US" altLang="zh-CN" dirty="0"/>
            </a:b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CTAI</a:t>
            </a:r>
            <a:r>
              <a:rPr lang="zh-CN" altLang="en-US" dirty="0"/>
              <a:t>（跨任务注意力交互）以一个任务的变换特征为 </a:t>
            </a:r>
            <a:r>
              <a:rPr lang="en-US" altLang="zh-CN" dirty="0"/>
              <a:t>Q</a:t>
            </a:r>
            <a:r>
              <a:rPr lang="zh-CN" altLang="en-US" dirty="0"/>
              <a:t>、另一个为 </a:t>
            </a:r>
            <a:r>
              <a:rPr lang="en-US" altLang="zh-CN" dirty="0"/>
              <a:t>K/V</a:t>
            </a:r>
            <a:r>
              <a:rPr lang="zh-CN" altLang="en-US" dirty="0"/>
              <a:t>，在 </a:t>
            </a:r>
            <a:r>
              <a:rPr lang="en-US" altLang="zh-CN" dirty="0"/>
              <a:t>CD </a:t>
            </a:r>
            <a:r>
              <a:rPr lang="zh-CN" altLang="en-US" dirty="0"/>
              <a:t>与 </a:t>
            </a:r>
            <a:r>
              <a:rPr lang="en-US" altLang="zh-CN" dirty="0"/>
              <a:t>CC</a:t>
            </a:r>
            <a:r>
              <a:rPr lang="zh-CN" altLang="en-US" dirty="0"/>
              <a:t>之间做双向交叉注意力</a:t>
            </a:r>
            <a:endParaRPr lang="en-US" altLang="zh-CN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 dirty="0"/>
              <a:t>DTAC-Net</a:t>
            </a:r>
            <a:r>
              <a:rPr lang="zh-CN" altLang="en-US" dirty="0"/>
              <a:t>（审稿）</a:t>
            </a:r>
            <a:endParaRPr lang="fr-FR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A0A224-B86C-5C17-6299-E996FBC1F26D}"/>
              </a:ext>
            </a:extLst>
          </p:cNvPr>
          <p:cNvSpPr txBox="1"/>
          <p:nvPr/>
        </p:nvSpPr>
        <p:spPr>
          <a:xfrm>
            <a:off x="30921" y="5398433"/>
            <a:ext cx="65715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altLang="zh-CN" dirty="0"/>
              <a:t>backbone</a:t>
            </a:r>
            <a:r>
              <a:rPr lang="zh-CN" altLang="en-US" dirty="0"/>
              <a:t>：</a:t>
            </a:r>
            <a:r>
              <a:rPr lang="fr-FR" altLang="zh-CN" dirty="0"/>
              <a:t>SegFormer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dirty="0"/>
              <a:t>数据集：</a:t>
            </a:r>
            <a:r>
              <a:rPr lang="zh-CN" altLang="zh-CN" dirty="0"/>
              <a:t>LEVIR-MCI </a:t>
            </a:r>
            <a:r>
              <a:rPr lang="zh-CN" altLang="en-US" dirty="0"/>
              <a:t>、</a:t>
            </a:r>
            <a:r>
              <a:rPr lang="zh-CN" altLang="zh-CN" dirty="0"/>
              <a:t>LEVIR-CDC</a:t>
            </a:r>
            <a:r>
              <a:rPr lang="zh-CN" altLang="en-US" dirty="0"/>
              <a:t>（只关注建筑）</a:t>
            </a:r>
            <a:r>
              <a:rPr lang="zh-CN" altLang="zh-CN" dirty="0"/>
              <a:t> </a:t>
            </a:r>
            <a:r>
              <a:rPr lang="zh-CN" altLang="en-US" dirty="0"/>
              <a:t>、</a:t>
            </a:r>
            <a:r>
              <a:rPr lang="zh-CN" altLang="zh-CN" dirty="0"/>
              <a:t>WHU-CDC 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4081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DTAC-Net</a:t>
            </a:r>
            <a:r>
              <a:rPr lang="zh-CN" altLang="en-US" dirty="0"/>
              <a:t>（审稿）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9291" y="628195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YANG Lei, MA Qi, LIU Bing, et al. DTAC-Net: A Dual-Task Adaptive Collaborative Network for Remote Sensing Change Interpretation[J].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3AA99F-6552-DF59-ECC8-982A677F7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00" y="899030"/>
            <a:ext cx="1122045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93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DTAC-Net</a:t>
            </a:r>
            <a:r>
              <a:rPr lang="zh-CN" altLang="en-US" dirty="0"/>
              <a:t>（审稿）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9291" y="628195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YANG Lei, MA Qi, LIU Bing, et al. DTAC-Net: A Dual-Task Adaptive Collaborative Network for Remote Sensing Change Interpretation[J].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D6DFB9-58A4-EEB3-79E5-278513D51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00" y="700388"/>
            <a:ext cx="4963011" cy="55815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A1DF22-BDA0-EDDE-F529-E99B1A05C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011" y="1466398"/>
            <a:ext cx="6937989" cy="424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9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DTAC-Net</a:t>
            </a:r>
            <a:r>
              <a:rPr lang="zh-CN" altLang="en-US" dirty="0"/>
              <a:t>（审稿）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9291" y="628195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YANG Lei, MA Qi, LIU Bing, et al. DTAC-Net: A Dual-Task Adaptive Collaborative Network for Remote Sensing Change Interpretation[J].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B1840A-D65C-8B38-2315-1F3793374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12" y="803780"/>
            <a:ext cx="1008697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63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BFD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10693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 Wang, S., Lv, C., Quan, D., Huyan, N., Cao, X., Sun, J., &amp; Jiao, L. Burden-Free Distillation From Foundation Model for Efficient Remote Sensing Change Detection.  </a:t>
            </a:r>
            <a:r>
              <a:rPr lang="en-US" altLang="zh-CN" dirty="0"/>
              <a:t>TGRS</a:t>
            </a:r>
            <a:r>
              <a:rPr lang="fr-FR" altLang="zh-CN" dirty="0"/>
              <a:t>, 2025.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201B88-A333-8F64-5D0A-4762321D7EE6}"/>
              </a:ext>
            </a:extLst>
          </p:cNvPr>
          <p:cNvSpPr txBox="1"/>
          <p:nvPr/>
        </p:nvSpPr>
        <p:spPr>
          <a:xfrm>
            <a:off x="-15552" y="741655"/>
            <a:ext cx="64715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zh-CN" altLang="en-US" dirty="0"/>
              <a:t>任务：</a:t>
            </a:r>
            <a:r>
              <a:rPr lang="en-US" altLang="zh-CN" dirty="0"/>
              <a:t>RS_BCD</a:t>
            </a:r>
            <a:br>
              <a:rPr lang="en-US" altLang="zh-CN" dirty="0"/>
            </a:br>
            <a:r>
              <a:rPr lang="en-US" altLang="zh-CN" dirty="0"/>
              <a:t>Motivation:</a:t>
            </a:r>
            <a:r>
              <a:rPr lang="zh-CN" altLang="en-US" dirty="0"/>
              <a:t>能不能训练时借用大模型知识，但推理时完全不要大模型？</a:t>
            </a:r>
            <a:endParaRPr lang="en-US" altLang="zh-CN" dirty="0"/>
          </a:p>
          <a:p>
            <a:r>
              <a:rPr lang="zh-CN" altLang="en-US" dirty="0"/>
              <a:t>创新点：</a:t>
            </a:r>
            <a:r>
              <a:rPr lang="fr-FR" altLang="zh-CN" b="1" dirty="0"/>
              <a:t>BFD</a:t>
            </a:r>
            <a:r>
              <a:rPr lang="zh-CN" altLang="fr-FR" dirty="0"/>
              <a:t>：</a:t>
            </a:r>
            <a:r>
              <a:rPr lang="fr-FR" altLang="zh-CN" dirty="0"/>
              <a:t>Foundation Model → DFM </a:t>
            </a:r>
            <a:r>
              <a:rPr lang="zh-CN" altLang="en-US" dirty="0"/>
              <a:t>双时相特征匹配 </a:t>
            </a:r>
            <a:r>
              <a:rPr lang="en-US" altLang="zh-CN" dirty="0"/>
              <a:t>+ </a:t>
            </a:r>
            <a:r>
              <a:rPr lang="fr-FR" altLang="zh-CN" dirty="0"/>
              <a:t>PCD Patch </a:t>
            </a:r>
            <a:r>
              <a:rPr lang="zh-CN" altLang="en-US" dirty="0"/>
              <a:t>对比蒸馏 → </a:t>
            </a:r>
            <a:r>
              <a:rPr lang="fr-FR" altLang="zh-CN" dirty="0"/>
              <a:t>CD Student</a:t>
            </a:r>
            <a:r>
              <a:rPr lang="zh-CN" altLang="fr-FR" dirty="0"/>
              <a:t>。</a:t>
            </a:r>
            <a:r>
              <a:rPr lang="zh-CN" altLang="en-US" dirty="0"/>
              <a:t>教师只训练期出现。</a:t>
            </a:r>
            <a:endParaRPr lang="en-US" altLang="zh-CN" dirty="0"/>
          </a:p>
          <a:p>
            <a:r>
              <a:rPr lang="zh-CN" altLang="en-US" dirty="0"/>
              <a:t>教师：</a:t>
            </a:r>
            <a:r>
              <a:rPr lang="fr-FR" altLang="zh-CN" dirty="0"/>
              <a:t>CLIP ViT-B/16 </a:t>
            </a:r>
            <a:r>
              <a:rPr lang="zh-CN" altLang="en-US" dirty="0"/>
              <a:t>；学生：</a:t>
            </a:r>
            <a:r>
              <a:rPr lang="fr-FR" altLang="zh-CN" b="1" dirty="0"/>
              <a:t>BIT</a:t>
            </a:r>
            <a:r>
              <a:rPr lang="zh-CN" altLang="en-US" dirty="0"/>
              <a:t>和 </a:t>
            </a:r>
            <a:r>
              <a:rPr lang="fr-FR" altLang="zh-CN" b="1" dirty="0"/>
              <a:t>ChangeFormer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FA5935C-42B4-2E32-0D98-0DBA4ED4B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" y="2527065"/>
            <a:ext cx="11925000" cy="36050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EDC2E2E-63C3-2D94-66B4-2FCBD7436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000" y="334209"/>
            <a:ext cx="3696144" cy="20280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989EE8-EBFF-6D56-0D18-026F09FE66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617" t="7328" r="30773" b="36284"/>
          <a:stretch/>
        </p:blipFill>
        <p:spPr>
          <a:xfrm>
            <a:off x="10123959" y="973184"/>
            <a:ext cx="2068041" cy="147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19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BFD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10693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 Wang, S., Lv, C., Quan, D., Huyan, N., Cao, X., Sun, J., &amp; Jiao, L. Burden-Free Distillation From Foundation Model for Efficient Remote Sensing Change Detection.  </a:t>
            </a:r>
            <a:r>
              <a:rPr lang="en-US" altLang="zh-CN" dirty="0"/>
              <a:t>TGRS</a:t>
            </a:r>
            <a:r>
              <a:rPr lang="fr-FR" altLang="zh-CN" dirty="0"/>
              <a:t>, 2025.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201B88-A333-8F64-5D0A-4762321D7EE6}"/>
              </a:ext>
            </a:extLst>
          </p:cNvPr>
          <p:cNvSpPr txBox="1"/>
          <p:nvPr/>
        </p:nvSpPr>
        <p:spPr>
          <a:xfrm>
            <a:off x="2482" y="774000"/>
            <a:ext cx="12618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zh-CN" altLang="en-US" dirty="0"/>
              <a:t>指标：</a:t>
            </a:r>
            <a:r>
              <a:rPr lang="fr-FR" altLang="zh-CN" dirty="0"/>
              <a:t>LEVIR/WHU/CLCD </a:t>
            </a:r>
            <a:r>
              <a:rPr lang="zh-CN" altLang="en-US" dirty="0"/>
              <a:t>报的是 </a:t>
            </a:r>
            <a:r>
              <a:rPr lang="fr-FR" altLang="zh-CN" b="1" dirty="0"/>
              <a:t>P</a:t>
            </a:r>
            <a:r>
              <a:rPr lang="zh-CN" altLang="fr-FR" b="1" dirty="0"/>
              <a:t>、</a:t>
            </a:r>
            <a:r>
              <a:rPr lang="fr-FR" altLang="zh-CN" b="1" dirty="0"/>
              <a:t>R</a:t>
            </a:r>
            <a:r>
              <a:rPr lang="zh-CN" altLang="fr-FR" b="1" dirty="0"/>
              <a:t>、</a:t>
            </a:r>
            <a:r>
              <a:rPr lang="fr-FR" altLang="zh-CN" b="1" dirty="0"/>
              <a:t>mF1</a:t>
            </a:r>
            <a:r>
              <a:rPr lang="zh-CN" altLang="fr-FR" b="1" dirty="0"/>
              <a:t>、</a:t>
            </a:r>
            <a:r>
              <a:rPr lang="fr-FR" altLang="zh-CN" b="1" dirty="0"/>
              <a:t>mIoU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B8BA40-30E6-C1A0-BC3E-5B793429F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" y="1143332"/>
            <a:ext cx="6594350" cy="26818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09EDD9-FE51-1BBF-AA46-CADFDEF3F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103" y="669130"/>
            <a:ext cx="5780415" cy="5499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D4CC05-EB75-EC90-F310-70B06AD02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445" y="3825188"/>
            <a:ext cx="3523265" cy="234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00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PHENet</a:t>
            </a:r>
            <a:r>
              <a:rPr lang="zh-CN" altLang="en-US" dirty="0"/>
              <a:t>复现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10693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Jianjun Yuan, Siyu Chen, Jianjun Zhou, and Luoming Zhao. "PHENet: Toward Robust Fog-Resilient Change Detection in Remote Sensing Imagery With a Physics-Guided Height-Enhanced Network."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EE074A-8FBC-8F5E-7F70-70F77EE559FE}"/>
              </a:ext>
            </a:extLst>
          </p:cNvPr>
          <p:cNvSpPr txBox="1"/>
          <p:nvPr/>
        </p:nvSpPr>
        <p:spPr>
          <a:xfrm>
            <a:off x="-4770" y="667028"/>
            <a:ext cx="11970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PHENet 的输入需要：   T1 RGB、T2 RGB、T1 height、T2 height。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b="1" dirty="0"/>
              <a:t>高度图的生成代码没有</a:t>
            </a:r>
            <a:r>
              <a:rPr lang="zh-CN" altLang="en-US" dirty="0"/>
              <a:t>。我自己找的方法：</a:t>
            </a:r>
            <a:r>
              <a:rPr lang="fr-FR" altLang="zh-CN" dirty="0"/>
              <a:t>RGB → Depth Anything V2 </a:t>
            </a:r>
            <a:r>
              <a:rPr lang="zh-CN" altLang="en-US" dirty="0"/>
              <a:t>相对深度 → </a:t>
            </a:r>
            <a:r>
              <a:rPr lang="fr-FR" altLang="zh-CN" dirty="0"/>
              <a:t>RDAH-Net </a:t>
            </a:r>
            <a:r>
              <a:rPr lang="zh-CN" altLang="en-US" dirty="0"/>
              <a:t>高度估计 → </a:t>
            </a:r>
            <a:r>
              <a:rPr lang="fr-FR" altLang="zh-CN" dirty="0"/>
              <a:t>Heightmap</a:t>
            </a:r>
          </a:p>
          <a:p>
            <a:endParaRPr lang="fr-FR" altLang="zh-CN" dirty="0"/>
          </a:p>
          <a:p>
            <a:r>
              <a:rPr lang="fr-FR" altLang="zh-CN" dirty="0"/>
              <a:t>2.</a:t>
            </a:r>
            <a:r>
              <a:rPr lang="zh-CN" altLang="en-US" dirty="0"/>
              <a:t>论文和作者</a:t>
            </a:r>
            <a:r>
              <a:rPr lang="en-US" altLang="zh-CN" dirty="0" err="1"/>
              <a:t>github</a:t>
            </a:r>
            <a:r>
              <a:rPr lang="zh-CN" altLang="en-US" dirty="0"/>
              <a:t>里的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变化检测损失不一致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：论文采用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BCE + Dice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；作者代码默认采用 </a:t>
            </a:r>
            <a:r>
              <a:rPr kumimoji="0" lang="zh-CN" altLang="zh-CN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 + Dice </a:t>
            </a:r>
            <a:r>
              <a:rPr lang="en-US" altLang="zh-CN" b="1" dirty="0">
                <a:latin typeface="Arial" panose="020B0604020202020204" pitchFamily="34" charset="0"/>
              </a:rPr>
              <a:t>(</a:t>
            </a:r>
            <a:r>
              <a:rPr lang="fr-FR" altLang="zh-CN" dirty="0"/>
              <a:t>dice_ce</a:t>
            </a:r>
            <a:r>
              <a:rPr lang="en-US" altLang="zh-CN" dirty="0">
                <a:latin typeface="Arial" panose="020B0604020202020204" pitchFamily="34" charset="0"/>
              </a:rPr>
              <a:t>)(</a:t>
            </a:r>
            <a:r>
              <a:rPr lang="zh-CN" altLang="en-US" dirty="0">
                <a:latin typeface="Arial" panose="020B0604020202020204" pitchFamily="34" charset="0"/>
              </a:rPr>
              <a:t>我们现在用的是这个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 </a:t>
            </a:r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b="1" dirty="0"/>
              <a:t>数据增强存在差异</a:t>
            </a:r>
            <a:r>
              <a:rPr lang="zh-CN" altLang="en-US" dirty="0"/>
              <a:t>：论文包含</a:t>
            </a:r>
            <a:r>
              <a:rPr lang="zh-CN" altLang="en-US" b="1" dirty="0"/>
              <a:t>随机旋转</a:t>
            </a:r>
            <a:r>
              <a:rPr lang="zh-CN" altLang="en-US" dirty="0"/>
              <a:t>；作者代码虽然实现了 </a:t>
            </a:r>
            <a:r>
              <a:rPr lang="en-US" altLang="zh-CN" dirty="0"/>
              <a:t>rotation</a:t>
            </a:r>
            <a:r>
              <a:rPr lang="zh-CN" altLang="en-US" dirty="0"/>
              <a:t>，但正式训练配置中</a:t>
            </a:r>
            <a:r>
              <a:rPr lang="zh-CN" altLang="en-US" b="1" dirty="0"/>
              <a:t>没有开启随机旋转</a:t>
            </a:r>
            <a:r>
              <a:rPr lang="zh-CN" altLang="en-US" dirty="0"/>
              <a:t>（我们开启了）。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b="1" dirty="0"/>
              <a:t> </a:t>
            </a:r>
            <a:r>
              <a:rPr lang="en-US" altLang="zh-CN" b="1" dirty="0"/>
              <a:t>PAC </a:t>
            </a:r>
            <a:r>
              <a:rPr lang="zh-CN" altLang="en-US" b="1" dirty="0"/>
              <a:t>损失权重不一致</a:t>
            </a:r>
            <a:r>
              <a:rPr lang="zh-CN" altLang="en-US" dirty="0"/>
              <a:t>：论文为 </a:t>
            </a:r>
            <a:r>
              <a:rPr lang="en-US" altLang="zh-CN" b="1" dirty="0"/>
              <a:t>TV=0.2</a:t>
            </a:r>
            <a:r>
              <a:rPr lang="zh-CN" altLang="en-US" b="1" dirty="0"/>
              <a:t>、</a:t>
            </a:r>
            <a:r>
              <a:rPr lang="en-US" altLang="zh-CN" b="1" dirty="0"/>
              <a:t>Dark=0.5</a:t>
            </a:r>
            <a:r>
              <a:rPr lang="zh-CN" altLang="en-US" b="1" dirty="0"/>
              <a:t>、</a:t>
            </a:r>
            <a:r>
              <a:rPr lang="en-US" altLang="zh-CN" b="1" dirty="0"/>
              <a:t>Adv=0.5</a:t>
            </a:r>
            <a:r>
              <a:rPr lang="zh-CN" altLang="en-US" dirty="0"/>
              <a:t>；作者代码实际为 </a:t>
            </a:r>
            <a:r>
              <a:rPr lang="en-US" altLang="zh-CN" b="1" dirty="0"/>
              <a:t>0.2</a:t>
            </a:r>
            <a:r>
              <a:rPr lang="zh-CN" altLang="en-US" b="1" dirty="0"/>
              <a:t>、</a:t>
            </a:r>
            <a:r>
              <a:rPr lang="en-US" altLang="zh-CN" b="1" dirty="0"/>
              <a:t>0.2</a:t>
            </a:r>
            <a:r>
              <a:rPr lang="zh-CN" altLang="en-US" b="1" dirty="0"/>
              <a:t>、</a:t>
            </a:r>
            <a:r>
              <a:rPr lang="en-US" altLang="zh-CN" b="1" dirty="0"/>
              <a:t>0.2</a:t>
            </a:r>
            <a:r>
              <a:rPr lang="zh-CN" altLang="en-US" dirty="0"/>
              <a:t>。（我们采用论文值）</a:t>
            </a:r>
            <a:endParaRPr lang="en-US" altLang="zh-CN" dirty="0"/>
          </a:p>
          <a:p>
            <a:br>
              <a:rPr lang="en-US" altLang="zh-CN" dirty="0"/>
            </a:br>
            <a:r>
              <a:rPr lang="zh-CN" altLang="en-US" dirty="0"/>
              <a:t>现有数据：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3897C41-100A-3170-D826-5D980340E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893667"/>
              </p:ext>
            </p:extLst>
          </p:nvPr>
        </p:nvGraphicFramePr>
        <p:xfrm>
          <a:off x="394447" y="4059000"/>
          <a:ext cx="11143088" cy="191386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13008">
                  <a:extLst>
                    <a:ext uri="{9D8B030D-6E8A-4147-A177-3AD203B41FA5}">
                      <a16:colId xmlns:a16="http://schemas.microsoft.com/office/drawing/2014/main" val="3577313220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2500290979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4074247579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806862742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1395836662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1772379144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4210738485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2826788870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3064620463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3587544422"/>
                    </a:ext>
                  </a:extLst>
                </a:gridCol>
                <a:gridCol w="1013008">
                  <a:extLst>
                    <a:ext uri="{9D8B030D-6E8A-4147-A177-3AD203B41FA5}">
                      <a16:colId xmlns:a16="http://schemas.microsoft.com/office/drawing/2014/main" val="3465929488"/>
                    </a:ext>
                  </a:extLst>
                </a:gridCol>
              </a:tblGrid>
              <a:tr h="490734">
                <a:tc>
                  <a:txBody>
                    <a:bodyPr/>
                    <a:lstStyle/>
                    <a:p>
                      <a:r>
                        <a:rPr lang="zh-CN" altLang="en-US" sz="1200"/>
                        <a:t>数据集 </a:t>
                      </a:r>
                      <a:r>
                        <a:rPr lang="en-US" altLang="zh-CN" sz="1200"/>
                        <a:t>/ </a:t>
                      </a:r>
                      <a:r>
                        <a:rPr lang="zh-CN" altLang="en-US" sz="1200"/>
                        <a:t>实验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Params(M)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FLOPs(G)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GPU Mem(MB)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IoU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200"/>
                        <a:t>Kappa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67546"/>
                  </a:ext>
                </a:extLst>
              </a:tr>
              <a:tr h="785174">
                <a:tc>
                  <a:txBody>
                    <a:bodyPr/>
                    <a:lstStyle/>
                    <a:p>
                      <a:r>
                        <a:rPr lang="fr-FR" sz="1200" b="1" dirty="0"/>
                        <a:t>LEVIR-CD-foggy</a:t>
                      </a:r>
                      <a:endParaRPr lang="fr-F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5.242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70.927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125.373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4861.28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72.3131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69.5936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96.9800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b="1"/>
                        <a:t>70.9273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54.9514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69.3352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014013"/>
                  </a:ext>
                </a:extLst>
              </a:tr>
              <a:tr h="637954">
                <a:tc>
                  <a:txBody>
                    <a:bodyPr/>
                    <a:lstStyle/>
                    <a:p>
                      <a:r>
                        <a:rPr lang="fr-FR" sz="1200" b="1" dirty="0"/>
                        <a:t>SYSU-CD-foggy</a:t>
                      </a:r>
                      <a:endParaRPr lang="fr-F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5.242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70.927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124.021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4861.28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69.0991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74.8845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87.2474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b="1"/>
                        <a:t>71.8756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/>
                        <a:t>56.0983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/>
                        <a:t>63.6470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4687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344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SAM2</a:t>
            </a:r>
            <a:r>
              <a:rPr lang="en-US" altLang="zh-CN" dirty="0"/>
              <a:t>+AMG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66000" y="6264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SAM 2 is a segmentation model that enables fast, precise selection of any object in any video or image.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7F7C1C-E50B-330B-385E-3AEEB6DD6804}"/>
              </a:ext>
            </a:extLst>
          </p:cNvPr>
          <p:cNvSpPr txBox="1"/>
          <p:nvPr/>
        </p:nvSpPr>
        <p:spPr>
          <a:xfrm>
            <a:off x="1572022" y="1029995"/>
            <a:ext cx="7891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我用了 </a:t>
            </a:r>
            <a:r>
              <a:rPr lang="en-US" altLang="zh-CN" dirty="0"/>
              <a:t>SAM2+AMG </a:t>
            </a:r>
            <a:r>
              <a:rPr lang="zh-CN" altLang="en-US" dirty="0"/>
              <a:t>对 </a:t>
            </a:r>
            <a:r>
              <a:rPr lang="en-US" altLang="zh-CN" dirty="0"/>
              <a:t>T1/T2 </a:t>
            </a:r>
            <a:r>
              <a:rPr lang="zh-CN" altLang="en-US" dirty="0"/>
              <a:t>分别做单时相自动实例分割，提取结构先验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99CF70-5128-D798-822D-2250DBD7D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760" y="1695351"/>
            <a:ext cx="7977926" cy="202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2E86F63-C1EF-263B-8D29-66BCFC56B0C3}"/>
              </a:ext>
            </a:extLst>
          </p:cNvPr>
          <p:cNvSpPr txBox="1"/>
          <p:nvPr/>
        </p:nvSpPr>
        <p:spPr>
          <a:xfrm>
            <a:off x="1555668" y="4562484"/>
            <a:ext cx="63239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altLang="zh-CN" dirty="0"/>
              <a:t>SAM2 provides object structure, not change prediction.</a:t>
            </a:r>
            <a:br>
              <a:rPr lang="en-US" altLang="zh-CN" dirty="0"/>
            </a:br>
            <a:r>
              <a:rPr lang="en-US" altLang="zh-CN" dirty="0"/>
              <a:t>AMG: grid point prompts → candidate masks → filtering</a:t>
            </a:r>
            <a:br>
              <a:rPr lang="en-US" altLang="zh-CN" dirty="0"/>
            </a:br>
            <a:r>
              <a:rPr lang="en-US" altLang="zh-CN" dirty="0"/>
              <a:t>T1 / T2 are processed independently.</a:t>
            </a:r>
            <a:br>
              <a:rPr lang="en-US" altLang="zh-CN" dirty="0"/>
            </a:br>
            <a:r>
              <a:rPr lang="en-US" altLang="zh-CN" dirty="0"/>
              <a:t>Offline prior: instance / boundary / quality.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8FA27A5-7F60-630B-756A-09555AB0DCFA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5826000" y="3720351"/>
            <a:ext cx="405000" cy="236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5F1F5B5-F871-18C3-77FC-F1A5B0882202}"/>
              </a:ext>
            </a:extLst>
          </p:cNvPr>
          <p:cNvSpPr txBox="1"/>
          <p:nvPr/>
        </p:nvSpPr>
        <p:spPr>
          <a:xfrm>
            <a:off x="6231000" y="3772085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AMG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178CEF-900F-C55B-5342-7859A8A776C2}"/>
              </a:ext>
            </a:extLst>
          </p:cNvPr>
          <p:cNvSpPr/>
          <p:nvPr/>
        </p:nvSpPr>
        <p:spPr>
          <a:xfrm>
            <a:off x="3171000" y="2349000"/>
            <a:ext cx="855000" cy="126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C04BB7-C5EB-353A-A6C6-3B5EA91CB3E4}"/>
              </a:ext>
            </a:extLst>
          </p:cNvPr>
          <p:cNvSpPr/>
          <p:nvPr/>
        </p:nvSpPr>
        <p:spPr>
          <a:xfrm>
            <a:off x="5196000" y="2619000"/>
            <a:ext cx="1215000" cy="359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05C9C9-0843-8E16-80C6-AD0CCB854897}"/>
              </a:ext>
            </a:extLst>
          </p:cNvPr>
          <p:cNvSpPr/>
          <p:nvPr/>
        </p:nvSpPr>
        <p:spPr>
          <a:xfrm>
            <a:off x="5196000" y="3212779"/>
            <a:ext cx="1215000" cy="1872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450495-8A8D-37AC-D878-A1D564555EE2}"/>
              </a:ext>
            </a:extLst>
          </p:cNvPr>
          <p:cNvSpPr txBox="1"/>
          <p:nvPr/>
        </p:nvSpPr>
        <p:spPr>
          <a:xfrm>
            <a:off x="4157429" y="3125366"/>
            <a:ext cx="9140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memory</a:t>
            </a:r>
            <a:r>
              <a:rPr lang="zh-CN" altLang="en-US" sz="1050" dirty="0"/>
              <a:t>为空</a:t>
            </a:r>
          </a:p>
        </p:txBody>
      </p:sp>
    </p:spTree>
    <p:extLst>
      <p:ext uri="{BB962C8B-B14F-4D97-AF65-F5344CB8AC3E}">
        <p14:creationId xmlns:p14="http://schemas.microsoft.com/office/powerpoint/2010/main" val="1197004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000" y="9053"/>
            <a:ext cx="1060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GoodSAM</a:t>
            </a:r>
            <a:r>
              <a:rPr lang="zh-CN" altLang="en-US" dirty="0"/>
              <a:t>：利用 </a:t>
            </a:r>
            <a:r>
              <a:rPr lang="en-US" altLang="zh-CN" dirty="0"/>
              <a:t>SAM </a:t>
            </a:r>
            <a:r>
              <a:rPr lang="zh-CN" altLang="en-US" dirty="0"/>
              <a:t>结构先验指导轻量模型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084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Weiming Zhang, Yexin Liu, Xu Zheng, Lin Wang; </a:t>
            </a:r>
            <a:r>
              <a:rPr lang="en-US" altLang="zh-CN" dirty="0" err="1"/>
              <a:t>GoodSAM</a:t>
            </a:r>
            <a:r>
              <a:rPr lang="en-US" altLang="zh-CN" dirty="0"/>
              <a:t>: Bridging Domain and Capacity Gaps via Segment Anything Model for Distortion-aware Panoramic Semantic Segmentation,</a:t>
            </a:r>
            <a:r>
              <a:rPr lang="fr-FR" altLang="zh-CN" dirty="0"/>
              <a:t>CVPR, 2024, pp. 28264-28273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151495-0C67-C61E-40EB-24BEBCAF1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886"/>
            <a:ext cx="6931940" cy="26084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644677C-9406-50E6-7F6E-50745D254495}"/>
              </a:ext>
            </a:extLst>
          </p:cNvPr>
          <p:cNvSpPr txBox="1"/>
          <p:nvPr/>
        </p:nvSpPr>
        <p:spPr>
          <a:xfrm>
            <a:off x="6916919" y="2482494"/>
            <a:ext cx="5265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GoodSAM</a:t>
            </a:r>
            <a:r>
              <a:rPr lang="zh-CN" altLang="en-US" dirty="0"/>
              <a:t>：</a:t>
            </a:r>
            <a:r>
              <a:rPr lang="en-US" altLang="zh-CN" dirty="0"/>
              <a:t>SAM </a:t>
            </a:r>
            <a:r>
              <a:rPr lang="zh-CN" altLang="en-US" dirty="0"/>
              <a:t>结构先验先参与构造了一个更强的监督信号，</a:t>
            </a:r>
            <a:r>
              <a:rPr lang="en-US" altLang="zh-CN" dirty="0"/>
              <a:t>TA</a:t>
            </a:r>
            <a:r>
              <a:rPr lang="zh-CN" altLang="en-US" dirty="0"/>
              <a:t>补充语义，然后融合之后把这些知识迁移到轻量 </a:t>
            </a:r>
            <a:r>
              <a:rPr lang="fr-FR" altLang="zh-CN" dirty="0"/>
              <a:t>Student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9A3C59-FBA6-6C3F-2B66-676622968FA5}"/>
              </a:ext>
            </a:extLst>
          </p:cNvPr>
          <p:cNvSpPr txBox="1"/>
          <p:nvPr/>
        </p:nvSpPr>
        <p:spPr>
          <a:xfrm>
            <a:off x="6941302" y="733976"/>
            <a:ext cx="4950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任务：无标注全景图像上的语义分割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fr-FR" altLang="zh-CN" sz="1600" dirty="0"/>
              <a:t>Motivation</a:t>
            </a:r>
            <a:r>
              <a:rPr lang="zh-CN" altLang="en-US" sz="1600" dirty="0"/>
              <a:t>：</a:t>
            </a:r>
            <a:r>
              <a:rPr lang="en-US" altLang="zh-CN" sz="1600" dirty="0"/>
              <a:t>1.</a:t>
            </a:r>
            <a:r>
              <a:rPr lang="zh-CN" altLang="en-US" sz="1600" dirty="0"/>
              <a:t>全景语义分割标注数据不足</a:t>
            </a:r>
            <a:endParaRPr lang="en-US" altLang="zh-CN" sz="1600" dirty="0"/>
          </a:p>
          <a:p>
            <a:r>
              <a:rPr lang="zh-CN" altLang="en-US" sz="1600" dirty="0"/>
              <a:t>                        </a:t>
            </a:r>
            <a:r>
              <a:rPr lang="en-US" altLang="zh-CN" sz="1600" dirty="0"/>
              <a:t>2.</a:t>
            </a:r>
            <a:r>
              <a:rPr lang="zh-CN" altLang="en-US" sz="1600" dirty="0"/>
              <a:t>想使用</a:t>
            </a:r>
            <a:r>
              <a:rPr lang="en-US" altLang="zh-CN" sz="1600" dirty="0"/>
              <a:t>SAM</a:t>
            </a:r>
            <a:r>
              <a:rPr lang="zh-CN" altLang="en-US" sz="1600" dirty="0"/>
              <a:t>的零样本分割能力作为教师</a:t>
            </a:r>
            <a:endParaRPr lang="en-US" altLang="zh-CN" sz="1600" dirty="0"/>
          </a:p>
          <a:p>
            <a:r>
              <a:rPr lang="zh-CN" altLang="en-US" sz="1600" dirty="0"/>
              <a:t>                        </a:t>
            </a:r>
            <a:r>
              <a:rPr lang="en-US" altLang="zh-CN" sz="1600" dirty="0"/>
              <a:t>3.</a:t>
            </a:r>
            <a:r>
              <a:rPr lang="zh-CN" altLang="en-US" sz="1600" dirty="0"/>
              <a:t> </a:t>
            </a:r>
            <a:r>
              <a:rPr lang="en-US" altLang="zh-CN" sz="1600" dirty="0"/>
              <a:t>SAM </a:t>
            </a:r>
            <a:r>
              <a:rPr lang="zh-CN" altLang="en-US" sz="1600" dirty="0"/>
              <a:t>只给实例 </a:t>
            </a:r>
            <a:r>
              <a:rPr lang="en-US" altLang="zh-CN" sz="1600" dirty="0"/>
              <a:t>Mask</a:t>
            </a:r>
            <a:r>
              <a:rPr lang="zh-CN" altLang="en-US" sz="1600" dirty="0"/>
              <a:t>，不给语义类别</a:t>
            </a:r>
            <a:endParaRPr lang="en-US" altLang="zh-CN" sz="1600" dirty="0"/>
          </a:p>
          <a:p>
            <a:r>
              <a:rPr lang="en-US" altLang="zh-CN" sz="1600" dirty="0"/>
              <a:t>                        4.</a:t>
            </a:r>
            <a:r>
              <a:rPr lang="zh-CN" altLang="en-US" sz="1600" dirty="0"/>
              <a:t>大模型知识不能简单直接塞给小模型</a:t>
            </a:r>
            <a:endParaRPr lang="en-US" altLang="zh-CN" sz="1600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402EB1F-6A32-3FCF-1619-7FC5A23A8530}"/>
              </a:ext>
            </a:extLst>
          </p:cNvPr>
          <p:cNvGraphicFramePr>
            <a:graphicFrameLocks noGrp="1"/>
          </p:cNvGraphicFramePr>
          <p:nvPr/>
        </p:nvGraphicFramePr>
        <p:xfrm>
          <a:off x="1596000" y="3429000"/>
          <a:ext cx="9360000" cy="265848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20000">
                  <a:extLst>
                    <a:ext uri="{9D8B030D-6E8A-4147-A177-3AD203B41FA5}">
                      <a16:colId xmlns:a16="http://schemas.microsoft.com/office/drawing/2014/main" val="3310827637"/>
                    </a:ext>
                  </a:extLst>
                </a:gridCol>
                <a:gridCol w="3120000">
                  <a:extLst>
                    <a:ext uri="{9D8B030D-6E8A-4147-A177-3AD203B41FA5}">
                      <a16:colId xmlns:a16="http://schemas.microsoft.com/office/drawing/2014/main" val="180530963"/>
                    </a:ext>
                  </a:extLst>
                </a:gridCol>
                <a:gridCol w="3120000">
                  <a:extLst>
                    <a:ext uri="{9D8B030D-6E8A-4147-A177-3AD203B41FA5}">
                      <a16:colId xmlns:a16="http://schemas.microsoft.com/office/drawing/2014/main" val="1514260846"/>
                    </a:ext>
                  </a:extLst>
                </a:gridCol>
              </a:tblGrid>
              <a:tr h="295387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GoodSAM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我们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929052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任务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单幅全景语义分割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双时相二值变化检测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393233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基础模型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SAM2.1+ AMG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745036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fr-FR" sz="1200"/>
                        <a:t>SAM </a:t>
                      </a:r>
                      <a:r>
                        <a:rPr lang="zh-CN" altLang="en-US" sz="1200"/>
                        <a:t>提供什么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Instance mask、Boundary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Instance ID、Boundary、Quality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982377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是否需要类别语义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/>
                        <a:t>需要</a:t>
                      </a:r>
                      <a:r>
                        <a:rPr lang="zh-CN" altLang="en-US" sz="1200"/>
                        <a:t>，所以增加 </a:t>
                      </a:r>
                      <a:r>
                        <a:rPr lang="fr-FR" sz="1200"/>
                        <a:t>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不需要</a:t>
                      </a:r>
                      <a:r>
                        <a:rPr lang="zh-CN" altLang="en-US" sz="1200" dirty="0"/>
                        <a:t>，最终只判断 </a:t>
                      </a:r>
                      <a:r>
                        <a:rPr lang="fr-FR" sz="1200" dirty="0"/>
                        <a:t>Change / 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817477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是否由 </a:t>
                      </a:r>
                      <a:r>
                        <a:rPr lang="fr-FR" sz="1200"/>
                        <a:t>SAM </a:t>
                      </a:r>
                      <a:r>
                        <a:rPr lang="zh-CN" altLang="en-US" sz="1200"/>
                        <a:t>直接告诉学生答案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间接是，</a:t>
                      </a:r>
                      <a:r>
                        <a:rPr lang="fr-FR" sz="1200" dirty="0"/>
                        <a:t>SAM+TA → Ensemble Logits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不是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606352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双时相匹配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无此问题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b="1" dirty="0"/>
                        <a:t>T1/T2 </a:t>
                      </a:r>
                      <a:r>
                        <a:rPr lang="zh-CN" altLang="en-US" sz="1200" b="1" dirty="0"/>
                        <a:t>独立，不做实例匹配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057144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fr-FR" sz="1200" dirty="0"/>
                        <a:t>SAM </a:t>
                      </a:r>
                      <a:r>
                        <a:rPr lang="zh-CN" altLang="en-US" sz="1200" dirty="0"/>
                        <a:t>结构最终作用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构造更可靠的语义监督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对变化结果施加结构约束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263877"/>
                  </a:ext>
                </a:extLst>
              </a:tr>
              <a:tr h="295387">
                <a:tc>
                  <a:txBody>
                    <a:bodyPr/>
                    <a:lstStyle/>
                    <a:p>
                      <a:r>
                        <a:rPr lang="zh-CN" altLang="en-US" sz="1200"/>
                        <a:t>推理时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学生独立推理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SAM2 </a:t>
                      </a:r>
                      <a:r>
                        <a:rPr lang="zh-CN" altLang="en-US" sz="1200" dirty="0"/>
                        <a:t>完全拆除，</a:t>
                      </a:r>
                      <a:r>
                        <a:rPr lang="fr-FR" sz="1200" dirty="0"/>
                        <a:t>A2Net 2.91M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41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728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6525" y="0"/>
            <a:ext cx="10359475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Masking meets Supervision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66000" y="6264000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Byeongho Heo</a:t>
            </a:r>
            <a:r>
              <a:rPr lang="fr-FR" altLang="zh-CN" dirty="0"/>
              <a:t>; </a:t>
            </a:r>
            <a:r>
              <a:rPr lang="fr-FR" altLang="zh-CN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Taekyung Kim</a:t>
            </a:r>
            <a:r>
              <a:rPr lang="fr-FR" altLang="zh-CN" dirty="0"/>
              <a:t>; </a:t>
            </a:r>
            <a:r>
              <a:rPr lang="fr-FR" altLang="zh-CN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Sangdoo Yun</a:t>
            </a:r>
            <a:r>
              <a:rPr lang="fr-FR" altLang="zh-CN" dirty="0"/>
              <a:t>; </a:t>
            </a:r>
            <a:r>
              <a:rPr lang="fr-FR" altLang="zh-CN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Dongyoon Han</a:t>
            </a:r>
            <a:r>
              <a:rPr lang="fr-FR" altLang="zh-CN" dirty="0"/>
              <a:t>. "Masking meets Supervision: A Strong Learning Alliance." CVPR, 2025,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7FC854-E666-5B70-4AFA-BA33AC24D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35" y="897848"/>
            <a:ext cx="6877195" cy="26352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AEE3562-CB4C-066B-E8BC-D18CF173361D}"/>
              </a:ext>
            </a:extLst>
          </p:cNvPr>
          <p:cNvSpPr txBox="1"/>
          <p:nvPr/>
        </p:nvSpPr>
        <p:spPr>
          <a:xfrm>
            <a:off x="36392" y="694398"/>
            <a:ext cx="6129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强扰动下的稳定监督学习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A3CCB5-9A0B-04FA-49CA-57BAF766663D}"/>
              </a:ext>
            </a:extLst>
          </p:cNvPr>
          <p:cNvSpPr txBox="1"/>
          <p:nvPr/>
        </p:nvSpPr>
        <p:spPr>
          <a:xfrm>
            <a:off x="6941302" y="733976"/>
            <a:ext cx="495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任务：提出一种 </a:t>
            </a:r>
            <a:r>
              <a:rPr lang="zh-CN" altLang="en-US" sz="1600" b="1" dirty="0"/>
              <a:t>监督学习训练方法 </a:t>
            </a:r>
            <a:r>
              <a:rPr lang="en-US" altLang="zh-CN" sz="1600" b="1" dirty="0"/>
              <a:t>/ </a:t>
            </a:r>
            <a:r>
              <a:rPr lang="zh-CN" altLang="en-US" sz="1600" b="1" dirty="0"/>
              <a:t>正则化框架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fr-FR" altLang="zh-CN" sz="1600" dirty="0"/>
              <a:t>Motivation</a:t>
            </a:r>
            <a:r>
              <a:rPr lang="zh-CN" altLang="en-US" sz="1600" dirty="0"/>
              <a:t>：强 </a:t>
            </a:r>
            <a:r>
              <a:rPr lang="en-US" altLang="zh-CN" sz="1600" dirty="0"/>
              <a:t>Masking </a:t>
            </a:r>
            <a:r>
              <a:rPr lang="zh-CN" altLang="en-US" sz="1600" dirty="0"/>
              <a:t>有利于表征学习，但直接用于监督学习会造成训练不稳定。</a:t>
            </a:r>
            <a:endParaRPr lang="en-US" altLang="zh-CN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170824-3B08-4FFF-ED4E-58E32639943A}"/>
              </a:ext>
            </a:extLst>
          </p:cNvPr>
          <p:cNvSpPr txBox="1"/>
          <p:nvPr/>
        </p:nvSpPr>
        <p:spPr>
          <a:xfrm>
            <a:off x="6945888" y="2034000"/>
            <a:ext cx="4635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Masking meets Supervision</a:t>
            </a:r>
            <a:r>
              <a:rPr lang="zh-CN" altLang="en-US" dirty="0"/>
              <a:t>：将强 </a:t>
            </a:r>
            <a:r>
              <a:rPr lang="en-US" altLang="zh-CN" dirty="0"/>
              <a:t>Masking </a:t>
            </a:r>
            <a:r>
              <a:rPr lang="zh-CN" altLang="en-US" dirty="0"/>
              <a:t>放入独立 </a:t>
            </a:r>
            <a:r>
              <a:rPr lang="en-US" altLang="zh-CN" dirty="0"/>
              <a:t>Sub-branch</a:t>
            </a:r>
            <a:r>
              <a:rPr lang="zh-CN" altLang="en-US" dirty="0"/>
              <a:t>，并利用完整输入 </a:t>
            </a:r>
            <a:r>
              <a:rPr lang="en-US" altLang="zh-CN" dirty="0"/>
              <a:t>Main-branch </a:t>
            </a:r>
            <a:r>
              <a:rPr lang="zh-CN" altLang="en-US" dirty="0"/>
              <a:t>的软预测进行自蒸馏监督，实现“强扰动 </a:t>
            </a:r>
            <a:r>
              <a:rPr lang="en-US" altLang="zh-CN" dirty="0"/>
              <a:t>+ </a:t>
            </a:r>
            <a:r>
              <a:rPr lang="zh-CN" altLang="en-US" dirty="0"/>
              <a:t>弱监督”，从而稳定训练。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B72F6EF-D1B1-0AEC-E377-D01B73DF4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85729"/>
              </p:ext>
            </p:extLst>
          </p:nvPr>
        </p:nvGraphicFramePr>
        <p:xfrm>
          <a:off x="1551000" y="4093401"/>
          <a:ext cx="8550000" cy="2070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000">
                  <a:extLst>
                    <a:ext uri="{9D8B030D-6E8A-4147-A177-3AD203B41FA5}">
                      <a16:colId xmlns:a16="http://schemas.microsoft.com/office/drawing/2014/main" val="3933189307"/>
                    </a:ext>
                  </a:extLst>
                </a:gridCol>
                <a:gridCol w="4275000">
                  <a:extLst>
                    <a:ext uri="{9D8B030D-6E8A-4147-A177-3AD203B41FA5}">
                      <a16:colId xmlns:a16="http://schemas.microsoft.com/office/drawing/2014/main" val="869610000"/>
                    </a:ext>
                  </a:extLst>
                </a:gridCol>
              </a:tblGrid>
              <a:tr h="345141">
                <a:tc>
                  <a:txBody>
                    <a:bodyPr/>
                    <a:lstStyle/>
                    <a:p>
                      <a:r>
                        <a:rPr lang="fr-FR" sz="1400" dirty="0"/>
                        <a:t>MaskSub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我们的项目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810206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单图像分类为主要实验场景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双时相遥感变化检测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59069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fr-FR" sz="1400"/>
                        <a:t>Mask </a:t>
                      </a:r>
                      <a:r>
                        <a:rPr lang="zh-CN" altLang="en-US" sz="1400"/>
                        <a:t>输入</a:t>
                      </a:r>
                      <a:r>
                        <a:rPr lang="en-US" altLang="zh-CN" sz="1400"/>
                        <a:t>/</a:t>
                      </a:r>
                      <a:r>
                        <a:rPr lang="fr-FR" sz="1400"/>
                        <a:t>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扰动 </a:t>
                      </a:r>
                      <a:r>
                        <a:rPr lang="fr-FR" sz="1400" b="1"/>
                        <a:t>T1/T2 </a:t>
                      </a:r>
                      <a:r>
                        <a:rPr lang="zh-CN" altLang="en-US" sz="1400" b="1"/>
                        <a:t>中间特征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782787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fr-FR" sz="1400"/>
                        <a:t>Main → Sub </a:t>
                      </a:r>
                      <a:r>
                        <a:rPr lang="zh-CN" altLang="en-US" sz="1400"/>
                        <a:t>自蒸馏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Mentor </a:t>
                      </a:r>
                      <a:r>
                        <a:rPr lang="zh-CN" altLang="en-US" sz="1400"/>
                        <a:t>制造困难特征，</a:t>
                      </a:r>
                      <a:r>
                        <a:rPr lang="fr-FR" sz="1400"/>
                        <a:t>Student </a:t>
                      </a:r>
                      <a:r>
                        <a:rPr lang="zh-CN" altLang="en-US" sz="1400"/>
                        <a:t>学习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381834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zh-CN" altLang="en-US" sz="1400"/>
                        <a:t>强调稳定强正则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强调提升困难变化场景鲁棒性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120882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训练期机制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同样是</a:t>
                      </a:r>
                      <a:r>
                        <a:rPr lang="zh-CN" altLang="en-US" sz="1400" b="1" dirty="0"/>
                        <a:t>训练期外挂，部署拆除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746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37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数据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2F05C76-85E5-4841-77C1-7806FB08C0A6}"/>
              </a:ext>
            </a:extLst>
          </p:cNvPr>
          <p:cNvSpPr txBox="1"/>
          <p:nvPr/>
        </p:nvSpPr>
        <p:spPr>
          <a:xfrm>
            <a:off x="17650" y="774000"/>
            <a:ext cx="118226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SAM2 </a:t>
            </a:r>
            <a:r>
              <a:rPr lang="zh-CN" altLang="en-US" dirty="0"/>
              <a:t>可学习参数：</a:t>
            </a:r>
            <a:r>
              <a:rPr lang="en-US" altLang="zh-CN" dirty="0"/>
              <a:t>0M</a:t>
            </a:r>
            <a:r>
              <a:rPr lang="zh-CN" altLang="en-US" dirty="0"/>
              <a:t>，离线教师，不参与训练和推理</a:t>
            </a:r>
            <a:endParaRPr lang="en-US" altLang="zh-CN" dirty="0"/>
          </a:p>
          <a:p>
            <a:r>
              <a:rPr lang="en-US" altLang="zh-CN" dirty="0"/>
              <a:t>PLUG Mentor</a:t>
            </a:r>
            <a:r>
              <a:rPr lang="zh-CN" altLang="en-US" dirty="0"/>
              <a:t>参数：</a:t>
            </a:r>
            <a:r>
              <a:rPr lang="en-US" altLang="zh-CN" dirty="0"/>
              <a:t>25.48M</a:t>
            </a:r>
            <a:r>
              <a:rPr lang="zh-CN" altLang="en-US" dirty="0"/>
              <a:t>，推理时拆除。</a:t>
            </a:r>
            <a:endParaRPr lang="en-US" altLang="zh-CN" dirty="0"/>
          </a:p>
          <a:p>
            <a:r>
              <a:rPr lang="zh-CN" altLang="en-US" dirty="0"/>
              <a:t>训练时总参数量：</a:t>
            </a:r>
            <a:r>
              <a:rPr lang="en-US" altLang="zh-CN" dirty="0"/>
              <a:t>28.388M</a:t>
            </a:r>
          </a:p>
          <a:p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部署时参数量：</a:t>
            </a:r>
            <a:r>
              <a:rPr lang="en-US" altLang="zh-CN" dirty="0"/>
              <a:t>2.913M</a:t>
            </a:r>
          </a:p>
          <a:p>
            <a:r>
              <a:rPr lang="en-US" altLang="zh-CN" dirty="0"/>
              <a:t>Flops</a:t>
            </a:r>
            <a:r>
              <a:rPr lang="zh-CN" altLang="en-US" dirty="0"/>
              <a:t>：</a:t>
            </a:r>
            <a:r>
              <a:rPr lang="en-US" altLang="zh-CN" dirty="0"/>
              <a:t>2.75G</a:t>
            </a:r>
          </a:p>
          <a:p>
            <a:r>
              <a:rPr lang="zh-CN" altLang="en-US" dirty="0"/>
              <a:t>现在的训练策略：阶段一生成离线教师缓存，阶段二主路径在训练集训练，验证集验证。最后获得</a:t>
            </a:r>
            <a:r>
              <a:rPr lang="en-US" altLang="zh-CN" dirty="0"/>
              <a:t>best</a:t>
            </a:r>
            <a:r>
              <a:rPr lang="zh-CN" altLang="en-US" dirty="0"/>
              <a:t>在测试集推理。</a:t>
            </a:r>
            <a:endParaRPr lang="en-US" altLang="zh-CN" dirty="0"/>
          </a:p>
          <a:p>
            <a:r>
              <a:rPr lang="zh-CN" altLang="en-US" dirty="0"/>
              <a:t>                                   没有直接在测试集上挑</a:t>
            </a:r>
            <a:r>
              <a:rPr lang="en-US" altLang="zh-CN" dirty="0"/>
              <a:t>best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3A7CB44-B96C-36EF-0955-307D483F1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753435"/>
              </p:ext>
            </p:extLst>
          </p:nvPr>
        </p:nvGraphicFramePr>
        <p:xfrm>
          <a:off x="39451" y="2910195"/>
          <a:ext cx="5895002" cy="332251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23264">
                  <a:extLst>
                    <a:ext uri="{9D8B030D-6E8A-4147-A177-3AD203B41FA5}">
                      <a16:colId xmlns:a16="http://schemas.microsoft.com/office/drawing/2014/main" val="4127761708"/>
                    </a:ext>
                  </a:extLst>
                </a:gridCol>
                <a:gridCol w="494767">
                  <a:extLst>
                    <a:ext uri="{9D8B030D-6E8A-4147-A177-3AD203B41FA5}">
                      <a16:colId xmlns:a16="http://schemas.microsoft.com/office/drawing/2014/main" val="3869875886"/>
                    </a:ext>
                  </a:extLst>
                </a:gridCol>
                <a:gridCol w="483518">
                  <a:extLst>
                    <a:ext uri="{9D8B030D-6E8A-4147-A177-3AD203B41FA5}">
                      <a16:colId xmlns:a16="http://schemas.microsoft.com/office/drawing/2014/main" val="13066444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4141075828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35646031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50600668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4120070378"/>
                    </a:ext>
                  </a:extLst>
                </a:gridCol>
                <a:gridCol w="398520">
                  <a:extLst>
                    <a:ext uri="{9D8B030D-6E8A-4147-A177-3AD203B41FA5}">
                      <a16:colId xmlns:a16="http://schemas.microsoft.com/office/drawing/2014/main" val="2869162477"/>
                    </a:ext>
                  </a:extLst>
                </a:gridCol>
                <a:gridCol w="439378">
                  <a:extLst>
                    <a:ext uri="{9D8B030D-6E8A-4147-A177-3AD203B41FA5}">
                      <a16:colId xmlns:a16="http://schemas.microsoft.com/office/drawing/2014/main" val="1638987300"/>
                    </a:ext>
                  </a:extLst>
                </a:gridCol>
                <a:gridCol w="572728">
                  <a:extLst>
                    <a:ext uri="{9D8B030D-6E8A-4147-A177-3AD203B41FA5}">
                      <a16:colId xmlns:a16="http://schemas.microsoft.com/office/drawing/2014/main" val="3996214726"/>
                    </a:ext>
                  </a:extLst>
                </a:gridCol>
                <a:gridCol w="454086">
                  <a:extLst>
                    <a:ext uri="{9D8B030D-6E8A-4147-A177-3AD203B41FA5}">
                      <a16:colId xmlns:a16="http://schemas.microsoft.com/office/drawing/2014/main" val="2886313191"/>
                    </a:ext>
                  </a:extLst>
                </a:gridCol>
                <a:gridCol w="538741">
                  <a:extLst>
                    <a:ext uri="{9D8B030D-6E8A-4147-A177-3AD203B41FA5}">
                      <a16:colId xmlns:a16="http://schemas.microsoft.com/office/drawing/2014/main" val="3990869489"/>
                    </a:ext>
                  </a:extLst>
                </a:gridCol>
              </a:tblGrid>
              <a:tr h="560450">
                <a:tc>
                  <a:txBody>
                    <a:bodyPr/>
                    <a:lstStyle/>
                    <a:p>
                      <a:r>
                        <a:rPr lang="zh-CN" altLang="en-US" sz="1100"/>
                        <a:t>实验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数据集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Val_</a:t>
                      </a:r>
                    </a:p>
                    <a:p>
                      <a:pPr algn="r"/>
                      <a:r>
                        <a:rPr lang="en-US" altLang="zh-CN" sz="1100" dirty="0"/>
                        <a:t>best</a:t>
                      </a:r>
                    </a:p>
                    <a:p>
                      <a:pPr algn="r"/>
                      <a:r>
                        <a:rPr lang="zh-CN" altLang="en-US" sz="1100" dirty="0"/>
                        <a:t> </a:t>
                      </a:r>
                      <a:r>
                        <a:rPr lang="fr-FR" sz="11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IoU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Train p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Infer p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FLOPs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431847"/>
                  </a:ext>
                </a:extLst>
              </a:tr>
              <a:tr h="452039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base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78.93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86.25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92.06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77.32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764657"/>
                  </a:ext>
                </a:extLst>
              </a:tr>
              <a:tr h="483475">
                <a:tc>
                  <a:txBody>
                    <a:bodyPr/>
                    <a:lstStyle/>
                    <a:p>
                      <a:r>
                        <a:rPr lang="fr-FR" sz="1100" dirty="0"/>
                        <a:t>+PLUG_Full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81.46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79.99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86.44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92.32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 dirty="0"/>
                        <a:t>83.09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 dirty="0"/>
                        <a:t>71.07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b="1"/>
                        <a:t>78.13</a:t>
                      </a:r>
                      <a:endParaRPr lang="zh-CN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b="1"/>
                        <a:t>102.67M</a:t>
                      </a:r>
                      <a:endParaRPr lang="fr-FR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903303"/>
                  </a:ext>
                </a:extLst>
              </a:tr>
              <a:tr h="347722">
                <a:tc>
                  <a:txBody>
                    <a:bodyPr/>
                    <a:lstStyle/>
                    <a:p>
                      <a:r>
                        <a:rPr lang="fr-FR" sz="1100" dirty="0"/>
                        <a:t>+SAM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81.21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86.45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82.21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69.8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77.07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784076"/>
                  </a:ext>
                </a:extLst>
              </a:tr>
              <a:tr h="452039">
                <a:tc>
                  <a:txBody>
                    <a:bodyPr/>
                    <a:lstStyle/>
                    <a:p>
                      <a:r>
                        <a:rPr lang="fr-FR" sz="1100" dirty="0"/>
                        <a:t>+PLUG_M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b="1"/>
                        <a:t>28.39M</a:t>
                      </a:r>
                      <a:endParaRPr lang="fr-FR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615184"/>
                  </a:ext>
                </a:extLst>
              </a:tr>
              <a:tr h="660672">
                <a:tc>
                  <a:txBody>
                    <a:bodyPr/>
                    <a:lstStyle/>
                    <a:p>
                      <a:r>
                        <a:rPr lang="fr-FR" sz="1100" dirty="0"/>
                        <a:t>+SAM</a:t>
                      </a:r>
                    </a:p>
                    <a:p>
                      <a:r>
                        <a:rPr lang="fr-FR" sz="1100" dirty="0"/>
                        <a:t>+PLUG_M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/>
                        <a:t>SYSU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b="1"/>
                        <a:t>28.39M</a:t>
                      </a:r>
                      <a:endParaRPr lang="fr-FR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/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1100" dirty="0"/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10105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2C2BDDA-6663-826D-E6F2-2542360E6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778234"/>
              </p:ext>
            </p:extLst>
          </p:nvPr>
        </p:nvGraphicFramePr>
        <p:xfrm>
          <a:off x="6096000" y="2910194"/>
          <a:ext cx="6056550" cy="332251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37457">
                  <a:extLst>
                    <a:ext uri="{9D8B030D-6E8A-4147-A177-3AD203B41FA5}">
                      <a16:colId xmlns:a16="http://schemas.microsoft.com/office/drawing/2014/main" val="529086770"/>
                    </a:ext>
                  </a:extLst>
                </a:gridCol>
                <a:gridCol w="518374">
                  <a:extLst>
                    <a:ext uri="{9D8B030D-6E8A-4147-A177-3AD203B41FA5}">
                      <a16:colId xmlns:a16="http://schemas.microsoft.com/office/drawing/2014/main" val="2606312031"/>
                    </a:ext>
                  </a:extLst>
                </a:gridCol>
                <a:gridCol w="739731">
                  <a:extLst>
                    <a:ext uri="{9D8B030D-6E8A-4147-A177-3AD203B41FA5}">
                      <a16:colId xmlns:a16="http://schemas.microsoft.com/office/drawing/2014/main" val="2911690771"/>
                    </a:ext>
                  </a:extLst>
                </a:gridCol>
                <a:gridCol w="545964">
                  <a:extLst>
                    <a:ext uri="{9D8B030D-6E8A-4147-A177-3AD203B41FA5}">
                      <a16:colId xmlns:a16="http://schemas.microsoft.com/office/drawing/2014/main" val="3561307916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1413421080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3749874056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2521114673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4091152818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4194850357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354515722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2352584723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1949123534"/>
                    </a:ext>
                  </a:extLst>
                </a:gridCol>
              </a:tblGrid>
              <a:tr h="46962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实验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数据集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</a:p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best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Train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Infer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889611"/>
                  </a:ext>
                </a:extLst>
              </a:tr>
              <a:tr h="46962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96.55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99.58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94.56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89.69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94.34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982124"/>
                  </a:ext>
                </a:extLst>
              </a:tr>
              <a:tr h="62975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+PLUG_Full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93.06</a:t>
                      </a:r>
                      <a:endParaRPr lang="zh-CN" altLang="en-US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95.60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99.55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89.24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102.67M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369458"/>
                  </a:ext>
                </a:extLst>
              </a:tr>
              <a:tr h="46962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469470"/>
                  </a:ext>
                </a:extLst>
              </a:tr>
              <a:tr h="62975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+PLUG_M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28.39M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619755"/>
                  </a:ext>
                </a:extLst>
              </a:tr>
              <a:tr h="6541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+SAM+PLUG_M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28.39M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2.75G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93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856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22A1-C243-7B53-3029-14CB55AE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1C044-2992-E67E-4996-56303A0B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789711"/>
            <a:ext cx="11355295" cy="48427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研究方向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轻量/高效/可部署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变化检测系统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zh-CN" altLang="zh-CN" b="0" dirty="0"/>
              <a:t>基础问题</a:t>
            </a:r>
            <a:r>
              <a:rPr lang="zh-CN" altLang="en-US" b="0" dirty="0"/>
              <a:t>：</a:t>
            </a:r>
            <a:r>
              <a:rPr lang="zh-CN" altLang="zh-CN" b="0" dirty="0"/>
              <a:t>减少参数与算力的情况下保持时空变化特征提取能力</a:t>
            </a:r>
            <a:r>
              <a:rPr lang="zh-CN" altLang="en-US" b="0" dirty="0"/>
              <a:t>、使用</a:t>
            </a:r>
            <a:r>
              <a:rPr lang="zh-CN" altLang="zh-CN" b="0" dirty="0"/>
              <a:t>结构重参数化、知识蒸馏或动态推理实现精度与速度的平衡</a:t>
            </a:r>
            <a:endParaRPr lang="en-US" altLang="zh-CN" b="0" dirty="0"/>
          </a:p>
          <a:p>
            <a:pPr marL="0" indent="0">
              <a:buNone/>
            </a:pPr>
            <a:endParaRPr lang="zh-CN" altLang="zh-CN" b="0" dirty="0"/>
          </a:p>
          <a:p>
            <a:pPr marL="0" indent="0">
              <a:buNone/>
            </a:pPr>
            <a:r>
              <a:rPr lang="zh-CN" altLang="en-US" b="0" dirty="0"/>
              <a:t>研究方向：模块剪枝、通道压缩、轻量</a:t>
            </a:r>
            <a:r>
              <a:rPr lang="en-US" altLang="zh-CN" b="0" dirty="0"/>
              <a:t>backbone</a:t>
            </a:r>
            <a:r>
              <a:rPr lang="zh-CN" altLang="en-US" b="0" dirty="0"/>
              <a:t>、时</a:t>
            </a:r>
            <a:r>
              <a:rPr lang="en-US" altLang="zh-CN" b="0" dirty="0"/>
              <a:t>/</a:t>
            </a:r>
            <a:r>
              <a:rPr lang="zh-CN" altLang="en-US" b="0" dirty="0"/>
              <a:t>空结构重参数化、推理时可拆卸的外挂模块、轻量化解码器等。</a:t>
            </a:r>
            <a:endParaRPr lang="en-US" altLang="zh-CN" b="0" dirty="0"/>
          </a:p>
          <a:p>
            <a:pPr marL="0" indent="0">
              <a:buNone/>
            </a:pP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0075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22A1-C243-7B53-3029-14CB55AE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下一个工作</a:t>
            </a:r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1C044-2992-E67E-4996-56303A0B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789711"/>
            <a:ext cx="11355295" cy="484274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思路</a:t>
            </a:r>
            <a:r>
              <a:rPr lang="en-US" altLang="zh-CN" dirty="0">
                <a:solidFill>
                  <a:srgbClr val="C00000"/>
                </a:solidFill>
              </a:rPr>
              <a:t>+Academic Papers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b="0" dirty="0"/>
              <a:t>使用</a:t>
            </a:r>
            <a:r>
              <a:rPr lang="en-US" altLang="zh-CN" b="0" dirty="0" err="1"/>
              <a:t>LSNet</a:t>
            </a:r>
            <a:r>
              <a:rPr lang="zh-CN" altLang="en-US" b="0" dirty="0"/>
              <a:t>的思想，结合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时空结构重参数化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</a:t>
            </a:r>
            <a:r>
              <a:rPr lang="zh-CN" altLang="en-US" b="0" dirty="0">
                <a:latin typeface="Consolas" panose="020B0609020204030204" pitchFamily="49" charset="0"/>
              </a:rPr>
              <a:t>来做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推理时轻量化的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RS_BCD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任务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b="0" dirty="0">
                <a:latin typeface="Consolas" panose="020B0609020204030204" pitchFamily="49" charset="0"/>
              </a:rPr>
              <a:t>（待解决的三个问题：</a:t>
            </a:r>
            <a:r>
              <a:rPr lang="zh-CN" altLang="en-US" b="0" u="sng" dirty="0">
                <a:latin typeface="Consolas" panose="020B0609020204030204" pitchFamily="49" charset="0"/>
              </a:rPr>
              <a:t>骨干网络选择</a:t>
            </a:r>
            <a:r>
              <a:rPr lang="zh-CN" altLang="en-US" b="0" dirty="0">
                <a:latin typeface="Consolas" panose="020B0609020204030204" pitchFamily="49" charset="0"/>
              </a:rPr>
              <a:t>、轻量化编码器解码器主路设计、推理可拆卸的外挂模块设计）</a:t>
            </a:r>
            <a:endParaRPr lang="zh-CN" altLang="en-US" b="0" dirty="0">
              <a:effectLst/>
              <a:latin typeface="Consolas" panose="020B0609020204030204" pitchFamily="49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zh-CN" b="0" dirty="0"/>
              <a:t>（TIP2023）LSNet：Lightweight Spatial Boosting Network for Detecting Salient Objects in RGB-Thermal Images</a:t>
            </a:r>
            <a:endParaRPr lang="en-US" altLang="zh-CN" b="0" dirty="0"/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zh-CN" b="0" dirty="0"/>
              <a:t>（</a:t>
            </a:r>
            <a:r>
              <a:rPr lang="en-US" altLang="zh-CN" b="0" dirty="0"/>
              <a:t>CVPR</a:t>
            </a:r>
            <a:r>
              <a:rPr lang="zh-CN" altLang="zh-CN" b="0" dirty="0"/>
              <a:t>202</a:t>
            </a:r>
            <a:r>
              <a:rPr lang="en-US" altLang="zh-CN" b="0" dirty="0"/>
              <a:t>4</a:t>
            </a:r>
            <a:r>
              <a:rPr lang="zh-CN" altLang="zh-CN" b="0" dirty="0"/>
              <a:t>） </a:t>
            </a:r>
            <a:r>
              <a:rPr lang="fr-FR" altLang="zh-CN" b="0" dirty="0"/>
              <a:t>Rep ViT: revisiting mobile CNN from ViT perspective</a:t>
            </a:r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b="0" dirty="0"/>
              <a:t>（</a:t>
            </a:r>
            <a:r>
              <a:rPr lang="en-US" altLang="zh-CN" b="0" dirty="0"/>
              <a:t>AAAI 2026</a:t>
            </a:r>
            <a:r>
              <a:rPr lang="zh-CN" altLang="en-US" b="0" dirty="0"/>
              <a:t>）</a:t>
            </a:r>
            <a:r>
              <a:rPr lang="en-US" altLang="zh-CN" b="0" dirty="0" err="1"/>
              <a:t>LWGANet</a:t>
            </a:r>
            <a:r>
              <a:rPr lang="en-US" altLang="zh-CN" b="0" dirty="0"/>
              <a:t>: Addressing spatial and channel redundancy in remote sensing visual tasks with light-weight grouped attention</a:t>
            </a:r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832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LSNet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FD05AE-D273-EDDD-444F-4413FC1BD6BD}"/>
              </a:ext>
            </a:extLst>
          </p:cNvPr>
          <p:cNvSpPr txBox="1"/>
          <p:nvPr/>
        </p:nvSpPr>
        <p:spPr>
          <a:xfrm>
            <a:off x="384170" y="690890"/>
            <a:ext cx="11416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0">
                <a:effectLst/>
                <a:latin typeface="-apple-system"/>
              </a:defRPr>
            </a:lvl1pPr>
          </a:lstStyle>
          <a:p>
            <a:r>
              <a:rPr lang="zh-CN" altLang="en-US" dirty="0"/>
              <a:t>创新点：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在极轻量的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双 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MobileNetV2 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编码器 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+ 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逐层逐元素相加融合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的架构上，引入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注意力特征蒸馏（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AFD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，含语义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/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空间两级）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作为训练的外挂模块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让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RGB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和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T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两支特征在训练时互相模仿对齐、增强跨模态互补表达，和</a:t>
            </a:r>
            <a:r>
              <a:rPr lang="en-US" altLang="zh-CN" b="1" i="0" dirty="0">
                <a:solidFill>
                  <a:srgbClr val="3B3B3B"/>
                </a:solidFill>
                <a:effectLst/>
                <a:latin typeface="-apple-system"/>
              </a:rPr>
              <a:t>BBA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（边界监督）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也是外挂模块 </a:t>
            </a:r>
            <a:r>
              <a:rPr lang="zh-CN" altLang="en-US" b="1" i="0" dirty="0">
                <a:solidFill>
                  <a:srgbClr val="3B3B3B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同时用深度可分离空洞卷积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+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轻量上采样解码器保持推理时的极小参数量，从而在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RGB-T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显著性检测上以轻量代价实现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SOTA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精度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25E1E3-2A7C-43CA-4B9A-4A7122D0F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00" y="1832001"/>
            <a:ext cx="7824217" cy="304437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A008AE1-AAD3-8153-0A41-B91E5E669D0B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1400" dirty="0">
                <a:solidFill>
                  <a:schemeClr val="bg2">
                    <a:lumMod val="50000"/>
                  </a:schemeClr>
                </a:solidFill>
              </a:rPr>
              <a:t>Zhou W, Zhu Y, Lei J, et al. LSNet: Lightweight spatial boosting network for detecting salient objects in RGB-thermal images[J]. IEEE Transactions on Image Processing, 2023, 32: 1329-1340.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19AFD49-3BCB-503E-0335-13A372EB3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90495"/>
              </p:ext>
            </p:extLst>
          </p:nvPr>
        </p:nvGraphicFramePr>
        <p:xfrm>
          <a:off x="1972327" y="5185208"/>
          <a:ext cx="4204804" cy="773964"/>
        </p:xfrm>
        <a:graphic>
          <a:graphicData uri="http://schemas.openxmlformats.org/drawingml/2006/table">
            <a:tbl>
              <a:tblPr/>
              <a:tblGrid>
                <a:gridCol w="1051201">
                  <a:extLst>
                    <a:ext uri="{9D8B030D-6E8A-4147-A177-3AD203B41FA5}">
                      <a16:colId xmlns:a16="http://schemas.microsoft.com/office/drawing/2014/main" val="1086345026"/>
                    </a:ext>
                  </a:extLst>
                </a:gridCol>
                <a:gridCol w="1051201">
                  <a:extLst>
                    <a:ext uri="{9D8B030D-6E8A-4147-A177-3AD203B41FA5}">
                      <a16:colId xmlns:a16="http://schemas.microsoft.com/office/drawing/2014/main" val="2227355681"/>
                    </a:ext>
                  </a:extLst>
                </a:gridCol>
                <a:gridCol w="1051201">
                  <a:extLst>
                    <a:ext uri="{9D8B030D-6E8A-4147-A177-3AD203B41FA5}">
                      <a16:colId xmlns:a16="http://schemas.microsoft.com/office/drawing/2014/main" val="1304997452"/>
                    </a:ext>
                  </a:extLst>
                </a:gridCol>
                <a:gridCol w="1051201">
                  <a:extLst>
                    <a:ext uri="{9D8B030D-6E8A-4147-A177-3AD203B41FA5}">
                      <a16:colId xmlns:a16="http://schemas.microsoft.com/office/drawing/2014/main" val="1176277700"/>
                    </a:ext>
                  </a:extLst>
                </a:gridCol>
              </a:tblGrid>
              <a:tr h="320086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200" b="1">
                          <a:effectLst/>
                        </a:rPr>
                        <a:t>Model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200" b="1">
                          <a:effectLst/>
                        </a:rPr>
                        <a:t>Backbone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200" b="1" dirty="0">
                          <a:effectLst/>
                        </a:rPr>
                        <a:t>Params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200" b="1" dirty="0">
                          <a:effectLst/>
                        </a:rPr>
                        <a:t>FLOPs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76515"/>
                  </a:ext>
                </a:extLst>
              </a:tr>
              <a:tr h="320086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200" b="1">
                          <a:effectLst/>
                        </a:rPr>
                        <a:t>LSNet</a:t>
                      </a:r>
                      <a:r>
                        <a:rPr lang="fr-FR" sz="1200">
                          <a:effectLst/>
                        </a:rPr>
                        <a:t>​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fr-FR" sz="1200">
                          <a:effectLst/>
                        </a:rPr>
                        <a:t>MobileNetV2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200" dirty="0">
                          <a:effectLst/>
                        </a:rPr>
                        <a:t>5.52M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fr-FR" sz="1200" dirty="0">
                          <a:effectLst/>
                        </a:rPr>
                        <a:t>1.61G</a:t>
                      </a:r>
                    </a:p>
                  </a:txBody>
                  <a:tcPr marR="122463" marT="102051" marB="102051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33957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35D1905-F7CD-5422-005B-A5C944BE9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669535"/>
              </p:ext>
            </p:extLst>
          </p:nvPr>
        </p:nvGraphicFramePr>
        <p:xfrm>
          <a:off x="6186000" y="4938401"/>
          <a:ext cx="4204802" cy="10083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0000">
                  <a:extLst>
                    <a:ext uri="{9D8B030D-6E8A-4147-A177-3AD203B41FA5}">
                      <a16:colId xmlns:a16="http://schemas.microsoft.com/office/drawing/2014/main" val="4029874946"/>
                    </a:ext>
                  </a:extLst>
                </a:gridCol>
                <a:gridCol w="571372">
                  <a:extLst>
                    <a:ext uri="{9D8B030D-6E8A-4147-A177-3AD203B41FA5}">
                      <a16:colId xmlns:a16="http://schemas.microsoft.com/office/drawing/2014/main" val="2654261793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1281561913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1274150330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4045805498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3370921018"/>
                    </a:ext>
                  </a:extLst>
                </a:gridCol>
                <a:gridCol w="600686">
                  <a:extLst>
                    <a:ext uri="{9D8B030D-6E8A-4147-A177-3AD203B41FA5}">
                      <a16:colId xmlns:a16="http://schemas.microsoft.com/office/drawing/2014/main" val="1355853978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 dirty="0">
                          <a:effectLst/>
                        </a:rPr>
                        <a:t>Recall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Precision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 dirty="0">
                          <a:effectLst/>
                        </a:rPr>
                        <a:t>OA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F1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IoU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 dirty="0">
                          <a:effectLst/>
                        </a:rPr>
                        <a:t>Kappa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5125970"/>
                  </a:ext>
                </a:extLst>
              </a:tr>
              <a:tr h="20923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LEVIR-CD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87.45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91.27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98.93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89.32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80.71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88.76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2974299"/>
                  </a:ext>
                </a:extLst>
              </a:tr>
              <a:tr h="2092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SYSU-CD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70.71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85.91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90.36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77.57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71.51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7278350"/>
                  </a:ext>
                </a:extLst>
              </a:tr>
              <a:tr h="2092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WHU-CD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91.29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93.08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92.18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85.49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91.86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7896070"/>
                  </a:ext>
                </a:extLst>
              </a:tr>
              <a:tr h="2092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CDD-CD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92.28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93.01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91.61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97521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LSNet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F6F10F-3DA8-DC1F-6963-2F887823900C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1400" dirty="0">
                <a:solidFill>
                  <a:schemeClr val="bg2">
                    <a:lumMod val="50000"/>
                  </a:schemeClr>
                </a:solidFill>
              </a:rPr>
              <a:t>Zhou W, Zhu Y, Lei J, et al. LSNet: Lightweight spatial boosting network for detecting salient objects in RGB-thermal images[J]. IEEE Transactions on Image Processing, 2023, 32: 1329-1340.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5D04CA-AA12-1D08-5AC1-16AD60B9A0F8}"/>
              </a:ext>
            </a:extLst>
          </p:cNvPr>
          <p:cNvSpPr txBox="1"/>
          <p:nvPr/>
        </p:nvSpPr>
        <p:spPr>
          <a:xfrm>
            <a:off x="291000" y="1269000"/>
            <a:ext cx="1179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但是我们不用</a:t>
            </a:r>
            <a:r>
              <a:rPr lang="en-US" altLang="zh-CN" dirty="0"/>
              <a:t>GTL &amp; STL / AFD (</a:t>
            </a:r>
            <a:r>
              <a:rPr lang="zh-CN" altLang="en-US" dirty="0"/>
              <a:t>跨模态迁移学习</a:t>
            </a:r>
            <a:r>
              <a:rPr lang="en-US" altLang="zh-CN" dirty="0"/>
              <a:t>) </a:t>
            </a:r>
            <a:r>
              <a:rPr lang="zh-CN" altLang="en-US" dirty="0"/>
              <a:t>和</a:t>
            </a:r>
            <a:r>
              <a:rPr lang="en-US" altLang="zh-CN" dirty="0"/>
              <a:t>BBA</a:t>
            </a:r>
            <a:r>
              <a:rPr lang="zh-CN" altLang="en-US" dirty="0"/>
              <a:t>这两个外挂模块原因：</a:t>
            </a:r>
            <a:endParaRPr lang="en-US" altLang="zh-CN" dirty="0"/>
          </a:p>
          <a:p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GTL </a:t>
            </a:r>
            <a:r>
              <a:rPr lang="zh-CN" altLang="en-US" dirty="0"/>
              <a:t>和 </a:t>
            </a:r>
            <a:r>
              <a:rPr lang="en-US" altLang="zh-CN" dirty="0"/>
              <a:t>STL</a:t>
            </a:r>
            <a:r>
              <a:rPr lang="zh-CN" altLang="en-US" dirty="0"/>
              <a:t>（</a:t>
            </a:r>
            <a:r>
              <a:rPr lang="en-US" altLang="zh-CN" dirty="0"/>
              <a:t>AFD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是在</a:t>
            </a:r>
            <a:r>
              <a:rPr lang="en-US" altLang="zh-CN" dirty="0"/>
              <a:t>RGB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分支间进行语义和几何信息的互相模仿，互相蒸馏，这个模块在我们的变化检测双分支）之间会抹杀掉我们需要的变化差异，弃用。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2.BBA</a:t>
            </a:r>
            <a:r>
              <a:rPr lang="zh-CN" altLang="en-US" dirty="0"/>
              <a:t>对于显著性目标边界有效，对于遥感化不规则变化区域只会引入大量噪声。并且其损失</a:t>
            </a:r>
            <a:r>
              <a:rPr lang="fr-FR" altLang="zh-CN" dirty="0"/>
              <a:t>kd_loss</a:t>
            </a:r>
            <a:r>
              <a:rPr lang="zh-CN" altLang="en-US" dirty="0"/>
              <a:t>，与变化检测模型存在逻辑和不匹配问题，弃用。变化检测的碎片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6141AD4-95A9-BB75-5542-26133B92B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761202"/>
              </p:ext>
            </p:extLst>
          </p:nvPr>
        </p:nvGraphicFramePr>
        <p:xfrm>
          <a:off x="232553" y="3479275"/>
          <a:ext cx="657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000">
                  <a:extLst>
                    <a:ext uri="{9D8B030D-6E8A-4147-A177-3AD203B41FA5}">
                      <a16:colId xmlns:a16="http://schemas.microsoft.com/office/drawing/2014/main" val="2112753995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352369451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965551655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933983698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3468407549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3316285885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实验批次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模块配置状态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CDD-CD-256 (F1)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LEVIR-CD-256 (F1)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SYSU-CD-256 (F1)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WHU-CD-256 (F1)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51009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fr-FR" sz="1200" b="1"/>
                        <a:t>Run2_05_Baseline</a:t>
                      </a:r>
                      <a:endParaRPr lang="fr-F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含 </a:t>
                      </a:r>
                      <a:r>
                        <a:rPr lang="en-US" altLang="zh-CN" sz="1200" dirty="0"/>
                        <a:t>AFD </a:t>
                      </a:r>
                      <a:r>
                        <a:rPr lang="zh-CN" altLang="en-US" sz="1200" dirty="0"/>
                        <a:t>跨模态特征蒸馏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92.62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89.33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77.82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92.42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887487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fr-FR" sz="1200" b="1"/>
                        <a:t>Run2_06_noAFD</a:t>
                      </a:r>
                      <a:endParaRPr lang="fr-F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移除 </a:t>
                      </a:r>
                      <a:r>
                        <a:rPr lang="fr-FR" sz="1200" b="1" dirty="0"/>
                        <a:t>AFD </a:t>
                      </a:r>
                      <a:r>
                        <a:rPr lang="zh-CN" altLang="en-US" sz="1200" b="1" dirty="0"/>
                        <a:t>蒸馏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93.27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89.07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b="1"/>
                        <a:t>78.96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93.71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86037"/>
                  </a:ext>
                </a:extLst>
              </a:tr>
            </a:tbl>
          </a:graphicData>
        </a:graphic>
      </p:graphicFrame>
      <p:pic>
        <p:nvPicPr>
          <p:cNvPr id="9" name="图片 8" descr="黑暗中的灯光&#10;&#10;描述已自动生成">
            <a:extLst>
              <a:ext uri="{FF2B5EF4-FFF2-40B4-BE49-F238E27FC236}">
                <a16:creationId xmlns:a16="http://schemas.microsoft.com/office/drawing/2014/main" id="{BCE134E5-9322-6150-743D-54AFA9D1C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046" y="3837820"/>
            <a:ext cx="1219200" cy="12192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B5DAAD8-CC9D-002A-5737-41D079AAD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587" y="3837820"/>
            <a:ext cx="1219200" cy="1219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CAEAFE5-238B-FE70-7C74-118C9D099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505" y="3837820"/>
            <a:ext cx="1219200" cy="1219200"/>
          </a:xfrm>
          <a:prstGeom prst="rect">
            <a:avLst/>
          </a:prstGeom>
        </p:spPr>
      </p:pic>
      <p:pic>
        <p:nvPicPr>
          <p:cNvPr id="18" name="图片 17" descr="男子的脸部特写与配字黑白照&#10;&#10;中度可信度描述已自动生成">
            <a:extLst>
              <a:ext uri="{FF2B5EF4-FFF2-40B4-BE49-F238E27FC236}">
                <a16:creationId xmlns:a16="http://schemas.microsoft.com/office/drawing/2014/main" id="{A3748684-7182-876F-6D7A-723CDB625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964" y="383782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248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b="1" dirty="0">
                <a:effectLst/>
              </a:rPr>
              <a:t>RepViT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F6F10F-3DA8-DC1F-6963-2F887823900C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1400" dirty="0">
                <a:solidFill>
                  <a:schemeClr val="bg2">
                    <a:lumMod val="50000"/>
                  </a:schemeClr>
                </a:solidFill>
              </a:rPr>
              <a:t>Wang A, Chen H, Lin Z, et al. Rep ViT: revisiting mobile CNN from ViT perspective[C]//2024 IEEE/CVF Conference on Computer Vision and Pattern Recognition (CVPR). IEEE, 2024: 15909-15920.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5D04CA-AA12-1D08-5AC1-16AD60B9A0F8}"/>
              </a:ext>
            </a:extLst>
          </p:cNvPr>
          <p:cNvSpPr txBox="1"/>
          <p:nvPr/>
        </p:nvSpPr>
        <p:spPr>
          <a:xfrm>
            <a:off x="312499" y="849921"/>
            <a:ext cx="1179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思考更换骨干网络：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1323B15-DE39-B019-A7F8-43760A607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172314"/>
              </p:ext>
            </p:extLst>
          </p:nvPr>
        </p:nvGraphicFramePr>
        <p:xfrm>
          <a:off x="393259" y="1750694"/>
          <a:ext cx="106650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5000">
                  <a:extLst>
                    <a:ext uri="{9D8B030D-6E8A-4147-A177-3AD203B41FA5}">
                      <a16:colId xmlns:a16="http://schemas.microsoft.com/office/drawing/2014/main" val="1048362607"/>
                    </a:ext>
                  </a:extLst>
                </a:gridCol>
                <a:gridCol w="7650000">
                  <a:extLst>
                    <a:ext uri="{9D8B030D-6E8A-4147-A177-3AD203B41FA5}">
                      <a16:colId xmlns:a16="http://schemas.microsoft.com/office/drawing/2014/main" val="3404008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理由：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说明：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882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0" dirty="0">
                          <a:effectLst/>
                        </a:rPr>
                        <a:t>ImageNet </a:t>
                      </a:r>
                      <a:r>
                        <a:rPr lang="zh-CN" altLang="en-US" b="0" dirty="0">
                          <a:effectLst/>
                        </a:rPr>
                        <a:t>精度更高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dirty="0">
                          <a:solidFill>
                            <a:srgbClr val="FF0000"/>
                          </a:solidFill>
                          <a:effectLst/>
                        </a:rPr>
                        <a:t>RepViT-M0.9</a:t>
                      </a:r>
                      <a:r>
                        <a:rPr lang="fr-FR" b="0" dirty="0">
                          <a:effectLst/>
                        </a:rPr>
                        <a:t> 80.0% vs </a:t>
                      </a:r>
                      <a:r>
                        <a:rPr lang="fr-FR" b="0" dirty="0">
                          <a:solidFill>
                            <a:srgbClr val="FF0000"/>
                          </a:solidFill>
                          <a:effectLst/>
                        </a:rPr>
                        <a:t>MobileNetV2 </a:t>
                      </a:r>
                      <a:r>
                        <a:rPr lang="fr-FR" b="0" dirty="0">
                          <a:effectLst/>
                        </a:rPr>
                        <a:t>71.9%，</a:t>
                      </a:r>
                      <a:r>
                        <a:rPr lang="zh-CN" altLang="en-US" b="0" dirty="0">
                          <a:effectLst/>
                        </a:rPr>
                        <a:t>高 </a:t>
                      </a:r>
                      <a:r>
                        <a:rPr lang="en-US" altLang="zh-CN" b="0" dirty="0">
                          <a:effectLst/>
                        </a:rPr>
                        <a:t>8.1%</a:t>
                      </a:r>
                      <a:endParaRPr lang="zh-CN" altLang="en-US" b="0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5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原生支持结构重参数化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 err="1">
                          <a:effectLst/>
                        </a:rPr>
                        <a:t>RepViT</a:t>
                      </a:r>
                      <a:r>
                        <a:rPr lang="en-US" altLang="zh-CN" b="0" dirty="0">
                          <a:effectLst/>
                        </a:rPr>
                        <a:t> </a:t>
                      </a:r>
                      <a:r>
                        <a:rPr lang="zh-CN" altLang="en-US" b="0" dirty="0">
                          <a:effectLst/>
                        </a:rPr>
                        <a:t>本身就是「训练多分支→部署折叠单路径」；</a:t>
                      </a:r>
                      <a:r>
                        <a:rPr lang="en-US" altLang="zh-CN" b="0" dirty="0">
                          <a:effectLst/>
                        </a:rPr>
                        <a:t>MBV2 </a:t>
                      </a:r>
                      <a:r>
                        <a:rPr lang="zh-CN" altLang="en-US" b="0" dirty="0">
                          <a:effectLst/>
                        </a:rPr>
                        <a:t>不支持重参数化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13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轻量约束内精度最优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0" dirty="0">
                          <a:effectLst/>
                        </a:rPr>
                        <a:t>≤6M </a:t>
                      </a:r>
                      <a:r>
                        <a:rPr lang="zh-CN" altLang="en-US" b="0" dirty="0">
                          <a:effectLst/>
                        </a:rPr>
                        <a:t>参数下 </a:t>
                      </a:r>
                      <a:r>
                        <a:rPr lang="fr-FR" b="0" dirty="0">
                          <a:effectLst/>
                        </a:rPr>
                        <a:t>ImageNet </a:t>
                      </a:r>
                      <a:r>
                        <a:rPr lang="zh-CN" altLang="en-US" b="0" dirty="0">
                          <a:effectLst/>
                        </a:rPr>
                        <a:t>最高的 </a:t>
                      </a:r>
                      <a:r>
                        <a:rPr lang="fr-FR" b="0" dirty="0">
                          <a:effectLst/>
                        </a:rPr>
                        <a:t>CNN </a:t>
                      </a:r>
                      <a:r>
                        <a:rPr lang="zh-CN" altLang="en-US" b="0" dirty="0">
                          <a:effectLst/>
                        </a:rPr>
                        <a:t>之一，共享权重后 </a:t>
                      </a:r>
                      <a:r>
                        <a:rPr lang="fr-FR" b="0" dirty="0">
                          <a:effectLst/>
                        </a:rPr>
                        <a:t>backbone 4.57M，</a:t>
                      </a:r>
                      <a:r>
                        <a:rPr lang="zh-CN" altLang="en-US" b="0" dirty="0">
                          <a:effectLst/>
                        </a:rPr>
                        <a:t>达标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082463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4D3D8B10-5F80-DB4B-4CB2-45D1D82C9815}"/>
              </a:ext>
            </a:extLst>
          </p:cNvPr>
          <p:cNvSpPr txBox="1"/>
          <p:nvPr/>
        </p:nvSpPr>
        <p:spPr>
          <a:xfrm>
            <a:off x="312499" y="3464483"/>
            <a:ext cx="717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/>
              </a:rPr>
              <a:t>但是经过实验发现</a:t>
            </a:r>
            <a:r>
              <a:rPr lang="fr-FR" altLang="zh-CN" dirty="0">
                <a:effectLst/>
              </a:rPr>
              <a:t>RepViT</a:t>
            </a:r>
            <a:r>
              <a:rPr lang="zh-CN" altLang="en-US" dirty="0">
                <a:effectLst/>
              </a:rPr>
              <a:t>只在变化检测的简单数据集上更有效：</a:t>
            </a:r>
            <a:endParaRPr lang="zh-CN" altLang="en-US" dirty="0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57D431BC-ED8F-E0C4-373F-A3714F74D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793318"/>
              </p:ext>
            </p:extLst>
          </p:nvPr>
        </p:nvGraphicFramePr>
        <p:xfrm>
          <a:off x="596459" y="4086030"/>
          <a:ext cx="6165000" cy="163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00">
                  <a:extLst>
                    <a:ext uri="{9D8B030D-6E8A-4147-A177-3AD203B41FA5}">
                      <a16:colId xmlns:a16="http://schemas.microsoft.com/office/drawing/2014/main" val="500569378"/>
                    </a:ext>
                  </a:extLst>
                </a:gridCol>
                <a:gridCol w="2055000">
                  <a:extLst>
                    <a:ext uri="{9D8B030D-6E8A-4147-A177-3AD203B41FA5}">
                      <a16:colId xmlns:a16="http://schemas.microsoft.com/office/drawing/2014/main" val="3474649206"/>
                    </a:ext>
                  </a:extLst>
                </a:gridCol>
                <a:gridCol w="2055000">
                  <a:extLst>
                    <a:ext uri="{9D8B030D-6E8A-4147-A177-3AD203B41FA5}">
                      <a16:colId xmlns:a16="http://schemas.microsoft.com/office/drawing/2014/main" val="413806681"/>
                    </a:ext>
                  </a:extLst>
                </a:gridCol>
              </a:tblGrid>
              <a:tr h="46500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/>
                        </a:rPr>
                        <a:t>Backbone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/>
                        </a:rPr>
                        <a:t>LEVIR-CD-256 F1 (%)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SYSU</a:t>
                      </a:r>
                      <a:r>
                        <a:rPr lang="fr-FR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-CD-256 F1 (%)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816529302"/>
                  </a:ext>
                </a:extLst>
              </a:tr>
              <a:tr h="46500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effectLst/>
                        </a:rPr>
                        <a:t>MobileNetV2（</a:t>
                      </a:r>
                      <a:r>
                        <a:rPr lang="zh-CN" altLang="en-US">
                          <a:effectLst/>
                        </a:rPr>
                        <a:t>历史最佳 </a:t>
                      </a:r>
                      <a:r>
                        <a:rPr lang="fr-FR">
                          <a:effectLst/>
                        </a:rPr>
                        <a:t>v1-v3）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89.44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80.54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876499769"/>
                  </a:ext>
                </a:extLst>
              </a:tr>
              <a:tr h="46500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/>
                        </a:rPr>
                        <a:t>RepViT-M0.9（v5 E1）</a:t>
                      </a:r>
                      <a:endParaRPr lang="fr-FR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/>
                        </a:rPr>
                        <a:t>90.78</a:t>
                      </a:r>
                      <a:endParaRPr lang="zh-CN" altLang="en-US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79.64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473320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9639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LWGANet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F6F10F-3DA8-DC1F-6963-2F887823900C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5D04CA-AA12-1D08-5AC1-16AD60B9A0F8}"/>
              </a:ext>
            </a:extLst>
          </p:cNvPr>
          <p:cNvSpPr txBox="1"/>
          <p:nvPr/>
        </p:nvSpPr>
        <p:spPr>
          <a:xfrm>
            <a:off x="312499" y="849921"/>
            <a:ext cx="1179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思考更换骨干网络：</a:t>
            </a:r>
            <a:endParaRPr lang="en-US" altLang="zh-CN" dirty="0"/>
          </a:p>
          <a:p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dirty="0"/>
              <a:t>遥感专用，并作了</a:t>
            </a:r>
            <a:r>
              <a:rPr lang="en-US" altLang="zh-CN" dirty="0"/>
              <a:t>BCD</a:t>
            </a:r>
            <a:r>
              <a:rPr lang="zh-CN" altLang="en-US" dirty="0"/>
              <a:t>专用设计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 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1.92M</a:t>
            </a:r>
          </a:p>
          <a:p>
            <a:r>
              <a:rPr lang="en-US" altLang="zh-CN" dirty="0">
                <a:solidFill>
                  <a:srgbClr val="3B3B3B"/>
                </a:solidFill>
                <a:latin typeface="-apple-system"/>
              </a:rPr>
              <a:t>3.</a:t>
            </a:r>
            <a:r>
              <a:rPr lang="zh-CN" altLang="en-US" dirty="0">
                <a:solidFill>
                  <a:srgbClr val="3B3B3B"/>
                </a:solidFill>
                <a:latin typeface="-apple-system"/>
              </a:rPr>
              <a:t>特点：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将输入特征图按空间位置分成不重叠的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patch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，只选择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Top-K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个最显著的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patch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进行全局交互，其余背景区域不参与计算，大幅降低计算量，通过稀疏采样 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+ 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插值</a:t>
            </a:r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恒等映射恢复完整特征图，解决空间冗余。</a:t>
            </a:r>
            <a:b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</a:b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将通道分成 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4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组，</a:t>
            </a:r>
            <a:r>
              <a:rPr lang="en-US" altLang="zh-CN" dirty="0">
                <a:solidFill>
                  <a:srgbClr val="3B3B3B"/>
                </a:solidFill>
                <a:latin typeface="Consolas" panose="020B0609020204030204" pitchFamily="49" charset="0"/>
              </a:rPr>
              <a:t>3*3</a:t>
            </a:r>
            <a:r>
              <a:rPr lang="zh-CN" altLang="en-US" dirty="0">
                <a:solidFill>
                  <a:srgbClr val="3B3B3B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3B3B3B"/>
                </a:solidFill>
                <a:latin typeface="Consolas" panose="020B0609020204030204" pitchFamily="49" charset="0"/>
              </a:rPr>
              <a:t>5*5</a:t>
            </a:r>
            <a:r>
              <a:rPr lang="zh-CN" altLang="en-US" dirty="0">
                <a:solidFill>
                  <a:srgbClr val="3B3B3B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3B3B3B"/>
                </a:solidFill>
                <a:latin typeface="Consolas" panose="020B0609020204030204" pitchFamily="49" charset="0"/>
              </a:rPr>
              <a:t>7*7</a:t>
            </a:r>
            <a:r>
              <a:rPr lang="zh-CN" altLang="en-US" dirty="0">
                <a:solidFill>
                  <a:srgbClr val="3B3B3B"/>
                </a:solidFill>
                <a:latin typeface="Consolas" panose="020B0609020204030204" pitchFamily="49" charset="0"/>
              </a:rPr>
              <a:t>卷积和</a:t>
            </a:r>
            <a:r>
              <a:rPr lang="en-US" altLang="zh-CN" dirty="0">
                <a:solidFill>
                  <a:srgbClr val="3B3B3B"/>
                </a:solidFill>
                <a:latin typeface="Consolas" panose="020B0609020204030204" pitchFamily="49" charset="0"/>
              </a:rPr>
              <a:t>identity</a:t>
            </a:r>
            <a:r>
              <a:rPr lang="zh-CN" altLang="en-US" dirty="0">
                <a:solidFill>
                  <a:srgbClr val="3B3B3B"/>
                </a:solidFill>
                <a:latin typeface="Consolas" panose="020B0609020204030204" pitchFamily="49" charset="0"/>
              </a:rPr>
              <a:t>，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实现多尺度特征并行提取，避免特征干扰，</a:t>
            </a:r>
            <a:r>
              <a:rPr lang="zh-CN" altLang="en-US" dirty="0">
                <a:solidFill>
                  <a:srgbClr val="3B3B3B"/>
                </a:solidFill>
                <a:latin typeface="-apple-system"/>
              </a:rPr>
              <a:t>解决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通道冗余。</a:t>
            </a:r>
            <a:endParaRPr lang="en-US" altLang="zh-CN" b="0" i="0" dirty="0">
              <a:solidFill>
                <a:srgbClr val="3B3B3B"/>
              </a:solidFill>
              <a:effectLst/>
              <a:latin typeface="-apple-system"/>
            </a:endParaRPr>
          </a:p>
          <a:p>
            <a:pPr algn="l"/>
            <a:r>
              <a:rPr lang="en-US" altLang="zh-CN" b="0" i="0" dirty="0">
                <a:solidFill>
                  <a:srgbClr val="3B3B3B"/>
                </a:solidFill>
                <a:effectLst/>
                <a:latin typeface="-apple-system"/>
              </a:rPr>
              <a:t>4.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论文在</a:t>
            </a:r>
            <a:r>
              <a:rPr lang="fr-FR" altLang="zh-CN" b="0" i="0" dirty="0">
                <a:solidFill>
                  <a:srgbClr val="3B3B3B"/>
                </a:solidFill>
                <a:effectLst/>
                <a:latin typeface="-apple-system"/>
              </a:rPr>
              <a:t>A2Net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（无</a:t>
            </a:r>
            <a:r>
              <a:rPr lang="en-US" altLang="zh-CN" dirty="0">
                <a:solidFill>
                  <a:srgbClr val="3B3B3B"/>
                </a:solidFill>
                <a:latin typeface="-apple-system"/>
              </a:rPr>
              <a:t>mmcv</a:t>
            </a:r>
            <a:r>
              <a:rPr lang="zh-CN" altLang="en-US" b="0" i="0" dirty="0">
                <a:solidFill>
                  <a:srgbClr val="3B3B3B"/>
                </a:solidFill>
                <a:effectLst/>
                <a:latin typeface="-apple-system"/>
              </a:rPr>
              <a:t>）</a:t>
            </a:r>
            <a:r>
              <a:rPr lang="zh-CN" altLang="en-US" dirty="0">
                <a:solidFill>
                  <a:srgbClr val="3B3B3B"/>
                </a:solidFill>
                <a:latin typeface="-apple-system"/>
              </a:rPr>
              <a:t>和</a:t>
            </a:r>
            <a:r>
              <a:rPr lang="fr-FR" altLang="zh-CN" i="0" dirty="0">
                <a:solidFill>
                  <a:srgbClr val="3B3B3B"/>
                </a:solidFill>
                <a:effectLst/>
                <a:latin typeface="-apple-system"/>
              </a:rPr>
              <a:t>CLAFA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 （有</a:t>
            </a:r>
            <a:r>
              <a:rPr lang="en-US" altLang="zh-CN" dirty="0">
                <a:solidFill>
                  <a:srgbClr val="3B3B3B"/>
                </a:solidFill>
                <a:latin typeface="-apple-system"/>
              </a:rPr>
              <a:t>mmcv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）这两个简单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BCD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框架下对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4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个数据集做了实验，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LEVIR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、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WHU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、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SYSU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上接近</a:t>
            </a:r>
            <a:r>
              <a:rPr lang="en-US" altLang="zh-CN" i="0" dirty="0" err="1">
                <a:solidFill>
                  <a:srgbClr val="3B3B3B"/>
                </a:solidFill>
                <a:effectLst/>
                <a:latin typeface="-apple-system"/>
              </a:rPr>
              <a:t>sota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，说明在复杂遥感</a:t>
            </a:r>
            <a:r>
              <a:rPr lang="en-US" altLang="zh-CN" i="0" dirty="0">
                <a:solidFill>
                  <a:srgbClr val="3B3B3B"/>
                </a:solidFill>
                <a:effectLst/>
                <a:latin typeface="-apple-system"/>
              </a:rPr>
              <a:t>BCD</a:t>
            </a:r>
            <a:r>
              <a:rPr lang="zh-CN" altLang="en-US" i="0" dirty="0">
                <a:solidFill>
                  <a:srgbClr val="3B3B3B"/>
                </a:solidFill>
                <a:effectLst/>
                <a:latin typeface="-apple-system"/>
              </a:rPr>
              <a:t>任务上有效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FFC381-4E4C-E987-520D-566258B76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429000"/>
            <a:ext cx="10070513" cy="27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10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时空重参数化思想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A5575B6-63E2-162E-AB90-900DE4B8485E}"/>
                  </a:ext>
                </a:extLst>
              </p:cNvPr>
              <p:cNvSpPr txBox="1"/>
              <p:nvPr/>
            </p:nvSpPr>
            <p:spPr>
              <a:xfrm>
                <a:off x="1956000" y="1359000"/>
                <a:ext cx="9090000" cy="990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altLang="zh-CN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fr-FR" altLang="zh-CN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𝐵𝑁</m:t>
                        </m:r>
                      </m:e>
                      <m:sub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∗ [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₁, 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₂])        </m:t>
                    </m:r>
                  </m:oMath>
                </a14:m>
                <a:r>
                  <a:rPr lang="fr-FR" altLang="zh-CN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 # </a:t>
                </a:r>
                <a:r>
                  <a:rPr lang="zh-CN" altLang="en-US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拼接分支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altLang="zh-CN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𝐵𝑁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∗ (</m:t>
                    </m:r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₁ + </m:t>
                    </m:r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₂))       </m:t>
                    </m:r>
                  </m:oMath>
                </a14:m>
                <a:r>
                  <a:rPr lang="fr-FR" altLang="zh-CN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# </a:t>
                </a:r>
                <a:r>
                  <a:rPr lang="zh-CN" altLang="en-US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求和分支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solidFill>
                          <a:srgbClr val="3B3B3B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s-E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𝐵𝑁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∗ (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₂ − 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altLang="zh-CN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₁))</m:t>
                    </m:r>
                  </m:oMath>
                </a14:m>
                <a:r>
                  <a:rPr lang="fr-FR" altLang="zh-CN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  # </a:t>
                </a:r>
                <a:r>
                  <a:rPr lang="zh-CN" altLang="en-US" b="0" dirty="0">
                    <a:solidFill>
                      <a:srgbClr val="3B3B3B"/>
                    </a:solidFill>
                    <a:effectLst/>
                    <a:latin typeface="Consolas" panose="020B0609020204030204" pitchFamily="49" charset="0"/>
                  </a:rPr>
                  <a:t>差分分支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A5575B6-63E2-162E-AB90-900DE4B84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000" y="1359000"/>
                <a:ext cx="9090000" cy="990912"/>
              </a:xfrm>
              <a:prstGeom prst="rect">
                <a:avLst/>
              </a:prstGeom>
              <a:blipFill>
                <a:blip r:embed="rId3"/>
                <a:stretch>
                  <a:fillRect t="-2469" b="-9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4FAFF910-AF06-B8FA-67D5-8B923BAEA9E9}"/>
              </a:ext>
            </a:extLst>
          </p:cNvPr>
          <p:cNvSpPr txBox="1"/>
          <p:nvPr/>
        </p:nvSpPr>
        <p:spPr>
          <a:xfrm>
            <a:off x="1814118" y="989668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时相结构重参数化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332EA826-68B8-F84C-121E-2D9A1C7FAB36}"/>
              </a:ext>
            </a:extLst>
          </p:cNvPr>
          <p:cNvSpPr/>
          <p:nvPr/>
        </p:nvSpPr>
        <p:spPr>
          <a:xfrm>
            <a:off x="6366000" y="1494000"/>
            <a:ext cx="180000" cy="765000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87FEA8-A8FD-03E8-C12A-AE62D5890362}"/>
              </a:ext>
            </a:extLst>
          </p:cNvPr>
          <p:cNvSpPr txBox="1"/>
          <p:nvPr/>
        </p:nvSpPr>
        <p:spPr>
          <a:xfrm>
            <a:off x="1731000" y="2490450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空间异构结构重参数化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15D2977-EBF9-68A7-74FA-21BB4AA8E34B}"/>
                  </a:ext>
                </a:extLst>
              </p:cNvPr>
              <p:cNvSpPr txBox="1"/>
              <p:nvPr/>
            </p:nvSpPr>
            <p:spPr>
              <a:xfrm>
                <a:off x="1666898" y="3003143"/>
                <a:ext cx="3998329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×5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×3(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×3,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×5(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𝐷𝑊𝐶𝑜𝑛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×1(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𝐵𝑁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15D2977-EBF9-68A7-74FA-21BB4AA8E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98" y="3003143"/>
                <a:ext cx="3998329" cy="1754326"/>
              </a:xfrm>
              <a:prstGeom prst="rect">
                <a:avLst/>
              </a:prstGeom>
              <a:blipFill>
                <a:blip r:embed="rId4"/>
                <a:stretch>
                  <a:fillRect b="-2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">
            <a:extLst>
              <a:ext uri="{FF2B5EF4-FFF2-40B4-BE49-F238E27FC236}">
                <a16:creationId xmlns:a16="http://schemas.microsoft.com/office/drawing/2014/main" id="{E7E2927C-1B47-831D-8AE2-9E1C12847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227" y="2984276"/>
            <a:ext cx="2923892" cy="204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较大范围上下文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局部细节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稀疏大感受野（空洞）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水平狭长边缘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垂直狭长边缘 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恒等分支（保持原始信息）</a:t>
            </a:r>
          </a:p>
          <a:p>
            <a:pPr marL="0" marR="0" lvl="0" indent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A99F521-E00D-E28A-7205-EF092F1931BF}"/>
                  </a:ext>
                </a:extLst>
              </p:cNvPr>
              <p:cNvSpPr txBox="1"/>
              <p:nvPr/>
            </p:nvSpPr>
            <p:spPr>
              <a:xfrm>
                <a:off x="1714966" y="5559393"/>
                <a:ext cx="61476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altLang="zh-CN" b="0" i="1" dirty="0" smtClean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₁, 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₂] → </m:t>
                      </m:r>
                      <m:sSub>
                        <m:sSubPr>
                          <m:ctrlPr>
                            <a:rPr lang="fr-FR" altLang="zh-CN" b="0" i="1" dirty="0" smtClean="0">
                              <a:solidFill>
                                <a:srgbClr val="3B3B3B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𝐶𝑜𝑛𝑣</m:t>
                          </m:r>
                        </m:e>
                        <m:sub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1×1</m:t>
                          </m:r>
                        </m:sub>
                      </m:sSub>
                      <m:r>
                        <a:rPr lang="fr-FR" altLang="zh-CN" b="0" i="1" dirty="0" smtClean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𝐷𝑊</m:t>
                      </m:r>
                      <m:sSub>
                        <m:sSubPr>
                          <m:ctrlP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𝐶𝑜𝑛𝑣</m:t>
                          </m:r>
                        </m:e>
                        <m:sub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5×5</m:t>
                          </m:r>
                        </m:sub>
                      </m:sSub>
                      <m:r>
                        <a:rPr lang="fr-FR" altLang="zh-CN" b="0" i="1" dirty="0">
                          <a:solidFill>
                            <a:srgbClr val="3B3B3B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𝐶𝑜𝑛𝑣</m:t>
                          </m:r>
                        </m:e>
                        <m:sub>
                          <m:r>
                            <a:rPr lang="fr-FR" altLang="zh-CN" i="1" dirty="0">
                              <a:solidFill>
                                <a:srgbClr val="3B3B3B"/>
                              </a:solidFill>
                              <a:latin typeface="Cambria Math" panose="02040503050406030204" pitchFamily="18" charset="0"/>
                            </a:rPr>
                            <m:t>1×1</m:t>
                          </m:r>
                        </m:sub>
                      </m:sSub>
                    </m:oMath>
                  </m:oMathPara>
                </a14:m>
                <a:endParaRPr lang="fr-FR" altLang="zh-CN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A99F521-E00D-E28A-7205-EF092F193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966" y="5559393"/>
                <a:ext cx="6147685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899ACE4D-E9E1-086E-9E57-66C20F62F04E}"/>
              </a:ext>
            </a:extLst>
          </p:cNvPr>
          <p:cNvSpPr txBox="1"/>
          <p:nvPr/>
        </p:nvSpPr>
        <p:spPr>
          <a:xfrm>
            <a:off x="1731000" y="5154327"/>
            <a:ext cx="611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推理等价：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7025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AE501E6-46CC-9B88-7FA3-7DA5D11C1706}"/>
              </a:ext>
            </a:extLst>
          </p:cNvPr>
          <p:cNvSpPr/>
          <p:nvPr/>
        </p:nvSpPr>
        <p:spPr>
          <a:xfrm>
            <a:off x="162427" y="2895466"/>
            <a:ext cx="4178573" cy="26935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AFD</a:t>
            </a:r>
            <a:r>
              <a:rPr lang="zh-CN" altLang="en-US" dirty="0"/>
              <a:t>模块详解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50941C-4A36-B13B-C4FA-83C104BB2980}"/>
              </a:ext>
            </a:extLst>
          </p:cNvPr>
          <p:cNvSpPr txBox="1"/>
          <p:nvPr/>
        </p:nvSpPr>
        <p:spPr>
          <a:xfrm>
            <a:off x="741000" y="819000"/>
            <a:ext cx="10305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①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双分支每层输入 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</a:t>
            </a: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② </a:t>
            </a:r>
            <a:r>
              <a:rPr lang="zh-CN" altLang="en-US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没有输出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只返回 </a:t>
            </a:r>
            <a:r>
              <a:rPr lang="en-US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loss`</a:t>
            </a:r>
            <a:r>
              <a:rPr lang="zh-CN" altLang="fr-F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，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不修改特征 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③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仅训练时增强 </a:t>
            </a:r>
            <a:r>
              <a:rPr lang="en-US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if self.training:`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④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拆除不影响推理 </a:t>
            </a:r>
            <a:r>
              <a:rPr lang="en-US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model.eval()`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→ 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跳过 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⑤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零推理成本 推理时 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完全不参与 </a:t>
            </a:r>
            <a:b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是通过损失函数的梯度来训练编码器，不是在特征上做前向变换。训练时用损失约束增强编码器，推理时拆掉无损。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6DEC42-8C02-1283-618A-BAFBE572A2D4}"/>
              </a:ext>
            </a:extLst>
          </p:cNvPr>
          <p:cNvSpPr/>
          <p:nvPr/>
        </p:nvSpPr>
        <p:spPr>
          <a:xfrm>
            <a:off x="1236000" y="3121057"/>
            <a:ext cx="855000" cy="307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降维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294896-1824-DC80-DCD2-3A8010BC87AE}"/>
              </a:ext>
            </a:extLst>
          </p:cNvPr>
          <p:cNvSpPr/>
          <p:nvPr/>
        </p:nvSpPr>
        <p:spPr>
          <a:xfrm>
            <a:off x="1236000" y="3652138"/>
            <a:ext cx="855000" cy="307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升维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8964EC-9161-3C21-7BFE-FFC476304FE2}"/>
              </a:ext>
            </a:extLst>
          </p:cNvPr>
          <p:cNvSpPr txBox="1"/>
          <p:nvPr/>
        </p:nvSpPr>
        <p:spPr>
          <a:xfrm>
            <a:off x="1663500" y="3861711"/>
            <a:ext cx="1317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attention_map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12FC78-B7D1-ED45-FD7A-7B3D16D40133}"/>
              </a:ext>
            </a:extLst>
          </p:cNvPr>
          <p:cNvSpPr txBox="1"/>
          <p:nvPr/>
        </p:nvSpPr>
        <p:spPr>
          <a:xfrm>
            <a:off x="1056000" y="4058450"/>
            <a:ext cx="7263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Sigmoid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18715FB-AA9A-EFCC-A072-808B2F40F9F3}"/>
                  </a:ext>
                </a:extLst>
              </p:cNvPr>
              <p:cNvSpPr/>
              <p:nvPr/>
            </p:nvSpPr>
            <p:spPr>
              <a:xfrm>
                <a:off x="196476" y="4673016"/>
                <a:ext cx="1052504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_teacher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18715FB-AA9A-EFCC-A072-808B2F40F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76" y="4673016"/>
                <a:ext cx="1052504" cy="261610"/>
              </a:xfrm>
              <a:prstGeom prst="rect">
                <a:avLst/>
              </a:prstGeom>
              <a:blipFill>
                <a:blip r:embed="rId3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0DC9832-EAC8-404B-AAA2-2B1922F5A849}"/>
                  </a:ext>
                </a:extLst>
              </p:cNvPr>
              <p:cNvSpPr/>
              <p:nvPr/>
            </p:nvSpPr>
            <p:spPr>
              <a:xfrm>
                <a:off x="1326000" y="4673016"/>
                <a:ext cx="1336252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0DC9832-EAC8-404B-AAA2-2B1922F5A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000" y="4673016"/>
                <a:ext cx="1336252" cy="261610"/>
              </a:xfrm>
              <a:prstGeom prst="rect">
                <a:avLst/>
              </a:prstGeom>
              <a:blipFill>
                <a:blip r:embed="rId4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819293-1CB7-70AD-6A01-FFBEA129A4B3}"/>
                  </a:ext>
                </a:extLst>
              </p:cNvPr>
              <p:cNvSpPr/>
              <p:nvPr/>
            </p:nvSpPr>
            <p:spPr>
              <a:xfrm>
                <a:off x="2739272" y="4673016"/>
                <a:ext cx="1466728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_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teacher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819293-1CB7-70AD-6A01-FFBEA129A4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272" y="4673016"/>
                <a:ext cx="1466728" cy="261610"/>
              </a:xfrm>
              <a:prstGeom prst="rect">
                <a:avLst/>
              </a:prstGeom>
              <a:blipFill>
                <a:blip r:embed="rId5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7DCB5F4-A2D7-BF57-2725-803CF36F90C2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1663500" y="3429000"/>
            <a:ext cx="0" cy="223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790DA9A1-59E8-0A0F-CD59-9325EA02B3D7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836647" y="3846162"/>
            <a:ext cx="712935" cy="940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D3901CFF-3196-EF00-C940-351D85315F5D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1472346" y="4151235"/>
            <a:ext cx="712935" cy="3306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C416DA52-D795-ABF8-0A97-30B6CEDF2A3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16200000" flipH="1">
            <a:off x="2211601" y="3411980"/>
            <a:ext cx="712935" cy="18091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301113A-808F-2376-9ADC-B5251BDD08F9}"/>
              </a:ext>
            </a:extLst>
          </p:cNvPr>
          <p:cNvSpPr txBox="1"/>
          <p:nvPr/>
        </p:nvSpPr>
        <p:spPr>
          <a:xfrm>
            <a:off x="1193114" y="5204096"/>
            <a:ext cx="940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loss_afd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3EAC2C-821A-3960-332A-16CC29C55CAF}"/>
              </a:ext>
            </a:extLst>
          </p:cNvPr>
          <p:cNvSpPr/>
          <p:nvPr/>
        </p:nvSpPr>
        <p:spPr>
          <a:xfrm>
            <a:off x="4512026" y="2895466"/>
            <a:ext cx="4178573" cy="26935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4614F0-E4DC-3F3A-A9A2-023FB58B4259}"/>
              </a:ext>
            </a:extLst>
          </p:cNvPr>
          <p:cNvSpPr/>
          <p:nvPr/>
        </p:nvSpPr>
        <p:spPr>
          <a:xfrm>
            <a:off x="5551550" y="3121057"/>
            <a:ext cx="855000" cy="307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空间注意力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9D9C6C2-49F6-F764-726F-57C11138573A}"/>
                  </a:ext>
                </a:extLst>
              </p:cNvPr>
              <p:cNvSpPr/>
              <p:nvPr/>
            </p:nvSpPr>
            <p:spPr>
              <a:xfrm>
                <a:off x="4512026" y="4673016"/>
                <a:ext cx="1052504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_teacher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9D9C6C2-49F6-F764-726F-57C111385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026" y="4673016"/>
                <a:ext cx="1052504" cy="261610"/>
              </a:xfrm>
              <a:prstGeom prst="rect">
                <a:avLst/>
              </a:prstGeom>
              <a:blipFill>
                <a:blip r:embed="rId3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74FD52C-3786-5F3E-55E5-9AB2BD154A31}"/>
                  </a:ext>
                </a:extLst>
              </p:cNvPr>
              <p:cNvSpPr/>
              <p:nvPr/>
            </p:nvSpPr>
            <p:spPr>
              <a:xfrm>
                <a:off x="5641550" y="4673016"/>
                <a:ext cx="1336252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74FD52C-3786-5F3E-55E5-9AB2BD154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550" y="4673016"/>
                <a:ext cx="1336252" cy="261610"/>
              </a:xfrm>
              <a:prstGeom prst="rect">
                <a:avLst/>
              </a:prstGeom>
              <a:blipFill>
                <a:blip r:embed="rId6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F16DCE8-FDFC-04D6-E365-15F83555D7D8}"/>
                  </a:ext>
                </a:extLst>
              </p:cNvPr>
              <p:cNvSpPr/>
              <p:nvPr/>
            </p:nvSpPr>
            <p:spPr>
              <a:xfrm>
                <a:off x="7054822" y="4673016"/>
                <a:ext cx="1466728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_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teacher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F16DCE8-FDFC-04D6-E365-15F83555D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822" y="4673016"/>
                <a:ext cx="1466728" cy="261610"/>
              </a:xfrm>
              <a:prstGeom prst="rect">
                <a:avLst/>
              </a:prstGeom>
              <a:blipFill>
                <a:blip r:embed="rId5"/>
                <a:stretch>
                  <a:fillRect t="-227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D6F04EE-8167-028E-B85A-982E1F0340A8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979050" y="3429000"/>
            <a:ext cx="0" cy="377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A8D731C4-B5A6-5C61-973D-B729CDD5CBAB}"/>
              </a:ext>
            </a:extLst>
          </p:cNvPr>
          <p:cNvCxnSpPr>
            <a:cxnSpLocks/>
            <a:endCxn id="32" idx="0"/>
          </p:cNvCxnSpPr>
          <p:nvPr/>
        </p:nvCxnSpPr>
        <p:spPr>
          <a:xfrm rot="5400000">
            <a:off x="5152197" y="3846162"/>
            <a:ext cx="712935" cy="940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8728D2DA-A006-5892-8B13-5D0D21A3C231}"/>
              </a:ext>
            </a:extLst>
          </p:cNvPr>
          <p:cNvCxnSpPr>
            <a:cxnSpLocks/>
            <a:endCxn id="33" idx="0"/>
          </p:cNvCxnSpPr>
          <p:nvPr/>
        </p:nvCxnSpPr>
        <p:spPr>
          <a:xfrm rot="16200000" flipH="1">
            <a:off x="5787896" y="4151235"/>
            <a:ext cx="712935" cy="3306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6D3B1FE1-EE89-B8F4-FB36-5AEC4E68AA10}"/>
              </a:ext>
            </a:extLst>
          </p:cNvPr>
          <p:cNvCxnSpPr>
            <a:cxnSpLocks/>
            <a:endCxn id="34" idx="0"/>
          </p:cNvCxnSpPr>
          <p:nvPr/>
        </p:nvCxnSpPr>
        <p:spPr>
          <a:xfrm rot="16200000" flipH="1">
            <a:off x="6527151" y="3411980"/>
            <a:ext cx="712935" cy="18091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F3B2578-8B84-B094-447E-6F208CA97F2E}"/>
              </a:ext>
            </a:extLst>
          </p:cNvPr>
          <p:cNvSpPr txBox="1"/>
          <p:nvPr/>
        </p:nvSpPr>
        <p:spPr>
          <a:xfrm>
            <a:off x="5625613" y="5204095"/>
            <a:ext cx="940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loss_afd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36B8CCD-CFCF-40AC-C51B-E84C777ECDDF}"/>
              </a:ext>
            </a:extLst>
          </p:cNvPr>
          <p:cNvSpPr txBox="1"/>
          <p:nvPr/>
        </p:nvSpPr>
        <p:spPr>
          <a:xfrm>
            <a:off x="5349920" y="3748294"/>
            <a:ext cx="8630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Sigmoid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1582C8D-28AF-EB43-5C1C-0C36CAA69B88}"/>
              </a:ext>
            </a:extLst>
          </p:cNvPr>
          <p:cNvSpPr txBox="1"/>
          <p:nvPr/>
        </p:nvSpPr>
        <p:spPr>
          <a:xfrm>
            <a:off x="5923011" y="3472141"/>
            <a:ext cx="105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spatial_map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09A9BAD-1D71-D528-B5AD-8226B05BF99A}"/>
              </a:ext>
            </a:extLst>
          </p:cNvPr>
          <p:cNvSpPr txBox="1"/>
          <p:nvPr/>
        </p:nvSpPr>
        <p:spPr>
          <a:xfrm>
            <a:off x="494750" y="5580812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AFD_semantic: </a:t>
            </a:r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语义注意力蒸馏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B9DA0C4-447A-3031-16B5-36D8E6C16803}"/>
              </a:ext>
            </a:extLst>
          </p:cNvPr>
          <p:cNvSpPr txBox="1"/>
          <p:nvPr/>
        </p:nvSpPr>
        <p:spPr>
          <a:xfrm>
            <a:off x="4903757" y="5580812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AFD_spatial: </a:t>
            </a:r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空间注意力蒸馏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C6F25356-A813-6245-DC93-FC205AA2D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844181"/>
              </p:ext>
            </p:extLst>
          </p:nvPr>
        </p:nvGraphicFramePr>
        <p:xfrm>
          <a:off x="8767619" y="3334908"/>
          <a:ext cx="3397146" cy="1915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713">
                  <a:extLst>
                    <a:ext uri="{9D8B030D-6E8A-4147-A177-3AD203B41FA5}">
                      <a16:colId xmlns:a16="http://schemas.microsoft.com/office/drawing/2014/main" val="3477755293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764496977"/>
                    </a:ext>
                  </a:extLst>
                </a:gridCol>
                <a:gridCol w="643432">
                  <a:extLst>
                    <a:ext uri="{9D8B030D-6E8A-4147-A177-3AD203B41FA5}">
                      <a16:colId xmlns:a16="http://schemas.microsoft.com/office/drawing/2014/main" val="2677633864"/>
                    </a:ext>
                  </a:extLst>
                </a:gridCol>
                <a:gridCol w="643432">
                  <a:extLst>
                    <a:ext uri="{9D8B030D-6E8A-4147-A177-3AD203B41FA5}">
                      <a16:colId xmlns:a16="http://schemas.microsoft.com/office/drawing/2014/main" val="2926150534"/>
                    </a:ext>
                  </a:extLst>
                </a:gridCol>
                <a:gridCol w="643432">
                  <a:extLst>
                    <a:ext uri="{9D8B030D-6E8A-4147-A177-3AD203B41FA5}">
                      <a16:colId xmlns:a16="http://schemas.microsoft.com/office/drawing/2014/main" val="682154280"/>
                    </a:ext>
                  </a:extLst>
                </a:gridCol>
              </a:tblGrid>
              <a:tr h="38867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effectLst/>
                        </a:rPr>
                        <a:t>数据集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effectLst/>
                        </a:rPr>
                        <a:t>Baseline F1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effectLst/>
                        </a:rPr>
                        <a:t>+AFD F1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effectLst/>
                        </a:rPr>
                        <a:t>Δ</a:t>
                      </a:r>
                      <a:r>
                        <a:rPr lang="fr-FR" sz="1050" dirty="0">
                          <a:effectLst/>
                        </a:rPr>
                        <a:t>F1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effectLst/>
                        </a:rPr>
                        <a:t>结论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22981789"/>
                  </a:ext>
                </a:extLst>
              </a:tr>
              <a:tr h="334786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LEVIR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89.08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90.59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effectLst/>
                        </a:rPr>
                        <a:t>+1.51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effectLst/>
                        </a:rPr>
                        <a:t>有效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294430663"/>
                  </a:ext>
                </a:extLst>
              </a:tr>
              <a:tr h="388673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SYSU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82.54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82.11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effectLst/>
                        </a:rPr>
                        <a:t>−</a:t>
                      </a:r>
                      <a:r>
                        <a:rPr lang="en-US" altLang="zh-CN" sz="1050" b="1">
                          <a:effectLst/>
                        </a:rPr>
                        <a:t>0.43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effectLst/>
                        </a:rPr>
                        <a:t>轻微有害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19239308"/>
                  </a:ext>
                </a:extLst>
              </a:tr>
              <a:tr h="388673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WHU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93.64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>
                          <a:effectLst/>
                        </a:rPr>
                        <a:t>90.37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effectLst/>
                        </a:rPr>
                        <a:t>−</a:t>
                      </a:r>
                      <a:r>
                        <a:rPr lang="en-US" altLang="zh-CN" sz="1050" b="1">
                          <a:effectLst/>
                        </a:rPr>
                        <a:t>3.27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effectLst/>
                        </a:rPr>
                        <a:t>明显有害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18652892"/>
                  </a:ext>
                </a:extLst>
              </a:tr>
              <a:tr h="334786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CDD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96.95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96.97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effectLst/>
                        </a:rPr>
                        <a:t>+0.02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 </a:t>
                      </a:r>
                      <a:r>
                        <a:rPr lang="zh-CN" altLang="en-US" sz="1050" dirty="0">
                          <a:effectLst/>
                        </a:rPr>
                        <a:t>无影响 </a:t>
                      </a:r>
                      <a:endParaRPr lang="en-US" altLang="zh-CN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191468244"/>
                  </a:ext>
                </a:extLst>
              </a:tr>
            </a:tbl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037F5623-606F-DDF0-BA33-5A3BAD9B5E7A}"/>
              </a:ext>
            </a:extLst>
          </p:cNvPr>
          <p:cNvSpPr txBox="1"/>
          <p:nvPr/>
        </p:nvSpPr>
        <p:spPr>
          <a:xfrm>
            <a:off x="8616123" y="3027131"/>
            <a:ext cx="341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测试</a:t>
            </a:r>
            <a:r>
              <a:rPr lang="en-US" altLang="zh-CN" sz="1400" dirty="0"/>
              <a:t>AFD</a:t>
            </a:r>
            <a:r>
              <a:rPr lang="zh-CN" altLang="en-US" sz="1400" dirty="0"/>
              <a:t>在</a:t>
            </a:r>
            <a:r>
              <a:rPr lang="en-US" altLang="zh-CN" sz="1400" dirty="0"/>
              <a:t>A2Net</a:t>
            </a:r>
            <a:r>
              <a:rPr lang="zh-CN" altLang="en-US" sz="1400" dirty="0"/>
              <a:t>（</a:t>
            </a:r>
            <a:r>
              <a:rPr lang="fr-FR" altLang="zh-CN" sz="1400" dirty="0"/>
              <a:t>LWGANet</a:t>
            </a:r>
            <a:r>
              <a:rPr lang="zh-CN" altLang="en-US" sz="1400" dirty="0"/>
              <a:t>骨干）有效性：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B894514-EC6F-3C1D-0E45-0A1D73101B7B}"/>
              </a:ext>
            </a:extLst>
          </p:cNvPr>
          <p:cNvSpPr txBox="1"/>
          <p:nvPr/>
        </p:nvSpPr>
        <p:spPr>
          <a:xfrm>
            <a:off x="8690599" y="5342594"/>
            <a:ext cx="3413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结论：外挂模块需要重新设计，因为它会把两个分支的特征拉近</a:t>
            </a:r>
            <a:r>
              <a:rPr lang="en-US" altLang="zh-CN" sz="1400" dirty="0"/>
              <a:t>/</a:t>
            </a:r>
            <a:r>
              <a:rPr lang="zh-CN" altLang="en-US" sz="1400" dirty="0"/>
              <a:t>对齐。</a:t>
            </a:r>
            <a:endParaRPr lang="en-US" altLang="zh-CN" sz="1400" dirty="0"/>
          </a:p>
          <a:p>
            <a:r>
              <a:rPr lang="zh-CN" altLang="en-US" sz="1400" dirty="0"/>
              <a:t>我们需要外挂模块加强编码器的差异保持或者</a:t>
            </a:r>
            <a:r>
              <a:rPr lang="zh-CN" altLang="en-US" sz="14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变化感知。</a:t>
            </a:r>
            <a:endParaRPr lang="zh-CN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2E08147-6174-38B1-1373-0D6187CAD91C}"/>
              </a:ext>
            </a:extLst>
          </p:cNvPr>
          <p:cNvSpPr txBox="1"/>
          <p:nvPr/>
        </p:nvSpPr>
        <p:spPr>
          <a:xfrm>
            <a:off x="145316" y="6288292"/>
            <a:ext cx="71206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0080"/>
                </a:solidFill>
                <a:latin typeface="Consolas" panose="020B0609020204030204" pitchFamily="49" charset="0"/>
              </a:rPr>
              <a:t>注：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LEVIR: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未变化区占绝对主导且高度相似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变化区与未变化区差异足够大，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SYSU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与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WHU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的未变化区伪变化局多</a:t>
            </a:r>
            <a:endParaRPr lang="zh-CN" alt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0993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172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gICAiSW1nU2V0dGluZ0pzb24iIDogIntcImRwaVwiOlwiNjAwXCIsXCJmb3JtYXRcIjpcIlBOR1wiLFwidHJhbnNwYXJlbnRcIjp0cnVlLFwiYXV0b1wiOmZhbHNlfSIsCiAgICJMYXRleCIgOiAiWEZzZ1RGOXJJRDFjWm5KaFkzc3hmWHN5ZlNoY2JXRjBhR05oYkh0SGZWOXJMVnh0WVhSb1ltWjdXWDBwWGpJdFhHeGhiV0prWVNBb1hHMWhkR2hqWVd4N1IzMWZheTFjZEdsc1pHVjdYRzFoZEdoallXeDdSMzE5S1Y0eUlGeGQiLAogICAiTGF0ZXhJbWdCYXNlNjQiIDogImlWQk9SdzBLR2dvQUFBQU5TVWhFVWdBQUJHVUFBQUNvQkFNQUFBQzcvVTRVQUFBQU1GQk1WRVgvLy84QUFBQUFBQUFBQUFBQUFBQUFBQUFBQUFBQUFBQUFBQUFBQUFBQUFBQUFBQUFBQUFBQUFBQUFBQUFBQUFBdjNhQjdBQUFBRDNSU1RsTUF6ZS9kdXpKMmlabXJWQkJFWmlMRFdYNWhBQUFBQ1hCSVdYTUFBQTdFQUFBT3hBR1ZLdzRiQUFBYnNrbEVRVlI0QWUxZGU0d2t4MW52dTMzZXp1N3MyZzRra1FOelhpQjJnbURPdmhnVTRtVFdnWDhnU0hNNEVuK1FQMmF4aEF4Q2FKYUFzSWtJY3dsR09QekJYQUpDdGlNeEl4NFNEeW03ZmlBclNHWkdRaUNDakdleEVsNVJOSnV6eE5QUjN1NmVpYytPWGZ5cXU2djZxK3AzVDgzMjlsNlhkRGYxK09wNzFWZjFmVlhWM1d0WnVhUUh2ajhYc2lYUjRtcGdtYjFlWE9aTHp2UFFRS1ZiMmt3ZWVpOHd6Y3FEckxTWkFvOWZEcXgvbzhsS204bEI3NFVsK2FlUE5tQXhwYzBVZGdCellMd0xlN256NjZYTjVLRDZ3cEw4OU1WM2ZNVTZVOXBNWVFjd0w4Wk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yTVNSdTdoVnZmMzNkNCt0SkpZODNscDdTWkV6WXd5M1hHanZxY3FTVjI2WVR4NXJKVDJzd0pHNWR0L2ttZ2d5RzQ2cDdVRHgwVzJXYisvbFoyOTYrZHNDR2ZsSjBseG02QjBWei9RdlZCdGh1R0xHZkJDMnd6TC9FWnllN2NDZE5zSWV1MzRaZVdhclprL3hjbVFONkNGOWRtWG1ZLzhPSXJ2OFRZbTJHcUxXTDlNdHNDMjBzTmJqUmh5MHp1Z2hmV1p1Yll2ZHdvMm94ZEthSnhoUEE4NDh3QWJqVDNoWURrTDNoaGJlYnFkZHNwelRGMkkwUzVSYXl1OWgydWwzLzFFMkhzNXk5NFlXMm10dVlvZFJTK2lJZHB2ZGoxK1F0ZVZKdFpZdll5WTFubkdIdWoyRWFRanZzVElIaFJiV2IyTlZmVlZjWkNOeGpwUnFNWTBDZEE4S0xheklEZDZZNXhqUjBWWTdUTmNIa0NCQytxemJRWTIzUUdvY09FbXpJektDY2N5d2tRSERaVHlBTU9oTDV1RUR4bWJPK0VqN05KOWs2QTRET1I0Y0FmRFUyS093bXU2dmVwdmZjWjIzQnF0aGticW0wbVMwdGh4eVFtaVVUaHlrdndDSjVXR1JQUnBCOXE4WERQWDVsVFRXTkRJUXhiN3pzVldHY3VLVTFHQzkzYy80cGVUb0tIYTNHdXlSajdhbGg3NzlXd2x1T3ZmK2JBM1Z3N3BLdk5EN284dEtmcG04NU4weDZUS1RFZndVTjRlKzZSei94SUhTYkQyUHVlZU95VEFVQ3owMXowQStoRlZsWHJId2h1YjdMRDRBWVR0YzF2bWNBeUVZNThCQTloZVdEYmkvdmY5UUNnMnBzQmxjcy9lMXVkM2ZIN1UzUUhBVVI1VmV0SVdXZ2tWSlJ6bFVCUm1RY08zekVNYVQ4VGVGSDRkNSs2aHgyKzgyZEMra3hlcmFrNGllQTF0djVkZDk5eXl5MFg3MWxuUVVNNU9WTU9oc0doVFFhVWJybTRIa0RvbkgzSHFsS3IvclJyWTRlYmFrUDIwbmo5SW1maGZ2eTc3WjY2WjZhclR2MUZVYmNrTmtvcXFYbkczbEpyMHBhK0RwRzJnanYxdnVtdi80K2FxNEozKzl0TTFQaFVuRUJ3M0xwNUtjL2pxbzdmanA2dlNkYU0zUXlPSlVxZUlUWWo2OTI2VGlESnM0eGRubkNvbnNPRGNZRnIyQUxiMEZGWC9rbXlOWjBMOVFBVkp4RDhvYy9jNy9EMXRpZCthM29Mb0s0TVgzblpmNDhENVhxcDcrdVJyV0xzb1VRdXdtWm14Q21lUW1kc0lKenB5TU1lQmJVMThwMFdWZ0FxMHpTZXZReFNjVExCWjhIWGplTVBHUlNOUGUzejVRdmc2dUJISDNNdCtySUNuYjN3MHZyNnVoT0tzOFAxZGU4WUJndUlrdzdmNnlDdnNvQnRISzZiSnQ4TmcxU0FFN0lxeEZPNjhuWEEwdHNlZjdSbWN4WitTSkZaRzRFcVRpWTRMbXY5eTJKbVJySjFyQjFvL1pZYjdNWVhlRjMxeTF4bGExcnpKRVdjdGdTZy9LdVA0OUhORnoydjBRN3cxR2RNbk00Z0ptSUI3Si94eWZnM2pEMjV4eUh0UHhpc0t5Z0FSY3FxRUJVbkVwenJzSitTbm1Id0ZWOW8yV015NnRzR2Y1Y05FblJqT1AyQ2VsODFpTE1Cb1dxWEdkZ05WeURPcmwrY3NYNHBjWTdKMEIvUGVrY2NodnB4SmFzSlVYRWl3UWZnS0JtVnFVRU5kS040bVR3UXR4aXM1T3pNZElBUWFVL0ZVRk1mYzFqeE82ZDVkbWpDaGZlQ2xzMktiaFRWQmdsN3V6VDJVdG5PWEFwVGNTTEJNWS9OTDN6cFJPbHA4UjhtVmw5aTRMUE04eG15T25zbTBEbkJaYXdwS0JzK3BZeFp5RW1mMGkrMk1BcDZjT3VjdmduWVppVHF4UkM5RVlzM0hVQzRpcE1JRGlNT0NzclNzVEFSOUp3K3ljWTAxbHcyelovcm5GU2g5L1dGWjV1WXJTM2RpcUVETEFUQnVsL0VJYUsyMHE0d2V2MEdNOXVhU01QK3p1RXFUaUo0ZzVsdzAzNnVrdGZNYXJNSVRtRFA2NDN3M3ZBazYyRGxRbEljVFkzc3ZHM2FNK3k4eHdQUGpRMk5HK1R4eDlkTmJTbHQwMWxqZFF5dnRKWVZvZUlFZ3ZPWTdKcXFuZU11NlpOc3JNUVNtSmU3WmpuQy9vZW5Dd1FyQm5LREZKR2QxMWFERlZNeml5OXpleW90UzE5cFYxU0xydXNHclhWUFg0eFFjUUxCZWJpd2xwNm95UjVOZGNxREkyb2tiVU0rd2VNWTV5dzhVZWZVOG8xalJUdS9HeC90ZVJnbXlqWDhubVpXbVNXV3RhMFlDV0t0allrbytqcEhxVGlCNEh4YnN1VkRlcHdWRlcydGJwRk5rMlZoSFp6d2pzY3ZTeHN5STEzeVdocktJTm4xUFNXZ21XY2ZzV3YvZGMvcmxERUg2dWUxcmdObDBjT3lRelpObGpYd0diVFdQWFV4VXNYeGd2TmR4REExVVpNZDVwVVpqeE5SOXIwRVBZNGMrNlJvSk90elRuN1haT0V3bnk2L2JmY0NxckUzTVFjSXQvVnpuclk2Ylo5bWh6dUVUSS91b1VoOTVteTBpdU1GaHhIbmZEd3pveTRrdU12WUpkcllWaTJLdEdUUHVzN3BOWW1ocFE2U1hiOUsyWm9YZzJwQVY3QllqN0xEUWtPTmNKcktxZ2RIc2lVNU5aS0pWbkc4NE5qSCtVNGlqRENXR0VsTG1kRFluOUJ0QlliWHNNSTRYMk5NRktTaDRMRVJNSk5ucWJHMjMzUkE1d3pvQ2dHdVpubHo2aEFBNElMZ0RMLzdsQkZTbnowYnJlSjR3VHRxTUppZGtjdzl1NHBWSUg1eHg4ZEdlRVlwWmFhaGRlVDNza2pDQnlLbXU2SkJXTllLc2QxNVlWNExyb3Z5UWFlbzREdlZ2Z0svcUZyRlFGMXBhOHE2cTNUTVZvaFJjYnpnTmI5M3pjWko1bDVrdmdNSDRwZnpCTlhvUFR1a1pDckxodzFKR01Bb3dEVlpXT0V1Q1hwdDl6NjdNdklmeHdtWTVMOU4zVVJYMVFDbnAyelpsZzgvbnh4MUlzZ1lGY2NLenJWM0xSR2xhUUhobkplaWJxbk9xRUxiek9YSEVCdXA3MkNzQjdnbXkycklaMmh3QW9hSEtOYlgwVU9QWHJPd3RLMmZVbzZVSWNDdWlSNERXTVluVFN0R3hYR0NZOFRVY0NLTEVpYnFzNkE2YzB4QzQwcnk4NmM0cDBEWFpGazllU3JTZ1pMY1pHTGZ2NnE2WDh2cUtFTUEzZ3dmZkd2eXg2azRUbkRzTXBWd1FrTi9ETVV6eXF6Q0pCTWVZNXEwc2R2a3lYbWlOTkExOFVEWlhZQzVqa1F5c1NiRE42aVBzdGFVSVdqcHJzdXdJbUpWSENjNE5uNGl2alBNV2xKMHE0cGpnRDVmVDlwekVyaHR4d2gyZ1FQMkUraHhXdUp3Rm9NbzA0VkppTHA5K2RxK1EvRklKMmxYOXRRaUJUU1NqMVZ4bk9CWUo1Vnd3Z2hYcVpDTXhORFl2Y0RQZEJkbWx6Y29qaWRPQzluTGJxM3lzeXEyYks1OTJSMnVLQ0FaQzNVbVF5V09BVFowaVdBQ0hjV2lTSk9SYkt5SzR3UWY1WDQ4MHhFdXdGYklXRDJiTUtLa0lDVEVPVzJUVFRVRm5abWFsK3lxUXNMM0VibzRuYUVIVktURlVEWld4WEdDZDdRZzNSQmZLZEEwbFFPc1dzaWtUNEV3R1NnbUMwKzdvYTRKNjgrMFhwcHNxWGRvczRxUklGclFqNG1UU1pRVXFoYW40ampCZ1NEUW1TZGxZSEs0dXR5ZWNGd1l4djdrT0JOZzRIZXpTRytGdWlZTEVBbndaQUhCNHgxME4zMVdDWW5oT3FZYjBVSHFmaVRYY1lJRHdiVklCRUdOZi9sQ1dIb3hDRHk2VHJGNkhoN3U2ZkQvcTFjWUtkZEJpanZtTU5lRUoyajhyQmloYk1FWjBTVnNWVmxZc0FENk52UlZnd0ZPdklwakJPY0kxdElxd28wRmJKM3IvMjJtUllaVFI5S0hiMnQxREE4YXVPUFJjYUxzT3FlZnJ5c3hPQUhFM2VDUUZBMW1JVE9OZXZlVng3czYvbGs4WDA4OVJ1SGN4cXM0Um5DT1lDc2NmM0FMTjdTd3RCSGNKYndXeUhhOVZweG4wUm5JRy81UW1ZVWU2S1E1MXprZGhDb0E1eGlFczBuSktmMGJ5dUk2RWhzMEc2YXBYcDZnYnFrZXZMRlRVQ1l1eEtzNFJ2Q3c0NW5xUHo5eS84VkxZWHg4THN4aTJORXdyRTlZUGJZSnBBODh2YlpwUUxzVGNFV3pGSVkrb2g0RFp5ZU5vT3lCMVNEMWRKS2Rvek50eFM3R1NraFpWemRWUURRV0t2ckdRNC9lZG04MDV2aldDQlc3bldNRVg0WFdkZ0xvN0hOdGh0cE1RSWZNVlZqcENKMkJma1JxZ2NOck5uTGpMTFc0akVpdmh2RSt2ZlBZcnBnSU51a09aWUZmQUc2b0hLSEdydUF1allLcVVFbExnM0FWQ3hUUmdvOUNqbWVldlVjd0t2Qk02eGN1WXMvRDNmSUp0QzBDTHVNc2NiL00wNlpIWHMwSnltcXRnUkozaStTR3BFdURYamdHeldZUVhqZ1JYZVdINjJJQ1RjQkVLMXpGQW11MDRCMTExeWM2NFhlZ1hoMlNGck5abk1LU2hRNENhUkZ2MHh0VTB5dzFHRThhUFNKZHRPb0lZTnBzOXhCMHZVNDlSbzYrdWMyc2VXM0lJUUFSVDJCZ0VWTGJGTUJraFpaUFpLSmlCMFUwbFpxeVNGS2lBK1VJZ2JhWXphczJNOUxqR2JyRk1NMFN0SWZrMjloSytYeUJoV3laTExQSWJnZmR2a1NpMkF6ZllGeVFUVHl6N3prazJNeVcwcGFoRUtsaUI1L09nVW9GREJJYnAyMGpKVENqTFduenF5RGlTOWNFRnN5aUhaSG5MMmxvK3lhNk00eGk2WlhnRTZPL0piZzlLbTdPdVhPNjRxc1hGWFhsNlM5UnEvOVdneW0vOERFZFVKYTdSenRONm9DYWRBemdpVFN5SGM4aHdhQ0dFbzJlU2FpQ1NCVTdPQ01GNTBhOXB0QitYcFE2R2M3NlJGLzFOOXBtc0hNajRCQ0ltcEJsSWNxWG5qK0NKZmNkYlBUV1V0UWh0Mk16bHdsNU5SdXBPZ25hMENqSzRsQ0NxSmxGTEcyUTA1dXJOYXBxYmpOZUUrOVo5MEpTekNBVkZ5a2xWVUdraWgxOGtZTHpXYnhGNkZwVzg1SmJyR25HcEVDbEtxeEtMWkxNTllGQ3Raa1JRUHFpaWYrMnlmTkpFU3dGMHVEa1JDUkFjWXA4bk0wMDZGaUtUcjVmSXBTYTNmU0JPaFZkckJYZzErTk1zUmsralpXN0E1ekt5bk9pTXhIUlYxSVZqSUN2VDFsckV4VTc5WkdDKzQ1bjVxUWQ2OFpFcWFUTEJ3b1RZak10Q0tRWWNaMEVIRm9UNVdLaGdZNEI2ZkE3S1pTV2o3T1p5T2ttY2VGUERnYW1PL1lraUpKWjVDZDRJTzNGM29yTjhCaVlYa2J4bFZidUxGZlZKZ1Z2VWhXMGdDOVV4UTdHU01INWNPNVF5b3ZDRVVSNlR0cGowcndhend6QTBIbUNrdTlLUmRrNFMvRTJjNEd3WWlyYlpaZnRSMmFrSVZoS1BNUFBaNVNqOEM0cFIwVjBTZm1MVXJHTG82NUY0UXJxa2I1TldSWCtIMTVMTVNhbG04a0NCbzRRNGs1WnNNQ3BnRUd1WWpzWlp5a1htMWwwTHJIclpMSXIreVk4dXE0RXV0eFh2ZVpxd09wb29ZNm9UL01icFdJWFQ2VE5kQWcvTnZ6NHZOdE5mYWJEclp6R2oyb3pmQmpKczdMMmJXaC9XaXpGMll5K1B6QWlmdGVadzlDOFhNUlVtK2xCQlJzZXFhZFJsUEdOK3F5UkI1UW1GNlZpRjArazREWENqdzNmMkhLN3FmZnphWGhLQ2F1ZUErTjJpVVpvUE42U0VaWnhsdUp0WmlPbE1QSGdpOHo1dGs3TE8zU3hsSE5nYXd5UnBaRllWZzNGYXdLdnQraUttdlMvVVNwMnNTbEdxMU1BUDhxK2JrN2UvYlFvMzNxM3VaQWppUmRlU1AvOEREek8wTVBQdmJsOHZSRzdPSlRrc2hQSmtvY2llUzdHWnNETGxlVElFa0oyM1FzamVBamljYWc3SGtCbTd4Vi9oSHZlQ0NJKzdpZWtFdzRXcFdLblY2VGdQRWFYS3lTSG41VjN2RzNWbUJRV2pENC9nL09JUHNIZUEwdnlqdzA4aXdMZlpUZ3BpaVVCaytvM3htWmlybmRUa1JMQVdGWDdkaDQ3YUJucEt0L080MXNxSnIvY1YrR3pSbTYxMFdsSFlNcisyd1BHRUJVN1NDTUY1MXYveTVTNDkycXA2em1YZi9kZ2l3TFllUjZXaGFVTkgzUk1CZXgybDREc2M4UWZjaXJtNnF4REZ1WW9sZ2lHNU5rWW00R1lsTFBrZUNNZ3UyS3p6R2Y3MEFWc2VmTUNOZmJ0OWRHZTAvWUEreVlBWFRqY1BEbHora3VOdDR1cURMOFJLbmF3UlFyT0Y3NCtwZHFRbnNveHBybmEwWWU5Y3dRSmFmTDVHU2lQV2lYZlhMczExUjY3ZDVzWWRTUkxrcmNVbVJpYndRbzRUSUV0Q1Npa3UrTEMxYnlzZG8vVzVScHdqbWorbXgzOUZIRmlia1QzRSt4OWt6eTRGNkZpaDdkSXdWZkIzQTZSZFY0RzdLN25iTDhiWnI5SklLYVFKVllCN0pVRzF4aDc4bU1WZkg3N2h0WHpucTR4ejFLTXpXQVYzak1zYjljN3lSdDdLNmdXM0QvREZjQnUvTW5PWCtNYjdGZkFwSHpBeDRubzVnODNyWDN2RkRrMWkrRXFkbEZGQ3Q3U2ptZEdjdFZ4UE9mc2pSMGNDYXlsNWlwVmg0Wks0S3F0TWZ1L2d5RmVRNURMbkhtV1ltd0c4ekdWSVBIQXdDZytYNEpuVGRqcmJvOFpUMGhlVTYxN0tuZ1h2MldRQStCRWRNM1A0eUYwcVpaNHFqNklVQlc3a0pHQ3Q4bTZCM2pFdGdLLy9ZcExwYlpwWVoyNklDcW44OXVVQjcwMi9tcERhT3lvejZuTEVOZzhTekUySTZJSGMySjN2VldUaDdwaVJ6anJoY00yclplRkJ0Z1AyVGY5dTRLREhsZlZVMWhpUXQrVkVKQ1J2NkVxZG50RkN0NzBiSjJEWDRVemNOTlpubjBaVzBDSXRpRXFwL09yYjRkZzVYYTYzcmNmTjdvbXFKcG5LY1ptem5xN1ljSERaTCtRVEN3dGVEQWNRdTQ0K0p3VmxPQ0diZG5weDFDSE1aSXRkVVJEMWNhUWY3SkMySnRzUzVNSlU3R0xJMUp3TUNhRFhzdkNOa1dlRSt4amZzL1Z3UjNRWDByRFRucllsdWV2bmM3LzJlQUsrdzZ1MEFFSmRzeXpGR016QXpMQzZjVUs2QUZUMlBTcTYzSmJoa2hOMVhIVnZ2YzgrQ3FBc1VXUTV6allVZTFhRC9BeEVxYzhIclowdVJBVnUwaWlCT2Q3NWd1U1dLWGpYUWZpTVBJdGEvUTlhS3MwNzVNUTA4bklOOG9sK3VvL1B2d0xqaExCRWpjZE81bG5LY1ptV3RDQnlZVHBKNGNmZUdGQmF5NTZhVDJTM0N2LzhpdGZzUXM0OHBUVEdpZTRlOHYyMytsNDltZ29RVE5sZ2xYc29vb1NuT3Zzc2lUNUlFcGJvZ1RQdVNMT0NFVGRsSDVuUFkvb28xQW5UNW1ZWnluR1pzWnFvT1ZqTG0wRk1STGV0Y1drVFRibER0eUg4eXhabTNoRU4vNlFEMlN5Q3FwaUYxT0U0SlUyckdUVGhiUC9zSlMzUk5iWjUzc2ZtWXlacEwwWHRBaVE5TVBFT2krTFpsbjZ1UHlMY2Z5elozZEpLaVRUQ3g5SkFwVTRpeFZEbnI3eVRtZkVJUXovenRYNU1EUmpvaDFFZEYrOEx0ZmRzQjdwNmhVVnUxM0RCSC8ra1NkcU1CbjJuc2NlZnZqaFJ6N2I0SG52ZFRSNHpvYnk0RTg2UmxKQncwUHVoWFRBSk5zVlRZWlp3cVFuU2NiK2doci9yWHZFYVhYVy9NaGJWMndVQ0lMRjdjRklyamcrNUhWdjQ0aUh5WTg4VCtDRHpGWkJWU3d3aEFuZUl4cVRXWGxRQk90alArZzRWSUZvZXIvYVdUUWgxQ2JIRUlaWmlyY1pSS1pHNTNTSHNTR1J6WDdPMTQwRjFFOTlVU0JzcWRaa2VZeFovY2xMc21na1ExWHNJZ3dWL05QU1VFam1kc0dHc3htN3l6Qi9BcnYyRzdZVXFsK3hOOHhTMS91RDMvaEwyMEhyekR3eFdJM2pUTVV4V1RGc0JON0NjeTQwcEZPK1ltL2IrZUZ2WnFJZTBnbEhjdktVVVlCa0ZIeUdYYS8rc1JybUM0em1mMGRoM2h3eDZsQ1NPMWFXT05WWmZZd2xLOWt5Qyt1N2FzZTUzN3Y0YlU3TnN2UlNLZ1EvaU9GYmF6YzEyTWIvTk9tMlJUUmsvMVZVN0tMSktQaUE3MWUreUtaOW5PY3dlWmJxaFlvL0VwZkF2UEpZV1hJSXlrMHVaV29xK1RxWkhKUUFZcjB0V2NaUnphWlZtZkE0VDJKek1vcUszYmFCdDd2WG9DT0wyL1k1Vzlmb29WYmwzMjQ5dlB2SkhUL2RCV1ZsZnE3MkxoY0U2K1psRDNvYUxIbllBM0p0U2oyZzNXUlZoMjdSS3IrSWl6WW5QVTFQZEJBMEkxaUFqKzY3clZsL3dsVHM0c3NvZU5kK25IQlZHY3lzSExyOWxyR3FJaDFwQ3pSYU1YODgzTmlSTXRkb25xSUt3eEhZTlVBWlpjbWpHcFJyZUNjUFFjMUc2d2JlNDV0ODU4MWNvNm5VcU4zQ1dqaFJSdTByQ3hlaEtuYVJaUlFjbmhNSW5EZXdQanAwY1UzMFUrMnhnOGZ2aDBIZ0lsOVBQVEp6Yk11NjZ5OEFNdGNnNnpML2t2d0dLazJ5cExPaGxxdUdRMkFWdTFZNlIxYjBXU2lKSGY0Mlg1QS9TcDJ6aFlpT2Q2dnhuZFRjZlJxR0ZNVlFGVHM0TWdwdWUwNCtRSnpKM2pBRlA2R2dEN0FQb20ybGh0dGNyZzBsN1h2N1NUNEhlTHJqOGNjYTdMMEVhZ29zRWV3QjJjV3dLQ3NBZHVJcU9rNGRXd0hzOEoyUC9RWTc3QlBVZGtUSGJXWURWOGZmSWczcHNxRXFkdEZrRk56eG5IaURqOStQMU5PeEZBeTl4TjYwRzNEZXdQZzFscElXdlZ0Syt1eklBVFV1OHl3cExQZ0xBM3RkODlkUHA2YnJPY0tyanMzWS85OU9xVGtSSFk0YUwrTTE5bXUwSlZVK1ZNVXVsb3lDd3hRNWdsVytlMW9PT3J0SXhTUUhidGxYYThpTXNPN3U4UnFTS3VSbWY2VXVWSFkwSkNCNHlzZzBTeFI3UUw3ampXSkFxK2txT2xBdkNRMHcxUUYxbktDSDc1NnMwWlhzSElTcDJNV1lVWERIS2NGbThMakg3S3ZadVpNOUszWDNEeURaajQzNFRwRW9tMHZ1dzhZMytySTN6eGhuU2NIdUwxUk14djkrOUhyTmdyZlVXdGFmdWZQbVNSV3E1cXg4OXI1SmZvcEJCVWxXQ2xHeDB6bXI0UFlDWXlIb2dyMjBMaVJqSkJMcW5IZiswQ01mQnhGOVpwU3R3RTkrdHM3dStJUm9jMytOczZUaDE0c0wyUTRwZERTSnl3MjZuTS85M0szczhPMTlyYk85d1BETndDVnJUcjVUcE1Fa0xBYXEyT21iVlhEM1ZmSUZ2czQwaGduNWlBSnJlUStPRExEeTZpaVg0K05ONHl4RnNZdTJmYk1YbERIVXVNL1dsYUozd2ZtZURkSmhmV3NtZXdpc285WExXUVYzUFdlbGZtRE5Hcm5lYnI0aFdlUDNSbXV5NUdhNjRvWlhiNUJsNHl4SnpNR1oyaVFQYVFlampLeGRETHRBa2IzY2lNNTZHdXByYnNscTA1bXNnb3UvS3ZveWUzLzlzZ21taU8vQnJhbi81bitHbmwwRkVqVE9VaUFWV2JuaXY3cVRiZFBKTkx5bE9KaUErRU9uMWNiUjUrSmdnekVrcWMwcytGTTNYUFJmWHYveEpJVGlZTEJSL25ZSmd3QlBQbk1oS3FzMEJCU1Z5cTlwbGhUay9zSWcxbFg0KzB4V3N4KzNUNnZVM0wzU3lvZS9lemdacllqZXh5OTRDRE9LUDJxU2Q1WWsvTGJ5Q0p1c3ppM1Q5Sm4xdEZsWmt1OW9UNXRTSlA3akZ6eUVIWDRjN3B6cEFhQ0RnZzl1M2gvaitHQ09zV0l4MWxlYVo2Wjl6QkZVb0FSNUNCN0lDQTVYdkJmQThFcEQwQU53SGVFT2d6RWNjMjE3b3RlSHNqRzdRSUsrYkJnTTlNcEQ4R0MydWMzSVdiU053cDRQYmtHNWtQUTFIMi9GVWk3RDF6R3lSWjFJVS9rSUhzZ3lmeWxFcmlQY1ppNzV3ZHJTZWZuYmpydUdIQ2NkSStuNVl6NFNDaEF0SDhFREdIRytVaWxQb2Nhd21SMC8yRktRSWZuQmpxT213bTkwY2tqYkpxNXBKdUU3TDhFRGVlNjY1OTY4c1FPYkNRTDZyNzJnMmp6cUtuK1FCMVY4RU9KMzhxRXJxZVlsdUdTQVp1WisrZGRsRVh2dDJGTmZDVnhtU2cxQUEvWGplcCtoMVBacDBRQy9POERWWjVsS0RTVFdBSCswOEh4aTZCS3cxSUQ5eDNYeTMxT1dBMUVvRGVCNFpzSUhoZ29sYnNtc0FRMDB5SGNvRGFBclVaeCtEZkRQTzJ5ZWZqRkxDUTFxQUg4bVJONGlHRVJib2pyRkd1Z0ZQTmw1aXNVdFJadGNBM2dRK29ROVhUVzVUQ1dHNldvQTMyWC93SFFwbE5oUG13YWFUSG1qOXJTSlY4cGpYZ000Qkw3ZFBOWVM0Mm5Xd0RaNU0vczB5MW5LWmt3RHVKOTAzN2N3aHJKRWRNbzFjRlg1QnM4cEY3WVV6NFFHOElHOFhSTjRTaHczandhZUtSK2N1WGtHMjVDa05mSGhJa1A0U2pTblhnT3pUSHk0Nk5TTFdncG9TQU5kZVd2d0R3SHZxaGdpVXFJNVRScFk4RzROZ3Q1dk9rMmlscklZMHNCWTNocFV5M2RWRE9uMGxLTlo4bTRObHVTNzI2ZGM1bEs4eVRRdzhneGxZWHFmYVpxTXg3TDNpZExBSFBsRTg1bGoveURRaVZKRnlVeENEVndsWDNRWnlQZjlFM1l1d1c1R0RWUWE1SEt5L2NiTnFJSlM1cFFhT0hQNDczOXVwNjk5N2FGUDBUODhreEpQQ1g3emFBQWZneUJwN2VZUnZKUTBxd2FjdjM0dXJZYjRxYXdZeTM2blhRTWRhUzUyWnZPMHkxdktON0VHOEUxcEpRMG54bGdpT08wYTROL3RwR252dEF0Y3lqZXhCbWFvd1NBL01jSVNRUTRhK0gvTW5HdXo4WmlXT2dBQUFBQkpSVTVFcmtKZ2dnPT0iCn0K"/>
    </extobj>
  </extobjs>
</s:customData>
</file>

<file path=customXml/itemProps1.xml><?xml version="1.0" encoding="utf-8"?>
<ds:datastoreItem xmlns:ds="http://schemas.openxmlformats.org/officeDocument/2006/customXml" ds:itemID="{40225495-EC77-418F-882D-8D54027AA670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23941</TotalTime>
  <Words>7747</Words>
  <Application>Microsoft Office PowerPoint</Application>
  <PresentationFormat>宽屏</PresentationFormat>
  <Paragraphs>1185</Paragraphs>
  <Slides>43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-apple-system</vt:lpstr>
      <vt:lpstr>ui-sans-serif</vt:lpstr>
      <vt:lpstr>华文楷体</vt:lpstr>
      <vt:lpstr>宋体</vt:lpstr>
      <vt:lpstr>微软雅黑</vt:lpstr>
      <vt:lpstr>Arial</vt:lpstr>
      <vt:lpstr>Calibri</vt:lpstr>
      <vt:lpstr>Cambria Math</vt:lpstr>
      <vt:lpstr>Consolas</vt:lpstr>
      <vt:lpstr>Times New Roman</vt:lpstr>
      <vt:lpstr>Office Theme</vt:lpstr>
      <vt:lpstr>自定义设计方案</vt:lpstr>
      <vt:lpstr>组会汇报</vt:lpstr>
      <vt:lpstr>Overview</vt:lpstr>
      <vt:lpstr>PowerPoint 演示文稿</vt:lpstr>
      <vt:lpstr>SAM2教师+奇偶结构分解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A2Net+LWGANet（baseline记录）</vt:lpstr>
      <vt:lpstr>Future Work</vt:lpstr>
      <vt:lpstr>PowerPoint 演示文稿</vt:lpstr>
      <vt:lpstr>Our Work整体结构</vt:lpstr>
      <vt:lpstr>SAM Structure Loss</vt:lpstr>
      <vt:lpstr>SAM Structure Loss</vt:lpstr>
      <vt:lpstr>PLUG Mentor（先停止这个点）</vt:lpstr>
      <vt:lpstr>PowerPoint 演示文稿</vt:lpstr>
      <vt:lpstr>DTAC-Net（审稿）</vt:lpstr>
      <vt:lpstr>DTAC-Net（审稿）</vt:lpstr>
      <vt:lpstr>DTAC-Net（审稿）</vt:lpstr>
      <vt:lpstr>BFD</vt:lpstr>
      <vt:lpstr>BFD</vt:lpstr>
      <vt:lpstr>PHENet复现</vt:lpstr>
      <vt:lpstr>SAM2+AMG</vt:lpstr>
      <vt:lpstr>GoodSAM：利用 SAM 结构先验指导轻量模型</vt:lpstr>
      <vt:lpstr>Masking meets Supervision</vt:lpstr>
      <vt:lpstr>数据</vt:lpstr>
      <vt:lpstr>Overview</vt:lpstr>
      <vt:lpstr>下一个工作Overview</vt:lpstr>
      <vt:lpstr>LSNet</vt:lpstr>
      <vt:lpstr>LSNet</vt:lpstr>
      <vt:lpstr>RepViT</vt:lpstr>
      <vt:lpstr>LWGANet</vt:lpstr>
      <vt:lpstr>时空重参数化思想</vt:lpstr>
      <vt:lpstr>AFD模块详解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MingMing Cheng</dc:creator>
  <cp:lastModifiedBy>禹棋 王</cp:lastModifiedBy>
  <cp:revision>936</cp:revision>
  <dcterms:created xsi:type="dcterms:W3CDTF">2019-08-31T02:02:00Z</dcterms:created>
  <dcterms:modified xsi:type="dcterms:W3CDTF">2026-09-24T12:48:20Z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2052-11.3.0.9236</vt:lpwstr>
  </property>
</Properties>
</file>